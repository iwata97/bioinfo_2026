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2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21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5544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AI研究チャレンジ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高いAccuracyは本当に信頼できるか？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874520"/>
            <a:ext cx="566928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声の特徴からParkinson病を判別する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同じデータでも、分け方で評価結果は変わるのかを調べる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モデルを作るだけでなく、評価方法を疑う視点を持つ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使用Notebook：bioinformatics_</a:t>
            </a:r>
            <a:r>
              <a:rPr lang="en-US" sz="170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2-PM_1.</a:t>
            </a: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ipynb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今日の主役：AIの性能値を「そのまま信じない」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914400" y="6144768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1E2F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Day 2 Afternoon：Parkinson病音声データ × 評価設計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午後の研究テーマ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声だけでParkinson病を見分けられるか？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783080"/>
            <a:ext cx="681228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Parkinson病では、発声にも特徴的な変化が現れることがある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原著研究では、持続発声から計算した音声特徴量を用いて分類を検討した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今回のデータは、UCI Parkinsons Datasetとして公開されている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目的変数 status：Healthy = 0、Parkinson = 1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研究の問い：音声特徴量から疾患を予測できるか？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275320" y="1920240"/>
            <a:ext cx="1234440" cy="45720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Healthy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058400" y="1920240"/>
            <a:ext cx="1417320" cy="457200"/>
          </a:xfrm>
          <a:prstGeom prst="rect">
            <a:avLst/>
          </a:prstGeom>
          <a:solidFill>
            <a:srgbClr val="FF6B6B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Parkinson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Jitter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418320" y="3291840"/>
            <a:ext cx="109728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Shimmer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652760" y="2880360"/>
            <a:ext cx="82296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HNR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915400" y="3977640"/>
            <a:ext cx="82296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PPE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今日のゴール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「作る」だけでなく「評価する」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783080"/>
            <a:ext cx="566928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公開データを読み込み、データ構造を確認する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音声特徴量を可視化し、分類モデルを作る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recording-level splitで性能を評価する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Train/Testに同じsubjectが混ざっていないか確認する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subject-level splitで再評価し、結果を比較する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最後に「どちらの評価が未知の人への性能に近いか」を考える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046720" y="1508760"/>
            <a:ext cx="1005840" cy="41148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Data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052560" y="1719072"/>
            <a:ext cx="320040" cy="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372600" y="1508760"/>
            <a:ext cx="1005840" cy="41148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Split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0378440" y="1719072"/>
            <a:ext cx="320040" cy="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698480" y="1508760"/>
            <a:ext cx="1005840" cy="41148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Model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11201400" y="1920240"/>
            <a:ext cx="0" cy="41148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0561320" y="2331720"/>
            <a:ext cx="1280160" cy="41148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Evaluate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データ構造の落とし穴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195行 = 195人ではない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399" y="1783080"/>
            <a:ext cx="7098453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各行は「1回の音声録音」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同じsubjectから複数回の録音が含まれる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普通のrandom splitでは、同じ人の別録音がTrainとTestに入る可能性がある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この状態で高いAccuracyが出ても、未知の人に対する性能とは限らない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重要：何を1単位として分けるべきか？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229600" y="1508760"/>
            <a:ext cx="1188720" cy="59436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 A</a:t>
            </a:r>
            <a:endParaRPr lang="en-US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rec 1</a:t>
            </a:r>
            <a:endParaRPr lang="en-US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287000" y="1508760"/>
            <a:ext cx="1188720" cy="59436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 A</a:t>
            </a:r>
            <a:endParaRPr lang="en-US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rec 2</a:t>
            </a:r>
            <a:endParaRPr lang="en-US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229600" y="3154680"/>
            <a:ext cx="1188720" cy="45720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287000" y="3154680"/>
            <a:ext cx="1188720" cy="457200"/>
          </a:xfrm>
          <a:prstGeom prst="rect">
            <a:avLst/>
          </a:prstGeom>
          <a:solidFill>
            <a:srgbClr val="FF6B6B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823960" y="2103120"/>
            <a:ext cx="0" cy="105156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10881360" y="2103120"/>
            <a:ext cx="0" cy="105156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15400" y="4160520"/>
            <a:ext cx="1783080" cy="594360"/>
          </a:xfrm>
          <a:prstGeom prst="rect">
            <a:avLst/>
          </a:prstGeom>
          <a:solidFill>
            <a:srgbClr val="FFC857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同じsubjectが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両方に入る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Step 1：まず普通に分類する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Recording-level random split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399" y="1783080"/>
            <a:ext cx="6394025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録音1行を独立したデータとして扱う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train_test_split()でTraining dataとTest dataに分ける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Logistic RegressionでParkinson病を分類する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Accuracy、F1-score、ROC-AUC、Confusion Matrixで評価する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午前中に学んだ機械学習の基本形をそのまま使う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092440" y="1920240"/>
            <a:ext cx="1417320" cy="45720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Recordings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509760" y="2148840"/>
            <a:ext cx="384048" cy="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893808" y="1828800"/>
            <a:ext cx="1234440" cy="621792"/>
          </a:xfrm>
          <a:prstGeom prst="rect">
            <a:avLst/>
          </a:prstGeom>
          <a:solidFill>
            <a:srgbClr val="5B7C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Random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split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0533888" y="2450592"/>
            <a:ext cx="0" cy="475488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838944" y="2926080"/>
            <a:ext cx="1417320" cy="45720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 / Test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092440" y="393192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Performance metrics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92440" y="432511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Accuracy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961120" y="4325112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961120" y="4325112"/>
            <a:ext cx="1651406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0927080" y="4288536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86%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092440" y="4709160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F1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961120" y="4709160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8961120" y="4709160"/>
            <a:ext cx="1689811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0927080" y="4672584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88%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092440" y="50932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AUC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8961120" y="5093208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8961120" y="5093208"/>
            <a:ext cx="1728216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0927080" y="50566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90%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Step 2：高い性能を疑う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Train/Testに同じsubjectが入っていないか？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783080"/>
            <a:ext cx="566928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 subjectsとTest subjectsを取り出す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共通して含まれるsubject数を数える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overlapがある場合、同じ人の別録音が両方に入っている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これは未知subjectへの予測性能を過大評価する可能性がある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高いAccuracyの前に、Test dataの意味を確認する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275320" y="1828800"/>
            <a:ext cx="1371600" cy="59436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subjects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95560" y="1828800"/>
            <a:ext cx="1371600" cy="594360"/>
          </a:xfrm>
          <a:prstGeom prst="rect">
            <a:avLst/>
          </a:prstGeom>
          <a:solidFill>
            <a:srgbClr val="FF6B6B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subjects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229600" y="3337560"/>
            <a:ext cx="1463040" cy="438912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 subjects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058400" y="3337560"/>
            <a:ext cx="1463040" cy="438912"/>
          </a:xfrm>
          <a:prstGeom prst="rect">
            <a:avLst/>
          </a:prstGeom>
          <a:solidFill>
            <a:srgbClr val="FF6B6B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 subjects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9692640" y="3557016"/>
            <a:ext cx="365760" cy="0"/>
          </a:xfrm>
          <a:prstGeom prst="line">
            <a:avLst/>
          </a:prstGeom>
          <a:noFill/>
          <a:ln w="25400">
            <a:solidFill>
              <a:srgbClr val="FFC85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961120" y="4160520"/>
            <a:ext cx="1828800" cy="438912"/>
          </a:xfrm>
          <a:prstGeom prst="rect">
            <a:avLst/>
          </a:prstGeom>
          <a:solidFill>
            <a:srgbClr val="FFC857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common ID?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Step 3：subject単位で分け直す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Subject-level split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399" y="1783080"/>
            <a:ext cx="6326293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同じsubjectの全録音をTrainまたはTestのどちらか一方に入れる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GroupShuffleSplitを使って、subject overlap = 0にする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モデルは同じLogistic Regressionのまま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変えるのは「データの分け方」だけ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未知の人への予測性能に近い評価を目指す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55280" y="1691640"/>
            <a:ext cx="1554480" cy="64008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 A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all recordings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0" y="1691640"/>
            <a:ext cx="1371600" cy="45720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Train only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9509760" y="2011680"/>
            <a:ext cx="640080" cy="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55280" y="2788920"/>
            <a:ext cx="1554480" cy="64008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 B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all recordings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149840" y="2788920"/>
            <a:ext cx="1371600" cy="457200"/>
          </a:xfrm>
          <a:prstGeom prst="rect">
            <a:avLst/>
          </a:prstGeom>
          <a:solidFill>
            <a:srgbClr val="FF6B6B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 only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9509760" y="3108960"/>
            <a:ext cx="640080" cy="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732520" y="4160520"/>
            <a:ext cx="1645920" cy="502920"/>
          </a:xfrm>
          <a:prstGeom prst="rect">
            <a:avLst/>
          </a:prstGeom>
          <a:solidFill>
            <a:srgbClr val="5B7C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overlap = 0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Step 4：2つの結果を比較する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同じモデルでも、評価方法で性能が変わる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783080"/>
            <a:ext cx="566928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Recording-level split：録音単位で分ける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Subject-level split：subject単位で分ける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Accuracy、F1、ROC-AUCを並べて比較する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どちらが実際の未知subjectへの性能を表しているか考える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「モデルの性能」だけでなく「評価設計の妥当性」を見る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55280" y="182880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Recording-level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955280" y="222199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Acc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8823960" y="2221992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823960" y="2221992"/>
            <a:ext cx="1728216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789920" y="2185416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90%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955280" y="2606040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F1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23960" y="2606040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23960" y="2606040"/>
            <a:ext cx="1747418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0789920" y="2569464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91%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955280" y="299008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AUC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23960" y="2990088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823960" y="2990088"/>
            <a:ext cx="1785823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0789920" y="295351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93%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7955280" y="38404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Subject-level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955280" y="423367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Acc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8823960" y="4233672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8823960" y="4233672"/>
            <a:ext cx="1382573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0789920" y="4197096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72%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955280" y="4617720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F1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8823960" y="4617720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8823960" y="4617720"/>
            <a:ext cx="1440180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10789920" y="4581144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75%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7955280" y="500176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AUC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8823960" y="5001768"/>
            <a:ext cx="1920240" cy="164592"/>
          </a:xfrm>
          <a:prstGeom prst="rect">
            <a:avLst/>
          </a:prstGeom>
          <a:solidFill>
            <a:srgbClr val="173858"/>
          </a:solidFill>
          <a:ln w="12700">
            <a:solidFill>
              <a:srgbClr val="1738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8823960" y="5001768"/>
            <a:ext cx="1516990" cy="16459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10789920" y="496519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79%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Step 5：1回のsplitだけでよいか？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Cross-validationで安定性を見る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783080"/>
            <a:ext cx="566928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1回だけのTrain/Test splitでは、たまたまの影響が大きい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5-fold cross-validationで複数回評価する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StratifiedKFold：録音単位のCV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StratifiedGroupKFold：subject単位を保ったCV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subject数が少ないデータでは、ばらつきも大切な結果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229600" y="1783080"/>
            <a:ext cx="91440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Fold 1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189720" y="1783080"/>
            <a:ext cx="91440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Fold 2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149840" y="1783080"/>
            <a:ext cx="91440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Fold 3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686800" y="2423160"/>
            <a:ext cx="91440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Fold 4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646920" y="2423160"/>
            <a:ext cx="914400" cy="384048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Fold 5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9144000" y="3840480"/>
            <a:ext cx="1463040" cy="475488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mean ± SD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原著論文との関係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完全再現ではなく、研究課題を追体験する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783080"/>
            <a:ext cx="676656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原著論文は、音声特徴量とkernel SVMを用いて高い分類性能を報告した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今回のNotebookでは、まずLogistic Regressionで基本を確認する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追加チャレンジとしてRBF kernel SVMも試す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ただし、今日の中心は「評価設計」を考えること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論文の結果を見るだけでなく、自分で疑問を立てて再解析する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321040" y="1691640"/>
            <a:ext cx="1463040" cy="64008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Little et al.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2009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784080" y="2011680"/>
            <a:ext cx="365760" cy="0"/>
          </a:xfrm>
          <a:prstGeom prst="line">
            <a:avLst/>
          </a:prstGeom>
          <a:noFill/>
          <a:ln w="25400">
            <a:solidFill>
              <a:srgbClr val="A4E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149840" y="1691640"/>
            <a:ext cx="1463040" cy="640080"/>
          </a:xfrm>
          <a:prstGeom prst="rect">
            <a:avLst/>
          </a:prstGeom>
          <a:solidFill>
            <a:srgbClr val="5B7C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Today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2-4.ipynb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321040" y="3154680"/>
            <a:ext cx="1097280" cy="438912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Model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058400" y="3154680"/>
            <a:ext cx="1554480" cy="438912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Evaluation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最後に考えること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AI研究で大切な問い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783080"/>
            <a:ext cx="652272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Test dataは本当に未知データを表しているか？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同じsubject、同じ施設、同じ個体のデータが混ざっていないか？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高いAccuracyの理由を説明できるか？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そのAIを実際に使う場面に近い評価になっているか？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次にどんなデータで検証すべきか？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良いAI研究は、良いモデルだけでなく、良い評価設計から始まる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275320" y="1828800"/>
            <a:ext cx="1280160" cy="411480"/>
          </a:xfrm>
          <a:prstGeom prst="rect">
            <a:avLst/>
          </a:prstGeom>
          <a:solidFill>
            <a:srgbClr val="4EDA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Accuracy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058400" y="1828800"/>
            <a:ext cx="1280160" cy="411480"/>
          </a:xfrm>
          <a:prstGeom prst="rect">
            <a:avLst/>
          </a:prstGeom>
          <a:solidFill>
            <a:srgbClr val="FF6B6B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Leakage?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098280" y="2971800"/>
            <a:ext cx="1645920" cy="41148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Generalization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03504" y="713232"/>
            <a:ext cx="73152" cy="713232"/>
          </a:xfrm>
          <a:prstGeom prst="rect">
            <a:avLst/>
          </a:prstGeom>
          <a:solidFill>
            <a:srgbClr val="4EDAFF"/>
          </a:solidFill>
          <a:ln w="12700">
            <a:solidFill>
              <a:srgbClr val="4EDA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68680" y="530352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では、始めましょう</a:t>
            </a:r>
            <a:endParaRPr lang="en-US" sz="2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96112" y="132588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bioinformatics_2-PM_1.ipynb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1874520"/>
            <a:ext cx="5669280" cy="3154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Parkinson病音声データを読み込む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まず普通に分類モデルを作る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 overlapを確認する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subject-level splitで再評価する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高いAccuracyをどう解釈するか考える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5376672"/>
            <a:ext cx="5806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4E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午後のテーマ：AIの性能を「自分で検証する」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458200" y="1965960"/>
            <a:ext cx="2377440" cy="548640"/>
          </a:xfrm>
          <a:prstGeom prst="rect">
            <a:avLst/>
          </a:prstGeom>
          <a:solidFill>
            <a:srgbClr val="79E6A6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Open Notebook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458200" y="2926080"/>
            <a:ext cx="2377440" cy="548640"/>
          </a:xfrm>
          <a:prstGeom prst="rect">
            <a:avLst/>
          </a:prstGeom>
          <a:solidFill>
            <a:srgbClr val="5B7CFF">
              <a:alpha val="92000"/>
            </a:srgbClr>
          </a:solidFill>
          <a:ln w="12700">
            <a:solidFill>
              <a:srgbClr val="A4EFFF">
                <a:alpha val="80000"/>
              </a:srgbClr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6FA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Ask questions anytime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14400" y="6144768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1E2F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バイオ技術 Day 2 Afternoon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538</Words>
  <Application>Microsoft Office PowerPoint</Application>
  <PresentationFormat>ワイド画面</PresentationFormat>
  <Paragraphs>175</Paragraphs>
  <Slides>12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5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Tottori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AI研究チャレンジ：高いAccuracyは本当に信頼できるか？</dc:title>
  <dc:subject>バイオ技術 2日目午後</dc:subject>
  <dc:creator>OpenAI</dc:creator>
  <cp:lastModifiedBy>岩田　浩明</cp:lastModifiedBy>
  <cp:revision>6</cp:revision>
  <dcterms:created xsi:type="dcterms:W3CDTF">2026-07-05T12:31:59Z</dcterms:created>
  <dcterms:modified xsi:type="dcterms:W3CDTF">2026-08-06T08:13:12Z</dcterms:modified>
</cp:coreProperties>
</file>