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56" autoAdjust="0"/>
  </p:normalViewPr>
  <p:slideViewPr>
    <p:cSldViewPr snapToGrid="0" snapToObjects="1">
      <p:cViewPr varScale="1">
        <p:scale>
          <a:sx n="107" d="100"/>
          <a:sy n="107" d="100"/>
        </p:scale>
        <p:origin x="22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バイオ技術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61872"/>
            <a:ext cx="227337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機械学習・画像AI入門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EA38A5E-4A2D-354A-67CC-B5BF0C52F37F}"/>
              </a:ext>
            </a:extLst>
          </p:cNvPr>
          <p:cNvSpPr/>
          <p:nvPr/>
        </p:nvSpPr>
        <p:spPr>
          <a:xfrm>
            <a:off x="932688" y="1874520"/>
            <a:ext cx="562356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2日目は「データから予測する」方法を体験します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表データ、画像データ、臨床風データを扱います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AIを作るだけでなく、評価方法と解釈も考えます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午前は基礎、午後は研究デザインの落とし穴を扱います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BF98EE6-EBF9-EA28-AEDC-D725DD9A41E3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Day 2：分類・回帰・画像AI・評価設計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昨日は「違いを見つける」
今日は「予測する」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858F08C-7B98-7D39-C726-1451B66664EF}"/>
              </a:ext>
            </a:extLst>
          </p:cNvPr>
          <p:cNvSpPr/>
          <p:nvPr/>
        </p:nvSpPr>
        <p:spPr>
          <a:xfrm>
            <a:off x="932688" y="1627632"/>
            <a:ext cx="628365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Day 1では、発現量データから群の違いや候補遺伝子を探しました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Day 2では、既に答えが分かっているデータから規則性を学ばせます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学習した規則性を使い、新しいデータのクラスや数値を予測します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「解析する」から一歩進んで、「未知データに使えるか」を考えます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03AEA81-C916-FC1F-73BD-60710349E649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キーワード：解析から予測へ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機械学習とは？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26EE06DC-3077-2D47-5640-D667AD7EF1B5}"/>
              </a:ext>
            </a:extLst>
          </p:cNvPr>
          <p:cNvSpPr/>
          <p:nvPr/>
        </p:nvSpPr>
        <p:spPr>
          <a:xfrm>
            <a:off x="932688" y="1627632"/>
            <a:ext cx="6642004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人間がすべての判定ルールを手で決める方法ではありません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データと正解ラベルの組から、モデルがパターンを学習します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学習後のモデルは、まだ見たことのないデータに対して予測します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生命科学では、画像分類、疾患予測、薬物応答予測などに使われます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重要なのは「当たったか」だけでなく「どう評価したか」です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7A69D54-F3AA-185B-CF34-42AEA4A76AD1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Training data → Model → New data → Prediction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生命科学では何を予測できる？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8C5CF00-B1EF-994B-9BFD-508BFD794039}"/>
              </a:ext>
            </a:extLst>
          </p:cNvPr>
          <p:cNvSpPr/>
          <p:nvPr/>
        </p:nvSpPr>
        <p:spPr>
          <a:xfrm>
            <a:off x="932688" y="1627632"/>
            <a:ext cx="562356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画像から、細胞種・組織像・異常所見を分類する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臨床情報から、疾患の有無や重症度を予測する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分子構造から、薬効・毒性・ADME特性を予測する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遺伝子発現から、細胞状態や治療応答を推定する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問いに応じて、分類問題か回帰問題かを決めます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1B29DD6-61B4-7396-D4A8-557B7EC01161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予測対象を決めることが、機械学習の出発点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分類と回帰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548C9EF-4194-0086-167B-CB985E434FB5}"/>
              </a:ext>
            </a:extLst>
          </p:cNvPr>
          <p:cNvSpPr/>
          <p:nvPr/>
        </p:nvSpPr>
        <p:spPr>
          <a:xfrm>
            <a:off x="932688" y="1627632"/>
            <a:ext cx="6938566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分類は、カテゴリーを予測する問題です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例：Healthy / Disease、Benign / Malignant、0〜9の数字分類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回帰は、連続した数値を予測する問題です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例：疾患進行度、血糖値、薬物濃度、発現量スコア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使うモデルや評価指標は、問題設定によって変わります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2323C3-5781-5371-EFAA-1885070A5F11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まず「何を予測したいのか」を明確にする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機械学習の基本的な流れ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1C25432-14BC-CC92-11B9-A1E136A8F902}"/>
              </a:ext>
            </a:extLst>
          </p:cNvPr>
          <p:cNvSpPr/>
          <p:nvPr/>
        </p:nvSpPr>
        <p:spPr>
          <a:xfrm>
            <a:off x="932687" y="1627632"/>
            <a:ext cx="6370155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Data：解析に使う表や画像を準備する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Features / Target：入力Xと正解yを分ける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 / Test split：学習用と評価用に分割する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Model training：Training dataでモデルを学習する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Prediction / Evaluation：Test dataで予測し、性能を確認する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Interpretation：結果を見て、何が言えるか考える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19734B8-BB60-C97A-51FA-85E6A711C7AA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モデル作成は、解析プロセス全体の一部です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Training dataとTest data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D7A3EA8-EAB6-5B35-6BD0-A05667838AA5}"/>
              </a:ext>
            </a:extLst>
          </p:cNvPr>
          <p:cNvSpPr/>
          <p:nvPr/>
        </p:nvSpPr>
        <p:spPr>
          <a:xfrm>
            <a:off x="932688" y="1627632"/>
            <a:ext cx="7259842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Training dataは、モデルが学習に使うデータです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dataは、学習には使わず、最後に性能を見るデータです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dataまで学習に使うと、未知データへの性能を評価できません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生命科学データでは、同じ患者・同じ個体・同じ施設が混ざらないかも重要です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午後は、この「分け方」の問題をParkinson病音声データで体験します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5FB7916-7305-F008-96BB-7A8419089B4E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Test dataは「未知データ」の代わりです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今日は3種類のAIを体験する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0F7C154-AE87-A9AA-5387-5E3B8CC900CD}"/>
              </a:ext>
            </a:extLst>
          </p:cNvPr>
          <p:cNvSpPr/>
          <p:nvPr/>
        </p:nvSpPr>
        <p:spPr>
          <a:xfrm>
            <a:off x="932688" y="1627632"/>
            <a:ext cx="562356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2-1：乳がんデータで、分類問題とDecision Treeを学ぶ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2-2：MNIST画像で、CNNによる画像分類を体験する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2-2：Grad-CAMで、画像AIの注目領域を可視化する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2-3：糖尿病データで、回帰問題と評価指標を学ぶ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午前の最後には、分類・画像分類・回帰の違いを整理します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B0525F-A9AD-A937-D61C-3E7888F9DE1D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表データ → 画像データ → 数値予測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Decision Treeとは？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CF71D3A-377A-9593-C251-BCD9665A4BB9}"/>
              </a:ext>
            </a:extLst>
          </p:cNvPr>
          <p:cNvSpPr/>
          <p:nvPr/>
        </p:nvSpPr>
        <p:spPr>
          <a:xfrm>
            <a:off x="932688" y="1627632"/>
            <a:ext cx="624658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特徴量に対する質問を順番に行うモデルです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「値がしきい値より大きいか？」という条件分岐を繰り返します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最終的に、クラスまたは数値を予測します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木構造として可視化できるため、初心者にも理解しやすいモデルです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ただし、木を深くしすぎると過学習しやすくなります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EBA0D7D-D2B1-640E-1D92-A361BAEC8CC7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当てるだけでなく、判断ルールを読む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画像AIでは何が起こっている？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5610AC3-BEBE-4DEB-E38E-A16833BEB459}"/>
              </a:ext>
            </a:extLst>
          </p:cNvPr>
          <p:cNvSpPr/>
          <p:nvPr/>
        </p:nvSpPr>
        <p:spPr>
          <a:xfrm>
            <a:off x="932687" y="1627632"/>
            <a:ext cx="6394869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画像は、コンピュータにとってピクセル値の集まりです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CNNは、近くのピクセルのパターンから線・形・構造を学習します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最後に、各クラスに対する予測確率を出します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「一番確率が高いクラス」がモデルの予測結果になります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正解例だけでなく、誤分類例を見ることも重要です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1ECD331-3CD2-685F-8707-216FAA52C988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画像AIは、画像を数値として学習しています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AIはどこを見て判断したのか？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B42A1B3-E5EA-66F3-6FB6-DAC5754295C8}"/>
              </a:ext>
            </a:extLst>
          </p:cNvPr>
          <p:cNvSpPr/>
          <p:nvPr/>
        </p:nvSpPr>
        <p:spPr>
          <a:xfrm>
            <a:off x="932687" y="1627632"/>
            <a:ext cx="6555507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CNNは高性能ですが、判断過程が見えにくいことがあります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Grad-CAMは、予測に関係した画像領域をヒートマップで可視化します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正解画像と誤分類画像を比較すると、AIの迷い方を考えられます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ただし、Grad-CAMは「完全な理由」を証明するものではありません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判断根拠を考えるための補助情報として使います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C310AFE-BFE0-E2DC-C7B7-2033865B1659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Explainable AI：結果だけでなく根拠も見る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高いAccuracyなら良いAI？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620E8F8-96FE-3834-3508-E6036CDF4A9C}"/>
              </a:ext>
            </a:extLst>
          </p:cNvPr>
          <p:cNvSpPr/>
          <p:nvPr/>
        </p:nvSpPr>
        <p:spPr>
          <a:xfrm>
            <a:off x="932688" y="1627632"/>
            <a:ext cx="7259842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Accuracy 95%と聞くと、とても良いAIに見えます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しかし、Test dataが本当に未知データでなければ過大評価になります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同じ患者のデータがTrainとTestに混ざると、性能が高く見える可能性があります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クラスバランスが偏っていると、Accuracyだけでは性能を判断しにくいです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午後は、Parkinson病音声データでこの問題を実際に確認します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C0C22F-9110-5DBD-87CA-48952D445F51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AI研究では、モデルだけでなく評価設計が重要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今日のゴール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34C875F-13EE-7532-D934-955283A5AB88}"/>
              </a:ext>
            </a:extLst>
          </p:cNvPr>
          <p:cNvSpPr/>
          <p:nvPr/>
        </p:nvSpPr>
        <p:spPr>
          <a:xfrm>
            <a:off x="932688" y="1627632"/>
            <a:ext cx="562356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ClassificationとRegressionの違いを説明できる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Training dataとTest dataの役割を説明できる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Decision Treeの条件分岐を読める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CNNが画像分類を行う流れをイメージできる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Grad-CAMの役割を説明できる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高い性能値をそのまま信じず、評価方法を確認できる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88D27BD-F052-D823-7A43-63525698C07E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AIを作るだけでなく、AIを評価する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2648" y="685800"/>
            <a:ext cx="73152" cy="713232"/>
          </a:xfrm>
          <a:prstGeom prst="rect">
            <a:avLst/>
          </a:prstGeom>
          <a:solidFill>
            <a:srgbClr val="4E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594360"/>
            <a:ext cx="57607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では、始めましょう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61872"/>
            <a:ext cx="23871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まずは表データの分類から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7BB9895-9B76-EFCF-4A7D-44859B3833FE}"/>
              </a:ext>
            </a:extLst>
          </p:cNvPr>
          <p:cNvSpPr/>
          <p:nvPr/>
        </p:nvSpPr>
        <p:spPr>
          <a:xfrm>
            <a:off x="932687" y="1874520"/>
            <a:ext cx="6530793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bioinformatics_2-AM_1.ipynbを開きます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乳がんデータセットを使って、分類問題を体験します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Logistic RegressionとDecision Treeを比較します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Decision Treeを可視化し、どの条件で判定されたかを追います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6F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わからないことは、その場で質問してください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380DD4B-6634-14FC-FE08-1D3257559C98}"/>
              </a:ext>
            </a:extLst>
          </p:cNvPr>
          <p:cNvSpPr/>
          <p:nvPr/>
        </p:nvSpPr>
        <p:spPr>
          <a:xfrm>
            <a:off x="896112" y="559612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4EDA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最初の目標：機械学習の基本の流れをつかむ</a:t>
            </a:r>
            <a:endParaRPr lang="en-US" sz="15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473</Words>
  <Application>Microsoft Office PowerPoint</Application>
  <PresentationFormat>ワイド画面</PresentationFormat>
  <Paragraphs>100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岩田　浩明</cp:lastModifiedBy>
  <cp:revision>17</cp:revision>
  <dcterms:created xsi:type="dcterms:W3CDTF">2013-01-27T09:14:16Z</dcterms:created>
  <dcterms:modified xsi:type="dcterms:W3CDTF">2026-08-06T07:03:49Z</dcterms:modified>
  <cp:category/>
</cp:coreProperties>
</file>