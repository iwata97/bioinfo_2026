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1" r:id="rId5"/>
    <p:sldId id="263" r:id="rId6"/>
    <p:sldId id="264" r:id="rId7"/>
    <p:sldId id="265" r:id="rId8"/>
    <p:sldId id="266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72" autoAdjust="0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2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37" d="100"/>
          <a:sy n="37" d="100"/>
        </p:scale>
        <p:origin x="1512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4177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high_resolution_abstract_scientific_tech_backgro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4944" y="1920240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論文再現チャレンジ</a:t>
            </a:r>
            <a:endParaRPr lang="en-US" sz="3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713232" y="261518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公開RNA-seqデータから重要遺伝子にたどり着けるか？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713232" y="33649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午後 ｜ bioinformatics_1-PM_1.ipynb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13232" y="3785616"/>
            <a:ext cx="3749040" cy="0"/>
          </a:xfrm>
          <a:prstGeom prst="line">
            <a:avLst/>
          </a:prstGeom>
          <a:noFill/>
          <a:ln w="2921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3232" y="6272784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B7C7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解析結果から候補遺伝子を選び、次のwet実験を考える</a:t>
            </a:r>
            <a:endParaRPr lang="en-US" sz="84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3291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午後の位置づけ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58368" y="822960"/>
            <a:ext cx="114300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1901952" y="73152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7C7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午前に学んだ解析を「研究の流れ」に接続する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0561320" y="3200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0B3A69">
              <a:alpha val="8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652760" y="38404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01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908792" y="38404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Goal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68680" y="196596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60A5FA">
              <a:alpha val="12000"/>
            </a:srgbClr>
          </a:solidFill>
          <a:ln w="15240">
            <a:solidFill>
              <a:srgbClr val="60A5F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60120" y="2020824"/>
            <a:ext cx="1783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午前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解析方法を学ぶ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2971800" y="2450592"/>
            <a:ext cx="73152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840480" y="196596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22D3EE">
              <a:alpha val="12000"/>
            </a:srgbClr>
          </a:solidFill>
          <a:ln w="15240">
            <a:solidFill>
              <a:srgbClr val="22D3EE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931920" y="2020824"/>
            <a:ext cx="18745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公開データで試す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035040" y="2450592"/>
            <a:ext cx="73152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903720" y="196596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A78BFA">
              <a:alpha val="12000"/>
            </a:srgbClr>
          </a:solidFill>
          <a:ln w="15240">
            <a:solidFill>
              <a:srgbClr val="A78BF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6995160" y="2020824"/>
            <a:ext cx="18745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候補遺伝子を選ぶ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9098280" y="2450592"/>
            <a:ext cx="73152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948671" y="1965960"/>
            <a:ext cx="1794837" cy="960120"/>
          </a:xfrm>
          <a:prstGeom prst="roundRect">
            <a:avLst>
              <a:gd name="adj" fmla="val 7619"/>
            </a:avLst>
          </a:prstGeom>
          <a:solidFill>
            <a:srgbClr val="8BE28B">
              <a:alpha val="12000"/>
            </a:srgbClr>
          </a:solidFill>
          <a:ln w="15240">
            <a:solidFill>
              <a:srgbClr val="8BE28B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0040112" y="2020824"/>
            <a:ext cx="1600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次のwet実験へ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29488" y="3794760"/>
            <a:ext cx="4617720" cy="1051560"/>
          </a:xfrm>
          <a:prstGeom prst="roundRect">
            <a:avLst>
              <a:gd name="adj" fmla="val 10435"/>
            </a:avLst>
          </a:prstGeom>
          <a:solidFill>
            <a:srgbClr val="062B54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94080" y="3904488"/>
            <a:ext cx="4288536" cy="832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ja-JP" altLang="en-US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</a:t>
            </a:r>
            <a:r>
              <a:rPr lang="en-US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のポイント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「図を作る」だけでなく、結果を解釈して仮説を立てる</a:t>
            </a:r>
            <a:endParaRPr 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721528" y="3703320"/>
            <a:ext cx="507492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PCAでサンプル全体の関係を見る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DEG・Volcano plot・Heatmapで候補を探す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論文のCRISPLD2と答え合わせする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54864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FC3D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 午後  |  2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3291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今日の題材：Himes et al. 2014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58368" y="822960"/>
            <a:ext cx="114300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1901952" y="73152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7C7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喘息治療薬による気道平滑筋細胞の発現変化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0561320" y="3200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0B3A69">
              <a:alpha val="8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652760" y="38404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02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908792" y="38404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Paper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77240" y="1335024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A385F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41832" y="1444752"/>
            <a:ext cx="12252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研究の問い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77240" y="185623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Dexamethasone処理で、どの遺伝子の発現が変わるのか？</a:t>
            </a:r>
            <a:endParaRPr lang="en-US" sz="2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86384" y="2359152"/>
            <a:ext cx="539496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14400" y="2761488"/>
            <a:ext cx="676656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ヒト気道平滑筋細胞（HASM）を使用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Untreated と Dex処理を比較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論文は CRISPLD2 に注目し、実験的検証へ展開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914400" y="480060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071F3E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078992" y="4910328"/>
            <a:ext cx="643737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今日のゴール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4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論文の「答え」を先に見ずに、自分の解析で候補遺伝子を選ぶ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823960" y="21488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71A3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PLOS ONE 2014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887968" y="2816352"/>
            <a:ext cx="1975104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71A3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071A3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CRISPLD2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071A3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GSE52778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845552" y="5257800"/>
            <a:ext cx="4133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ja-JP" altLang="ja-JP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Himes, Blanca E., et al. "RNA-Seq transcriptome profiling identifies CRISPLD2 as a glucocorticoid responsive gene that modulates cytokine function in airway smooth muscle cells." </a:t>
            </a:r>
            <a:r>
              <a:rPr lang="ja-JP" altLang="ja-JP" sz="1000" b="1" i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PloS one</a:t>
            </a:r>
            <a:r>
              <a:rPr lang="ja-JP" altLang="ja-JP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 9.6 (2014): e99625.</a:t>
            </a:r>
            <a:endParaRPr lang="en-US" sz="700" b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4864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FC3D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 午後  |  3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583680" y="6510528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660" dirty="0">
                <a:solidFill>
                  <a:srgbClr val="7895BB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Himes et al. PLOS ONE 2014; GEO GSE52778; Bioconductor airway</a:t>
            </a:r>
            <a:endParaRPr lang="en-US" sz="66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E685440A-9831-887F-1FD3-7334AFEFA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0731" y="858230"/>
            <a:ext cx="3408275" cy="43995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3291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午後の解析フロー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58368" y="822960"/>
            <a:ext cx="114300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1901952" y="73152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7C7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Notebookでこの順番に進めます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0561320" y="3200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0B3A69">
              <a:alpha val="8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652760" y="38404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05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908792" y="38404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Flow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85800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60A5FA">
              <a:alpha val="12000"/>
            </a:srgbClr>
          </a:solidFill>
          <a:ln w="15240">
            <a:solidFill>
              <a:srgbClr val="60A5F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77240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count matrix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1719072" y="2093976"/>
            <a:ext cx="27432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103120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60A5FA">
              <a:alpha val="12000"/>
            </a:srgbClr>
          </a:solidFill>
          <a:ln w="15240">
            <a:solidFill>
              <a:srgbClr val="60A5F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194560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filter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3136392" y="2093976"/>
            <a:ext cx="1828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429000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22D3EE">
              <a:alpha val="12000"/>
            </a:srgbClr>
          </a:solidFill>
          <a:ln w="15240">
            <a:solidFill>
              <a:srgbClr val="22D3EE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520440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CPM + log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462272" y="2093976"/>
            <a:ext cx="2560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828032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22D3EE">
              <a:alpha val="12000"/>
            </a:srgbClr>
          </a:solidFill>
          <a:ln w="15240">
            <a:solidFill>
              <a:srgbClr val="22D3EE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19472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861304" y="2093976"/>
            <a:ext cx="3657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007608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A78BFA">
              <a:alpha val="12000"/>
            </a:srgbClr>
          </a:solidFill>
          <a:ln w="15240">
            <a:solidFill>
              <a:srgbClr val="A78BF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099048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040880" y="2093976"/>
            <a:ext cx="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114032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A78BFA">
              <a:alpha val="12000"/>
            </a:srgbClr>
          </a:solidFill>
          <a:ln w="15240">
            <a:solidFill>
              <a:srgbClr val="A78BF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205472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Volcano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147304" y="2093976"/>
            <a:ext cx="8229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8339328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FF7A90">
              <a:alpha val="12000"/>
            </a:srgbClr>
          </a:solidFill>
          <a:ln w="15240">
            <a:solidFill>
              <a:srgbClr val="FF7A90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430768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Heatmap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372600" y="2093976"/>
            <a:ext cx="237744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9720072" y="1828800"/>
            <a:ext cx="960120" cy="530352"/>
          </a:xfrm>
          <a:prstGeom prst="roundRect">
            <a:avLst>
              <a:gd name="adj" fmla="val 13793"/>
            </a:avLst>
          </a:prstGeom>
          <a:solidFill>
            <a:srgbClr val="8BE28B">
              <a:alpha val="12000"/>
            </a:srgbClr>
          </a:solidFill>
          <a:ln w="15240">
            <a:solidFill>
              <a:srgbClr val="8BE28B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 sz="24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9811512" y="188366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Candidate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960120" y="3154680"/>
            <a:ext cx="1965960" cy="502920"/>
          </a:xfrm>
          <a:prstGeom prst="roundRect">
            <a:avLst>
              <a:gd name="adj" fmla="val 21818"/>
            </a:avLst>
          </a:prstGeom>
          <a:solidFill>
            <a:srgbClr val="0A385F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1124712" y="3264408"/>
            <a:ext cx="16367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午前の復習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1051560" y="3803904"/>
            <a:ext cx="30175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表データの読み込み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PCA・Volcano・Heatmap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しきい値を変える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4617720" y="3154680"/>
            <a:ext cx="2331720" cy="502920"/>
          </a:xfrm>
          <a:prstGeom prst="roundRect">
            <a:avLst>
              <a:gd name="adj" fmla="val 21818"/>
            </a:avLst>
          </a:prstGeom>
          <a:solidFill>
            <a:srgbClr val="0A385F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4782312" y="3264408"/>
            <a:ext cx="20025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午後で増えること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4709160" y="3803904"/>
            <a:ext cx="320040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paired designの確認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自分で候補を選ぶ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論文と答え合わせ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8321040" y="31546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0A385F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8485632" y="3264408"/>
            <a:ext cx="16824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最後の一歩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8412480" y="3803904"/>
            <a:ext cx="283464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次のwet実験を考える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ミニ研究レポート</a:t>
            </a:r>
            <a:endParaRPr lang="en-US" sz="13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4864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FC3D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 午後  |  6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3291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候補遺伝子はどう選ぶ？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58368" y="822960"/>
            <a:ext cx="114300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1901952" y="73152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7C7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p値の順位だけでは決めない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0561320" y="3200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0B3A69">
              <a:alpha val="8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652760" y="38404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07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908792" y="38404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Choice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41248" y="12344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統計 × 一貫性 × 生物学 × 実験可能性</a:t>
            </a:r>
            <a:endParaRPr lang="en-US" sz="2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828800" y="2743200"/>
            <a:ext cx="1600200" cy="1600200"/>
          </a:xfrm>
          <a:prstGeom prst="ellipse">
            <a:avLst/>
          </a:prstGeom>
          <a:solidFill>
            <a:srgbClr val="22D3EE">
              <a:alpha val="30000"/>
            </a:srgbClr>
          </a:solidFill>
          <a:ln w="17780">
            <a:solidFill>
              <a:srgbClr val="22D3EE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938528" y="3246119"/>
            <a:ext cx="1380744" cy="60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Statistical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signal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49040" y="2743200"/>
            <a:ext cx="1600200" cy="1600200"/>
          </a:xfrm>
          <a:prstGeom prst="ellipse">
            <a:avLst/>
          </a:prstGeom>
          <a:solidFill>
            <a:srgbClr val="8BE28B">
              <a:alpha val="30000"/>
            </a:srgbClr>
          </a:solidFill>
          <a:ln w="17780">
            <a:solidFill>
              <a:srgbClr val="8BE28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58768" y="3136392"/>
            <a:ext cx="1380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Consistency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across donors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669280" y="2743200"/>
            <a:ext cx="1600200" cy="1600200"/>
          </a:xfrm>
          <a:prstGeom prst="ellipse">
            <a:avLst/>
          </a:prstGeom>
          <a:solidFill>
            <a:srgbClr val="A78BFA">
              <a:alpha val="30000"/>
            </a:srgbClr>
          </a:solidFill>
          <a:ln w="17780">
            <a:solidFill>
              <a:srgbClr val="A78B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79008" y="3246120"/>
            <a:ext cx="1380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Biological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meaning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89520" y="2743200"/>
            <a:ext cx="1600200" cy="1600200"/>
          </a:xfrm>
          <a:prstGeom prst="ellipse">
            <a:avLst/>
          </a:prstGeom>
          <a:solidFill>
            <a:srgbClr val="FF7A90">
              <a:alpha val="30000"/>
            </a:srgbClr>
          </a:solidFill>
          <a:ln w="17780">
            <a:solidFill>
              <a:srgbClr val="FF7A90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699248" y="3095897"/>
            <a:ext cx="1380744" cy="8817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 experiment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feasibility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14400" y="4983480"/>
            <a:ext cx="4114800" cy="621792"/>
          </a:xfrm>
          <a:prstGeom prst="roundRect">
            <a:avLst>
              <a:gd name="adj" fmla="val 17647"/>
            </a:avLst>
          </a:prstGeom>
          <a:solidFill>
            <a:srgbClr val="071F3E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078992" y="5093208"/>
            <a:ext cx="37856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候補リストではDexで上昇した遺伝子に注目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715000" y="4818888"/>
            <a:ext cx="411480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log2FC &gt; 2.0</a:t>
            </a:r>
            <a:endParaRPr lang="en-US" sz="134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4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adjusted p-value &lt; 0.05</a:t>
            </a:r>
            <a:endParaRPr lang="en-US" sz="134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4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Dex-induced candidates 上位50</a:t>
            </a:r>
            <a:endParaRPr lang="en-US" sz="134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14400" y="5925312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最終的には「次に何を実験で確かめるか」が大事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4864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FC3D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 午後  |  8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3291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答え合わせ：CRISPLD2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58368" y="822960"/>
            <a:ext cx="114300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1901952" y="73152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7C7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論文が注目した遺伝子は、候補リストの37位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0561320" y="3200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0B3A69">
              <a:alpha val="8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652760" y="38404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08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908792" y="38404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Answer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841248" y="140817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CRISPLD2</a:t>
            </a:r>
            <a:endParaRPr lang="en-US" sz="4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59536" y="2084832"/>
            <a:ext cx="2926080" cy="0"/>
          </a:xfrm>
          <a:prstGeom prst="line">
            <a:avLst/>
          </a:prstGeom>
          <a:noFill/>
          <a:ln w="2921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868680" y="2578608"/>
            <a:ext cx="2560320" cy="1143000"/>
          </a:xfrm>
          <a:prstGeom prst="roundRect">
            <a:avLst>
              <a:gd name="adj" fmla="val 9600"/>
            </a:avLst>
          </a:prstGeom>
          <a:solidFill>
            <a:srgbClr val="0A385F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33272" y="2688336"/>
            <a:ext cx="2231136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log2FC = 2.52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padj = 0.0467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Dex high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977640" y="2496312"/>
            <a:ext cx="3063240" cy="658368"/>
          </a:xfrm>
          <a:prstGeom prst="roundRect">
            <a:avLst>
              <a:gd name="adj" fmla="val 16667"/>
            </a:avLst>
          </a:prstGeom>
          <a:solidFill>
            <a:srgbClr val="071F3E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142232" y="2606040"/>
            <a:ext cx="27340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38位という順位が面白い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160520" y="3429000"/>
            <a:ext cx="39319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トップ1ではない</a:t>
            </a:r>
            <a:endParaRPr lang="en-US" sz="14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42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p値順だけでは研究は決まらない</a:t>
            </a:r>
            <a:endParaRPr lang="en-US" sz="14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42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著者は機能・仮説・検証可能性も見ている</a:t>
            </a:r>
            <a:endParaRPr lang="en-US" sz="142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549640" y="1554480"/>
            <a:ext cx="2103120" cy="3566160"/>
          </a:xfrm>
          <a:prstGeom prst="roundRect">
            <a:avLst>
              <a:gd name="adj" fmla="val 2609"/>
            </a:avLst>
          </a:prstGeom>
          <a:solidFill>
            <a:srgbClr val="05142A">
              <a:alpha val="90000"/>
            </a:srgbClr>
          </a:solidFill>
          <a:ln w="12700">
            <a:solidFill>
              <a:srgbClr val="22D3E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869680" y="1874520"/>
            <a:ext cx="1508760" cy="256032"/>
          </a:xfrm>
          <a:prstGeom prst="rect">
            <a:avLst/>
          </a:prstGeom>
          <a:solidFill>
            <a:srgbClr val="85A1C8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869680" y="2377440"/>
            <a:ext cx="1508760" cy="256032"/>
          </a:xfrm>
          <a:prstGeom prst="rect">
            <a:avLst/>
          </a:prstGeom>
          <a:solidFill>
            <a:srgbClr val="85A1C8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69680" y="2880360"/>
            <a:ext cx="1508760" cy="256032"/>
          </a:xfrm>
          <a:prstGeom prst="rect">
            <a:avLst/>
          </a:prstGeom>
          <a:solidFill>
            <a:srgbClr val="85A1C8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869680" y="3383280"/>
            <a:ext cx="1508760" cy="256032"/>
          </a:xfrm>
          <a:prstGeom prst="rect">
            <a:avLst/>
          </a:prstGeom>
          <a:solidFill>
            <a:srgbClr val="22D3EE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8869680" y="3886200"/>
            <a:ext cx="1508760" cy="256032"/>
          </a:xfrm>
          <a:prstGeom prst="rect">
            <a:avLst/>
          </a:prstGeom>
          <a:solidFill>
            <a:srgbClr val="85A1C8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0808208" y="362102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Rank 37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668512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候補選びは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5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「正解探し」ではなく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15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「仮説づくり」</a:t>
            </a:r>
            <a:endParaRPr lang="en-US" sz="11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54864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FC3D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 午後  |  9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3291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最後はwet実験へつなげる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58368" y="822960"/>
            <a:ext cx="114300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1901952" y="73152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7C7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RNA-seq解析は、次の実験を考えるための入口</a:t>
            </a:r>
            <a:endParaRPr 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0561320" y="3200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0B3A69">
              <a:alpha val="8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652760" y="38404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09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908792" y="38404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Output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77240" y="1874520"/>
            <a:ext cx="1143000" cy="566928"/>
          </a:xfrm>
          <a:prstGeom prst="roundRect">
            <a:avLst>
              <a:gd name="adj" fmla="val 12903"/>
            </a:avLst>
          </a:prstGeom>
          <a:solidFill>
            <a:srgbClr val="A78BFA">
              <a:alpha val="12000"/>
            </a:srgbClr>
          </a:solidFill>
          <a:ln w="15240">
            <a:solidFill>
              <a:srgbClr val="A78BF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68680" y="192938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2029968" y="2157984"/>
            <a:ext cx="80467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971800" y="1874520"/>
            <a:ext cx="1645920" cy="566928"/>
          </a:xfrm>
          <a:prstGeom prst="roundRect">
            <a:avLst>
              <a:gd name="adj" fmla="val 12903"/>
            </a:avLst>
          </a:prstGeom>
          <a:solidFill>
            <a:srgbClr val="22D3EE">
              <a:alpha val="12000"/>
            </a:srgbClr>
          </a:solidFill>
          <a:ln w="15240">
            <a:solidFill>
              <a:srgbClr val="22D3EE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063240" y="19293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候補遺伝子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736592" y="2157984"/>
            <a:ext cx="795528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650992" y="187452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8BE28B">
              <a:alpha val="12000"/>
            </a:srgbClr>
          </a:solidFill>
          <a:ln w="15240">
            <a:solidFill>
              <a:srgbClr val="8BE28B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742432" y="19293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仮説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858000" y="2157984"/>
            <a:ext cx="80467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7790688" y="18745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F7A90">
              <a:alpha val="12000"/>
            </a:srgbClr>
          </a:solidFill>
          <a:ln w="15240">
            <a:solidFill>
              <a:srgbClr val="FF7A90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882128" y="19293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wet実験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9326880" y="2157984"/>
            <a:ext cx="77724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10222992" y="1874520"/>
            <a:ext cx="1325880" cy="566928"/>
          </a:xfrm>
          <a:prstGeom prst="roundRect">
            <a:avLst>
              <a:gd name="adj" fmla="val 12903"/>
            </a:avLst>
          </a:prstGeom>
          <a:solidFill>
            <a:srgbClr val="FDE68A">
              <a:alpha val="12000"/>
            </a:srgbClr>
          </a:solidFill>
          <a:ln w="15240">
            <a:solidFill>
              <a:srgbClr val="FDE68A">
                <a:alpha val="85000"/>
              </a:srgbClr>
            </a:solidFill>
            <a:prstDash val="solid"/>
          </a:ln>
          <a:effectLst>
            <a:outerShdw blurRad="19050" dist="127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0314432" y="19293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次の発見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868680" y="3246120"/>
            <a:ext cx="2926080" cy="502920"/>
          </a:xfrm>
          <a:prstGeom prst="roundRect">
            <a:avLst>
              <a:gd name="adj" fmla="val 21818"/>
            </a:avLst>
          </a:prstGeom>
          <a:solidFill>
            <a:srgbClr val="0A385F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1033272" y="3355848"/>
            <a:ext cx="25968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ミニ研究レポートで書くこと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987552" y="3931920"/>
            <a:ext cx="402336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PCAから何が見えたか</a:t>
            </a:r>
            <a:endParaRPr lang="en-US" sz="133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3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候補遺伝子を3つ選ぶ</a:t>
            </a:r>
            <a:endParaRPr lang="en-US" sz="133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3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CRISPLD2について確認できたこと</a:t>
            </a:r>
            <a:endParaRPr lang="en-US" sz="133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806440" y="324612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0A385F">
              <a:alpha val="92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971032" y="3355848"/>
            <a:ext cx="16824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wet実験の例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925312" y="3931920"/>
            <a:ext cx="425196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qPCR</a:t>
            </a:r>
            <a:endParaRPr lang="en-US" sz="133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3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Western blot / ELISA</a:t>
            </a:r>
            <a:endParaRPr lang="en-US" sz="133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3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knockdown / overexpression</a:t>
            </a:r>
            <a:endParaRPr lang="en-US" sz="133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33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phenotype assay</a:t>
            </a:r>
            <a:endParaRPr lang="en-US" sz="133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68680" y="5815584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午後のゴール：データから「次に調べたいこと」を1つ持ち帰る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54864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FC3D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 午後  |  10</a:t>
            </a:r>
            <a:endParaRPr lang="en-US" sz="7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49808" y="2066544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では、始めましょう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786384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bioinformatics_1-PM_1.ipynb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86384" y="3273552"/>
            <a:ext cx="3017520" cy="0"/>
          </a:xfrm>
          <a:prstGeom prst="line">
            <a:avLst/>
          </a:prstGeom>
          <a:noFill/>
          <a:ln w="2667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868680" y="3886200"/>
            <a:ext cx="53035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まずはデータの構造を確認する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4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途中で候補遺伝子を3つ選ぶ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en-US" sz="1450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• 最後にCRISPLD2と答え合わせする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868680" y="57424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F3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わからないところは、その場で質問してください</a:t>
            </a:r>
            <a:endParaRPr lang="en-US" sz="15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412</Words>
  <Application>Microsoft Office PowerPoint</Application>
  <PresentationFormat>ワイド画面</PresentationFormat>
  <Paragraphs>132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Tottori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バイオ技術 Day 1 午後 論文再現チャレンジ</dc:title>
  <dc:subject>Bioinformatics Day 1 Afternoon RNA-seq paper reproduction challenge</dc:subject>
  <dc:creator>OpenAI</dc:creator>
  <cp:lastModifiedBy>岩田　浩明</cp:lastModifiedBy>
  <cp:revision>7</cp:revision>
  <dcterms:created xsi:type="dcterms:W3CDTF">2026-07-05T06:08:48Z</dcterms:created>
  <dcterms:modified xsi:type="dcterms:W3CDTF">2026-08-05T13:45:09Z</dcterms:modified>
</cp:coreProperties>
</file>