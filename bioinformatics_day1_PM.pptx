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2" autoAdjust="0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37" d="100"/>
          <a:sy n="37" d="100"/>
        </p:scale>
        <p:origin x="151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4177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resolution_abstract_scientific_tech_backgro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4944" y="1920240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論文再現チャレンジ</a:t>
            </a:r>
            <a:endParaRPr lang="en-US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713232" y="2615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公開RNA-seqデータから重要遺伝子にたどり着けるか？</a:t>
            </a:r>
            <a:endParaRPr lang="en-US" sz="2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713232" y="33649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Day 1 午後 ｜ bioinformatics_1-4.ipynb</a:t>
            </a:r>
            <a:endParaRPr lang="en-US" sz="1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13232" y="3785616"/>
            <a:ext cx="3749040" cy="0"/>
          </a:xfrm>
          <a:prstGeom prst="line">
            <a:avLst/>
          </a:prstGeom>
          <a:noFill/>
          <a:ln w="2921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3232" y="627278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B7C7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解析結果から候補遺伝子を選び、次のwet実験を考える</a:t>
            </a:r>
            <a:endParaRPr lang="en-US" sz="84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午後の位置づけ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01952" y="73152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7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午前に学んだ解析を「研究の流れ」に接続する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0561320" y="320040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0B3A69">
              <a:alpha val="8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652760" y="38404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01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908792" y="384048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Goal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68680" y="19659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60A5FA">
              <a:alpha val="12000"/>
            </a:srgbClr>
          </a:solidFill>
          <a:ln w="15240">
            <a:solidFill>
              <a:srgbClr val="60A5FA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60120" y="2020824"/>
            <a:ext cx="1783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午前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解析方法を学ぶ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971800" y="2450592"/>
            <a:ext cx="7315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840480" y="196596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22D3EE">
              <a:alpha val="12000"/>
            </a:srgbClr>
          </a:solidFill>
          <a:ln w="15240">
            <a:solidFill>
              <a:srgbClr val="22D3EE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931920" y="2020824"/>
            <a:ext cx="1874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午後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公開データで試す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035040" y="2450592"/>
            <a:ext cx="7315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903720" y="196596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A78BFA">
              <a:alpha val="12000"/>
            </a:srgbClr>
          </a:solidFill>
          <a:ln w="15240">
            <a:solidFill>
              <a:srgbClr val="A78BFA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995160" y="2020824"/>
            <a:ext cx="1874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候補遺伝子を選ぶ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098280" y="2450592"/>
            <a:ext cx="7315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948672" y="196596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8BE28B">
              <a:alpha val="12000"/>
            </a:srgbClr>
          </a:solidFill>
          <a:ln w="15240">
            <a:solidFill>
              <a:srgbClr val="8BE28B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040112" y="2020824"/>
            <a:ext cx="1508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次のwet実験へ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143000" y="3794760"/>
            <a:ext cx="4617720" cy="1051560"/>
          </a:xfrm>
          <a:prstGeom prst="roundRect">
            <a:avLst>
              <a:gd name="adj" fmla="val 10435"/>
            </a:avLst>
          </a:prstGeom>
          <a:solidFill>
            <a:srgbClr val="062B54">
              <a:alpha val="9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307592" y="3904488"/>
            <a:ext cx="428853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今日のポイント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「図を作る」だけでなく、結果を解釈して仮説を立てる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446520" y="3703320"/>
            <a:ext cx="466344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PCAでサンプル全体の関係を見る</a:t>
            </a:r>
            <a:endParaRPr lang="en-US" sz="142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42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DEG・Volcano plot・Heatmapで候補を探す</a:t>
            </a:r>
            <a:endParaRPr lang="en-US" sz="142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42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論文のCRISPLD2と答え合わせする</a:t>
            </a:r>
            <a:endParaRPr lang="en-US" sz="142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FC3D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 午後  |  2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今日の題材：Himes et al. 2014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01952" y="73152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7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喘息治療薬による気道平滑筋細胞の発現変化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0561320" y="320040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0B3A69">
              <a:alpha val="8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652760" y="38404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02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908792" y="384048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Paper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77240" y="1335024"/>
            <a:ext cx="1554480" cy="384048"/>
          </a:xfrm>
          <a:prstGeom prst="roundRect">
            <a:avLst>
              <a:gd name="adj" fmla="val 28571"/>
            </a:avLst>
          </a:prstGeom>
          <a:solidFill>
            <a:srgbClr val="0A385F">
              <a:alpha val="9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41832" y="1444752"/>
            <a:ext cx="12252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研究の問い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77240" y="18562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Dexamethasone処理で、どの遺伝子の発現が変わるのか？</a:t>
            </a:r>
            <a:endParaRPr lang="en-US" sz="2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86384" y="2359152"/>
            <a:ext cx="53949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14400" y="2761488"/>
            <a:ext cx="67665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ヒト気道平滑筋細胞（HASM）を使用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Untreated と Dex処理を比較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論文は CRISPLD2 に注目し、実験的検証へ展開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4400" y="480060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071F3E">
              <a:alpha val="9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78992" y="4910328"/>
            <a:ext cx="64373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今日のゴール</a:t>
            </a:r>
            <a:endParaRPr lang="en-US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4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論文の「答え」を先に見ずに、自分の解析で候補遺伝子を選ぶ</a:t>
            </a:r>
            <a:endParaRPr lang="en-US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549640" y="1554480"/>
            <a:ext cx="2651760" cy="3566160"/>
          </a:xfrm>
          <a:prstGeom prst="roundRect">
            <a:avLst>
              <a:gd name="adj" fmla="val 1724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22D3EE">
                <a:alpha val="5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823960" y="1874520"/>
            <a:ext cx="2103120" cy="128016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823960" y="21488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A3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PLOS ONE 2014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887968" y="2816352"/>
            <a:ext cx="1975104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A3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RNA-seq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71A3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CRISPLD2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71A3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GSE52778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577072" y="539496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B7C7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Himes et al., PLOS ONE 2014 / GEO GSE52778 / Bioconductor airway</a:t>
            </a:r>
            <a:endParaRPr lang="en-US" sz="72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FC3D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 午後  |  3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583680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60" dirty="0">
                <a:solidFill>
                  <a:srgbClr val="7895B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Himes et al. PLOS ONE 2014; GEO GSE52778; Bioconductor airway</a:t>
            </a:r>
            <a:endParaRPr lang="en-US" sz="66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データ設計：4人のdonor × 2条件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01952" y="73152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7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paired designを意識して比較する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0561320" y="320040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0B3A69">
              <a:alpha val="8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652760" y="38404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03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908792" y="384048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Design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" y="1234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同じdonor内で Untreated と Dex を比較する</a:t>
            </a:r>
            <a:endParaRPr lang="en-US" sz="1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14400" y="1874520"/>
            <a:ext cx="1417320" cy="411480"/>
          </a:xfrm>
          <a:prstGeom prst="roundRect">
            <a:avLst>
              <a:gd name="adj" fmla="val 8889"/>
            </a:avLst>
          </a:prstGeom>
          <a:solidFill>
            <a:srgbClr val="0A385F"/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14400" y="1984248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Donor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377440" y="1874520"/>
            <a:ext cx="2423160" cy="411480"/>
          </a:xfrm>
          <a:prstGeom prst="roundRect">
            <a:avLst>
              <a:gd name="adj" fmla="val 8889"/>
            </a:avLst>
          </a:prstGeom>
          <a:solidFill>
            <a:srgbClr val="0A385F"/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377440" y="1984248"/>
            <a:ext cx="2423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Untreated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846320" y="1874520"/>
            <a:ext cx="2423160" cy="411480"/>
          </a:xfrm>
          <a:prstGeom prst="roundRect">
            <a:avLst>
              <a:gd name="adj" fmla="val 8889"/>
            </a:avLst>
          </a:prstGeom>
          <a:solidFill>
            <a:srgbClr val="0A385F"/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846320" y="1984248"/>
            <a:ext cx="2423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Dex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14400" y="2587752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N61311</a:t>
            </a:r>
            <a:endParaRPr lang="en-US" sz="108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487168" y="2532888"/>
            <a:ext cx="2057400" cy="320040"/>
          </a:xfrm>
          <a:prstGeom prst="roundRect">
            <a:avLst>
              <a:gd name="adj" fmla="val 17143"/>
            </a:avLst>
          </a:prstGeom>
          <a:solidFill>
            <a:srgbClr val="60A5FA">
              <a:alpha val="92000"/>
            </a:srgbClr>
          </a:solidFill>
          <a:ln w="12700">
            <a:solidFill>
              <a:srgbClr val="60A5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578608" y="2606040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N61311_Untreated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636008" y="2697480"/>
            <a:ext cx="44805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065776" y="2532888"/>
            <a:ext cx="1783080" cy="320040"/>
          </a:xfrm>
          <a:prstGeom prst="roundRect">
            <a:avLst>
              <a:gd name="adj" fmla="val 17143"/>
            </a:avLst>
          </a:prstGeom>
          <a:solidFill>
            <a:srgbClr val="2DD4BF">
              <a:alpha val="92000"/>
            </a:srgbClr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157216" y="2606040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N61311_Dex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14400" y="315468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N052611</a:t>
            </a:r>
            <a:endParaRPr lang="en-US" sz="108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2487168" y="3099816"/>
            <a:ext cx="2057400" cy="320040"/>
          </a:xfrm>
          <a:prstGeom prst="roundRect">
            <a:avLst>
              <a:gd name="adj" fmla="val 17143"/>
            </a:avLst>
          </a:prstGeom>
          <a:solidFill>
            <a:srgbClr val="60A5FA">
              <a:alpha val="92000"/>
            </a:srgbClr>
          </a:solidFill>
          <a:ln w="12700">
            <a:solidFill>
              <a:srgbClr val="60A5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2578608" y="3172968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N052611_Untreated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636008" y="3264408"/>
            <a:ext cx="44805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065776" y="3099816"/>
            <a:ext cx="1783080" cy="320040"/>
          </a:xfrm>
          <a:prstGeom prst="roundRect">
            <a:avLst>
              <a:gd name="adj" fmla="val 17143"/>
            </a:avLst>
          </a:prstGeom>
          <a:solidFill>
            <a:srgbClr val="2DD4BF">
              <a:alpha val="92000"/>
            </a:srgbClr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157216" y="3172968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N052611_Dex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14400" y="3721608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N080611</a:t>
            </a:r>
            <a:endParaRPr lang="en-US" sz="108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2487168" y="3666744"/>
            <a:ext cx="2057400" cy="320040"/>
          </a:xfrm>
          <a:prstGeom prst="roundRect">
            <a:avLst>
              <a:gd name="adj" fmla="val 17143"/>
            </a:avLst>
          </a:prstGeom>
          <a:solidFill>
            <a:srgbClr val="60A5FA">
              <a:alpha val="92000"/>
            </a:srgbClr>
          </a:solidFill>
          <a:ln w="12700">
            <a:solidFill>
              <a:srgbClr val="60A5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2578608" y="3739896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N080611_Untreated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636008" y="3831336"/>
            <a:ext cx="44805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5065776" y="3666744"/>
            <a:ext cx="1783080" cy="320040"/>
          </a:xfrm>
          <a:prstGeom prst="roundRect">
            <a:avLst>
              <a:gd name="adj" fmla="val 17143"/>
            </a:avLst>
          </a:prstGeom>
          <a:solidFill>
            <a:srgbClr val="2DD4BF">
              <a:alpha val="92000"/>
            </a:srgbClr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157216" y="3739896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N080611_Dex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914400" y="4288536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N061011</a:t>
            </a:r>
            <a:endParaRPr lang="en-US" sz="108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2487168" y="4233672"/>
            <a:ext cx="2057400" cy="320040"/>
          </a:xfrm>
          <a:prstGeom prst="roundRect">
            <a:avLst>
              <a:gd name="adj" fmla="val 17143"/>
            </a:avLst>
          </a:prstGeom>
          <a:solidFill>
            <a:srgbClr val="60A5FA">
              <a:alpha val="92000"/>
            </a:srgbClr>
          </a:solidFill>
          <a:ln w="12700">
            <a:solidFill>
              <a:srgbClr val="60A5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2578608" y="4306824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N061011_Untreated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4636008" y="4398264"/>
            <a:ext cx="44805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065776" y="4233672"/>
            <a:ext cx="1783080" cy="320040"/>
          </a:xfrm>
          <a:prstGeom prst="roundRect">
            <a:avLst>
              <a:gd name="adj" fmla="val 17143"/>
            </a:avLst>
          </a:prstGeom>
          <a:solidFill>
            <a:srgbClr val="2DD4BF">
              <a:alpha val="92000"/>
            </a:srgbClr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5157216" y="4306824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N061011_Dex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7726680" y="2240280"/>
            <a:ext cx="3429000" cy="1097280"/>
          </a:xfrm>
          <a:prstGeom prst="roundRect">
            <a:avLst>
              <a:gd name="adj" fmla="val 10000"/>
            </a:avLst>
          </a:prstGeom>
          <a:solidFill>
            <a:srgbClr val="071F3E">
              <a:alpha val="9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7891272" y="2350008"/>
            <a:ext cx="309981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paired designの意味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「個体差」を考えながら、処理による変化を見る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7955280" y="3749040"/>
            <a:ext cx="32918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4 donorそれぞれに2条件</a:t>
            </a:r>
            <a:endParaRPr lang="en-US" sz="132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32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サンプル数は8</a:t>
            </a:r>
            <a:endParaRPr lang="en-US" sz="132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32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同じdonorの点を線で結ぶと変化が見やすい</a:t>
            </a:r>
            <a:endParaRPr lang="en-US" sz="132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FC3D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 午後  |  4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解析の出発点：count matrix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01952" y="73152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7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今日はFASTQからではなく、定量後の表データから始める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0561320" y="320040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0B3A69">
              <a:alpha val="8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652760" y="38404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04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908792" y="384048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Input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77240" y="1444752"/>
            <a:ext cx="1188720" cy="530352"/>
          </a:xfrm>
          <a:prstGeom prst="roundRect">
            <a:avLst>
              <a:gd name="adj" fmla="val 13793"/>
            </a:avLst>
          </a:prstGeom>
          <a:solidFill>
            <a:srgbClr val="85A1C8">
              <a:alpha val="12000"/>
            </a:srgbClr>
          </a:solidFill>
          <a:ln w="15240">
            <a:solidFill>
              <a:srgbClr val="85A1C8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68680" y="149961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FASTQ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084832" y="1709928"/>
            <a:ext cx="704088" cy="0"/>
          </a:xfrm>
          <a:prstGeom prst="line">
            <a:avLst/>
          </a:prstGeom>
          <a:noFill/>
          <a:ln w="25400">
            <a:solidFill>
              <a:srgbClr val="85A1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898648" y="1444752"/>
            <a:ext cx="914400" cy="530352"/>
          </a:xfrm>
          <a:prstGeom prst="roundRect">
            <a:avLst>
              <a:gd name="adj" fmla="val 13793"/>
            </a:avLst>
          </a:prstGeom>
          <a:solidFill>
            <a:srgbClr val="85A1C8">
              <a:alpha val="12000"/>
            </a:srgbClr>
          </a:solidFill>
          <a:ln w="15240">
            <a:solidFill>
              <a:srgbClr val="85A1C8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990088" y="149961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QC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931920" y="1709928"/>
            <a:ext cx="685800" cy="0"/>
          </a:xfrm>
          <a:prstGeom prst="line">
            <a:avLst/>
          </a:prstGeom>
          <a:noFill/>
          <a:ln w="25400">
            <a:solidFill>
              <a:srgbClr val="85A1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736592" y="1444752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85A1C8">
              <a:alpha val="12000"/>
            </a:srgbClr>
          </a:solidFill>
          <a:ln w="15240">
            <a:solidFill>
              <a:srgbClr val="85A1C8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828032" y="149961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Mapping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81344" y="1709928"/>
            <a:ext cx="676656" cy="0"/>
          </a:xfrm>
          <a:prstGeom prst="line">
            <a:avLst/>
          </a:prstGeom>
          <a:noFill/>
          <a:ln w="25400">
            <a:solidFill>
              <a:srgbClr val="85A1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976872" y="1444752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85A1C8">
              <a:alpha val="12000"/>
            </a:srgbClr>
          </a:solidFill>
          <a:ln w="15240">
            <a:solidFill>
              <a:srgbClr val="85A1C8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068312" y="149961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Counting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430768" y="1709928"/>
            <a:ext cx="66751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217152" y="1298448"/>
            <a:ext cx="1554480" cy="804672"/>
          </a:xfrm>
          <a:prstGeom prst="roundRect">
            <a:avLst>
              <a:gd name="adj" fmla="val 9091"/>
            </a:avLst>
          </a:prstGeom>
          <a:solidFill>
            <a:srgbClr val="22D3EE">
              <a:alpha val="12000"/>
            </a:srgbClr>
          </a:solidFill>
          <a:ln w="15240">
            <a:solidFill>
              <a:srgbClr val="22D3EE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308592" y="1353312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Count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matrix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440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Gene × Sample の表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960120" y="29718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1261872" y="29718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563624" y="29718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865376" y="29718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2167128" y="29718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2468880" y="29718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2770632" y="29718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072384" y="29718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374136" y="29718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675888" y="29718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960120" y="32004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1261872" y="32004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1563624" y="32004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1865376" y="32004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2167128" y="32004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2468880" y="32004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2770632" y="32004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3072384" y="32004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3374136" y="32004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3675888" y="32004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960120" y="34290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1261872" y="34290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1563624" y="34290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1865376" y="34290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2167128" y="34290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2468880" y="34290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2770632" y="34290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3072384" y="34290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3374136" y="34290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3675888" y="34290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960120" y="36576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1261872" y="36576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1563624" y="36576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1865376" y="36576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2167128" y="36576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2468880" y="36576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2770632" y="36576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3072384" y="36576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3374136" y="36576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3675888" y="36576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960120" y="38862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1261872" y="38862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1563624" y="38862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1865376" y="38862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2167128" y="38862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2468880" y="38862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2770632" y="38862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Shape 68"/>
          <p:cNvSpPr/>
          <p:nvPr/>
        </p:nvSpPr>
        <p:spPr>
          <a:xfrm>
            <a:off x="3072384" y="38862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3374136" y="38862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Shape 70"/>
          <p:cNvSpPr/>
          <p:nvPr/>
        </p:nvSpPr>
        <p:spPr>
          <a:xfrm>
            <a:off x="3675888" y="38862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Shape 71"/>
          <p:cNvSpPr/>
          <p:nvPr/>
        </p:nvSpPr>
        <p:spPr>
          <a:xfrm>
            <a:off x="960120" y="41148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5" name="Shape 72"/>
          <p:cNvSpPr/>
          <p:nvPr/>
        </p:nvSpPr>
        <p:spPr>
          <a:xfrm>
            <a:off x="1261872" y="41148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1563624" y="41148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7" name="Shape 74"/>
          <p:cNvSpPr/>
          <p:nvPr/>
        </p:nvSpPr>
        <p:spPr>
          <a:xfrm>
            <a:off x="1865376" y="41148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8" name="Shape 75"/>
          <p:cNvSpPr/>
          <p:nvPr/>
        </p:nvSpPr>
        <p:spPr>
          <a:xfrm>
            <a:off x="2167128" y="41148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Shape 76"/>
          <p:cNvSpPr/>
          <p:nvPr/>
        </p:nvSpPr>
        <p:spPr>
          <a:xfrm>
            <a:off x="2468880" y="41148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Shape 77"/>
          <p:cNvSpPr/>
          <p:nvPr/>
        </p:nvSpPr>
        <p:spPr>
          <a:xfrm>
            <a:off x="2770632" y="41148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1" name="Shape 78"/>
          <p:cNvSpPr/>
          <p:nvPr/>
        </p:nvSpPr>
        <p:spPr>
          <a:xfrm>
            <a:off x="3072384" y="41148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Shape 79"/>
          <p:cNvSpPr/>
          <p:nvPr/>
        </p:nvSpPr>
        <p:spPr>
          <a:xfrm>
            <a:off x="3374136" y="41148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3" name="Shape 80"/>
          <p:cNvSpPr/>
          <p:nvPr/>
        </p:nvSpPr>
        <p:spPr>
          <a:xfrm>
            <a:off x="3675888" y="41148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4" name="Shape 81"/>
          <p:cNvSpPr/>
          <p:nvPr/>
        </p:nvSpPr>
        <p:spPr>
          <a:xfrm>
            <a:off x="960120" y="43434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5" name="Shape 82"/>
          <p:cNvSpPr/>
          <p:nvPr/>
        </p:nvSpPr>
        <p:spPr>
          <a:xfrm>
            <a:off x="1261872" y="43434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6" name="Shape 83"/>
          <p:cNvSpPr/>
          <p:nvPr/>
        </p:nvSpPr>
        <p:spPr>
          <a:xfrm>
            <a:off x="1563624" y="43434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7" name="Shape 84"/>
          <p:cNvSpPr/>
          <p:nvPr/>
        </p:nvSpPr>
        <p:spPr>
          <a:xfrm>
            <a:off x="1865376" y="43434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8" name="Shape 85"/>
          <p:cNvSpPr/>
          <p:nvPr/>
        </p:nvSpPr>
        <p:spPr>
          <a:xfrm>
            <a:off x="2167128" y="43434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9" name="Shape 86"/>
          <p:cNvSpPr/>
          <p:nvPr/>
        </p:nvSpPr>
        <p:spPr>
          <a:xfrm>
            <a:off x="2468880" y="43434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0" name="Shape 87"/>
          <p:cNvSpPr/>
          <p:nvPr/>
        </p:nvSpPr>
        <p:spPr>
          <a:xfrm>
            <a:off x="2770632" y="43434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1" name="Shape 88"/>
          <p:cNvSpPr/>
          <p:nvPr/>
        </p:nvSpPr>
        <p:spPr>
          <a:xfrm>
            <a:off x="3072384" y="43434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2" name="Shape 89"/>
          <p:cNvSpPr/>
          <p:nvPr/>
        </p:nvSpPr>
        <p:spPr>
          <a:xfrm>
            <a:off x="3374136" y="43434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3" name="Shape 90"/>
          <p:cNvSpPr/>
          <p:nvPr/>
        </p:nvSpPr>
        <p:spPr>
          <a:xfrm>
            <a:off x="3675888" y="43434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4" name="Shape 91"/>
          <p:cNvSpPr/>
          <p:nvPr/>
        </p:nvSpPr>
        <p:spPr>
          <a:xfrm>
            <a:off x="960120" y="45720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5" name="Shape 92"/>
          <p:cNvSpPr/>
          <p:nvPr/>
        </p:nvSpPr>
        <p:spPr>
          <a:xfrm>
            <a:off x="1261872" y="45720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6" name="Shape 93"/>
          <p:cNvSpPr/>
          <p:nvPr/>
        </p:nvSpPr>
        <p:spPr>
          <a:xfrm>
            <a:off x="1563624" y="45720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7" name="Shape 94"/>
          <p:cNvSpPr/>
          <p:nvPr/>
        </p:nvSpPr>
        <p:spPr>
          <a:xfrm>
            <a:off x="1865376" y="45720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8" name="Shape 95"/>
          <p:cNvSpPr/>
          <p:nvPr/>
        </p:nvSpPr>
        <p:spPr>
          <a:xfrm>
            <a:off x="2167128" y="45720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9" name="Shape 96"/>
          <p:cNvSpPr/>
          <p:nvPr/>
        </p:nvSpPr>
        <p:spPr>
          <a:xfrm>
            <a:off x="2468880" y="45720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0" name="Shape 97"/>
          <p:cNvSpPr/>
          <p:nvPr/>
        </p:nvSpPr>
        <p:spPr>
          <a:xfrm>
            <a:off x="2770632" y="45720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1" name="Shape 98"/>
          <p:cNvSpPr/>
          <p:nvPr/>
        </p:nvSpPr>
        <p:spPr>
          <a:xfrm>
            <a:off x="3072384" y="45720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2" name="Shape 99"/>
          <p:cNvSpPr/>
          <p:nvPr/>
        </p:nvSpPr>
        <p:spPr>
          <a:xfrm>
            <a:off x="3374136" y="45720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3" name="Shape 100"/>
          <p:cNvSpPr/>
          <p:nvPr/>
        </p:nvSpPr>
        <p:spPr>
          <a:xfrm>
            <a:off x="3675888" y="45720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4" name="Shape 101"/>
          <p:cNvSpPr/>
          <p:nvPr/>
        </p:nvSpPr>
        <p:spPr>
          <a:xfrm>
            <a:off x="960120" y="48006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5" name="Shape 102"/>
          <p:cNvSpPr/>
          <p:nvPr/>
        </p:nvSpPr>
        <p:spPr>
          <a:xfrm>
            <a:off x="1261872" y="4800600"/>
            <a:ext cx="283464" cy="210312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6" name="Shape 103"/>
          <p:cNvSpPr/>
          <p:nvPr/>
        </p:nvSpPr>
        <p:spPr>
          <a:xfrm>
            <a:off x="1563624" y="48006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7" name="Shape 104"/>
          <p:cNvSpPr/>
          <p:nvPr/>
        </p:nvSpPr>
        <p:spPr>
          <a:xfrm>
            <a:off x="1865376" y="48006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8" name="Shape 105"/>
          <p:cNvSpPr/>
          <p:nvPr/>
        </p:nvSpPr>
        <p:spPr>
          <a:xfrm>
            <a:off x="2167128" y="48006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9" name="Shape 106"/>
          <p:cNvSpPr/>
          <p:nvPr/>
        </p:nvSpPr>
        <p:spPr>
          <a:xfrm>
            <a:off x="2468880" y="48006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0" name="Shape 107"/>
          <p:cNvSpPr/>
          <p:nvPr/>
        </p:nvSpPr>
        <p:spPr>
          <a:xfrm>
            <a:off x="2770632" y="48006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1" name="Shape 108"/>
          <p:cNvSpPr/>
          <p:nvPr/>
        </p:nvSpPr>
        <p:spPr>
          <a:xfrm>
            <a:off x="3072384" y="48006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2" name="Shape 109"/>
          <p:cNvSpPr/>
          <p:nvPr/>
        </p:nvSpPr>
        <p:spPr>
          <a:xfrm>
            <a:off x="3374136" y="4800600"/>
            <a:ext cx="283464" cy="21031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3" name="Shape 110"/>
          <p:cNvSpPr/>
          <p:nvPr/>
        </p:nvSpPr>
        <p:spPr>
          <a:xfrm>
            <a:off x="3675888" y="4800600"/>
            <a:ext cx="283464" cy="210312"/>
          </a:xfrm>
          <a:prstGeom prst="rect">
            <a:avLst/>
          </a:prstGeom>
          <a:solidFill>
            <a:srgbClr val="15365E">
              <a:alpha val="80000"/>
            </a:srgbClr>
          </a:solidFill>
          <a:ln w="12700">
            <a:solidFill>
              <a:srgbClr val="0B1B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4" name="Text 111"/>
          <p:cNvSpPr/>
          <p:nvPr/>
        </p:nvSpPr>
        <p:spPr>
          <a:xfrm rot="16200000">
            <a:off x="256032" y="389534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7D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genes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5" name="Text 112"/>
          <p:cNvSpPr/>
          <p:nvPr/>
        </p:nvSpPr>
        <p:spPr>
          <a:xfrm>
            <a:off x="1874520" y="516636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7C7D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samples</a:t>
            </a:r>
            <a:endParaRPr lang="en-US" sz="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6" name="Shape 113"/>
          <p:cNvSpPr/>
          <p:nvPr/>
        </p:nvSpPr>
        <p:spPr>
          <a:xfrm>
            <a:off x="4754880" y="2788920"/>
            <a:ext cx="1828800" cy="420624"/>
          </a:xfrm>
          <a:prstGeom prst="roundRect">
            <a:avLst>
              <a:gd name="adj" fmla="val 26087"/>
            </a:avLst>
          </a:prstGeom>
          <a:solidFill>
            <a:srgbClr val="0A385F">
              <a:alpha val="9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7" name="Text 114"/>
          <p:cNvSpPr/>
          <p:nvPr/>
        </p:nvSpPr>
        <p:spPr>
          <a:xfrm>
            <a:off x="4919472" y="2898648"/>
            <a:ext cx="14996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Metadata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8" name="Text 115"/>
          <p:cNvSpPr/>
          <p:nvPr/>
        </p:nvSpPr>
        <p:spPr>
          <a:xfrm>
            <a:off x="4846320" y="3364992"/>
            <a:ext cx="26517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sample ID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donor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condition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sample_label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" name="Shape 116"/>
          <p:cNvSpPr/>
          <p:nvPr/>
        </p:nvSpPr>
        <p:spPr>
          <a:xfrm>
            <a:off x="7772400" y="2926080"/>
            <a:ext cx="3063240" cy="1280160"/>
          </a:xfrm>
          <a:prstGeom prst="roundRect">
            <a:avLst>
              <a:gd name="adj" fmla="val 8571"/>
            </a:avLst>
          </a:prstGeom>
          <a:solidFill>
            <a:srgbClr val="071F3E">
              <a:alpha val="9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0" name="Text 117"/>
          <p:cNvSpPr/>
          <p:nvPr/>
        </p:nvSpPr>
        <p:spPr>
          <a:xfrm>
            <a:off x="7936992" y="3035808"/>
            <a:ext cx="2734056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今日扱う2つの入力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① count matrix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② metadata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1" name="Text 118"/>
          <p:cNvSpPr/>
          <p:nvPr/>
        </p:nvSpPr>
        <p:spPr>
          <a:xfrm>
            <a:off x="7178040" y="21945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ここから先が、午後の解析対象</a:t>
            </a:r>
            <a:endParaRPr lang="en-US" sz="1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2" name="Text 119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FC3D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 午後  |  5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午後の解析フロー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01952" y="73152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7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Notebookでこの順番に進めます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0561320" y="320040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0B3A69">
              <a:alpha val="8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652760" y="38404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05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908792" y="384048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Flow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85800" y="1828800"/>
            <a:ext cx="960120" cy="530352"/>
          </a:xfrm>
          <a:prstGeom prst="roundRect">
            <a:avLst>
              <a:gd name="adj" fmla="val 13793"/>
            </a:avLst>
          </a:prstGeom>
          <a:solidFill>
            <a:srgbClr val="60A5FA">
              <a:alpha val="12000"/>
            </a:srgbClr>
          </a:solidFill>
          <a:ln w="15240">
            <a:solidFill>
              <a:srgbClr val="60A5FA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77240" y="188366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count matrix</a:t>
            </a:r>
            <a:endParaRPr lang="en-US" sz="104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719072" y="2093976"/>
            <a:ext cx="2743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103120" y="1828800"/>
            <a:ext cx="960120" cy="530352"/>
          </a:xfrm>
          <a:prstGeom prst="roundRect">
            <a:avLst>
              <a:gd name="adj" fmla="val 13793"/>
            </a:avLst>
          </a:prstGeom>
          <a:solidFill>
            <a:srgbClr val="60A5FA">
              <a:alpha val="12000"/>
            </a:srgbClr>
          </a:solidFill>
          <a:ln w="15240">
            <a:solidFill>
              <a:srgbClr val="60A5FA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194560" y="188366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filter</a:t>
            </a:r>
            <a:endParaRPr lang="en-US" sz="104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136392" y="2093976"/>
            <a:ext cx="1828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429000" y="1828800"/>
            <a:ext cx="960120" cy="530352"/>
          </a:xfrm>
          <a:prstGeom prst="roundRect">
            <a:avLst>
              <a:gd name="adj" fmla="val 13793"/>
            </a:avLst>
          </a:prstGeom>
          <a:solidFill>
            <a:srgbClr val="22D3EE">
              <a:alpha val="12000"/>
            </a:srgbClr>
          </a:solidFill>
          <a:ln w="15240">
            <a:solidFill>
              <a:srgbClr val="22D3EE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520440" y="188366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CPM + log</a:t>
            </a:r>
            <a:endParaRPr lang="en-US" sz="104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462272" y="2093976"/>
            <a:ext cx="25603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828032" y="1828800"/>
            <a:ext cx="960120" cy="530352"/>
          </a:xfrm>
          <a:prstGeom prst="roundRect">
            <a:avLst>
              <a:gd name="adj" fmla="val 13793"/>
            </a:avLst>
          </a:prstGeom>
          <a:solidFill>
            <a:srgbClr val="22D3EE">
              <a:alpha val="12000"/>
            </a:srgbClr>
          </a:solidFill>
          <a:ln w="15240">
            <a:solidFill>
              <a:srgbClr val="22D3EE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919472" y="188366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PCA</a:t>
            </a:r>
            <a:endParaRPr lang="en-US" sz="104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861304" y="2093976"/>
            <a:ext cx="3657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007608" y="1828800"/>
            <a:ext cx="960120" cy="530352"/>
          </a:xfrm>
          <a:prstGeom prst="roundRect">
            <a:avLst>
              <a:gd name="adj" fmla="val 13793"/>
            </a:avLst>
          </a:prstGeom>
          <a:solidFill>
            <a:srgbClr val="A78BFA">
              <a:alpha val="12000"/>
            </a:srgbClr>
          </a:solidFill>
          <a:ln w="15240">
            <a:solidFill>
              <a:srgbClr val="A78BFA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099048" y="188366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DEG</a:t>
            </a:r>
            <a:endParaRPr lang="en-US" sz="104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040880" y="2093976"/>
            <a:ext cx="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114032" y="1828800"/>
            <a:ext cx="960120" cy="530352"/>
          </a:xfrm>
          <a:prstGeom prst="roundRect">
            <a:avLst>
              <a:gd name="adj" fmla="val 13793"/>
            </a:avLst>
          </a:prstGeom>
          <a:solidFill>
            <a:srgbClr val="A78BFA">
              <a:alpha val="12000"/>
            </a:srgbClr>
          </a:solidFill>
          <a:ln w="15240">
            <a:solidFill>
              <a:srgbClr val="A78BFA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205472" y="188366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Volcano</a:t>
            </a:r>
            <a:endParaRPr lang="en-US" sz="104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147304" y="2093976"/>
            <a:ext cx="8229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8339328" y="1828800"/>
            <a:ext cx="960120" cy="530352"/>
          </a:xfrm>
          <a:prstGeom prst="roundRect">
            <a:avLst>
              <a:gd name="adj" fmla="val 13793"/>
            </a:avLst>
          </a:prstGeom>
          <a:solidFill>
            <a:srgbClr val="FF7A90">
              <a:alpha val="12000"/>
            </a:srgbClr>
          </a:solidFill>
          <a:ln w="15240">
            <a:solidFill>
              <a:srgbClr val="FF7A90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430768" y="188366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Heatmap</a:t>
            </a:r>
            <a:endParaRPr lang="en-US" sz="104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9372600" y="2093976"/>
            <a:ext cx="237744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9720072" y="1828800"/>
            <a:ext cx="960120" cy="530352"/>
          </a:xfrm>
          <a:prstGeom prst="roundRect">
            <a:avLst>
              <a:gd name="adj" fmla="val 13793"/>
            </a:avLst>
          </a:prstGeom>
          <a:solidFill>
            <a:srgbClr val="8BE28B">
              <a:alpha val="12000"/>
            </a:srgbClr>
          </a:solidFill>
          <a:ln w="15240">
            <a:solidFill>
              <a:srgbClr val="8BE28B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9811512" y="188366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Candidate</a:t>
            </a:r>
            <a:endParaRPr lang="en-US" sz="104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960120" y="3154680"/>
            <a:ext cx="1965960" cy="502920"/>
          </a:xfrm>
          <a:prstGeom prst="roundRect">
            <a:avLst>
              <a:gd name="adj" fmla="val 21818"/>
            </a:avLst>
          </a:prstGeom>
          <a:solidFill>
            <a:srgbClr val="0A385F">
              <a:alpha val="9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124712" y="3264408"/>
            <a:ext cx="16367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午前の復習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051560" y="3803904"/>
            <a:ext cx="30175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表データの読み込み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PCA・Volcano・Heatmap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しきい値を変える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617720" y="3154680"/>
            <a:ext cx="2331720" cy="502920"/>
          </a:xfrm>
          <a:prstGeom prst="roundRect">
            <a:avLst>
              <a:gd name="adj" fmla="val 21818"/>
            </a:avLst>
          </a:prstGeom>
          <a:solidFill>
            <a:srgbClr val="0A385F">
              <a:alpha val="9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782312" y="3264408"/>
            <a:ext cx="20025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午後で増えること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709160" y="3803904"/>
            <a:ext cx="32004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paired designの確認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自分で候補を選ぶ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論文と答え合わせ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8321040" y="315468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0A385F">
              <a:alpha val="9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8485632" y="3264408"/>
            <a:ext cx="16824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最後の一歩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8412480" y="3803904"/>
            <a:ext cx="2834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次のwet実験を考える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ミニ研究レポート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FC3D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 午後  |  6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今日読む3つの図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01952" y="73152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7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図の意味を理解すると、候補遺伝子の選び方が見えてくる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0561320" y="320040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0B3A69">
              <a:alpha val="8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652760" y="38404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06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908792" y="384048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Figures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" y="1298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PCA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49808" y="1691640"/>
            <a:ext cx="2971800" cy="1965960"/>
          </a:xfrm>
          <a:prstGeom prst="roundRect">
            <a:avLst>
              <a:gd name="adj" fmla="val 2326"/>
            </a:avLst>
          </a:prstGeom>
          <a:solidFill>
            <a:srgbClr val="05142A">
              <a:alpha val="8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188720" y="2194560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691640" y="2304288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194560" y="2194560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697480" y="2304288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554480" y="2880360"/>
            <a:ext cx="118872" cy="11887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057400" y="2990088"/>
            <a:ext cx="118872" cy="11887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560320" y="2880360"/>
            <a:ext cx="118872" cy="11887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063240" y="2990088"/>
            <a:ext cx="118872" cy="118872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60120" y="3822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sample全体の関係を見る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99432" y="1298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Volcano plot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370832" y="1691640"/>
            <a:ext cx="2971800" cy="1965960"/>
          </a:xfrm>
          <a:prstGeom prst="roundRect">
            <a:avLst>
              <a:gd name="adj" fmla="val 2326"/>
            </a:avLst>
          </a:prstGeom>
          <a:solidFill>
            <a:srgbClr val="05142A">
              <a:alpha val="8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617720" y="3154680"/>
            <a:ext cx="32004" cy="32004"/>
          </a:xfrm>
          <a:prstGeom prst="ellipse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773168" y="2880360"/>
            <a:ext cx="32004" cy="32004"/>
          </a:xfrm>
          <a:prstGeom prst="ellipse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928616" y="2697480"/>
            <a:ext cx="32004" cy="32004"/>
          </a:xfrm>
          <a:prstGeom prst="ellipse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084064" y="2487168"/>
            <a:ext cx="32004" cy="32004"/>
          </a:xfrm>
          <a:prstGeom prst="ellipse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239512" y="2304288"/>
            <a:ext cx="32004" cy="32004"/>
          </a:xfrm>
          <a:prstGeom prst="ellipse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394960" y="3090672"/>
            <a:ext cx="32004" cy="32004"/>
          </a:xfrm>
          <a:prstGeom prst="ellipse">
            <a:avLst/>
          </a:prstGeom>
          <a:solidFill>
            <a:srgbClr val="6B789A">
              <a:alpha val="80000"/>
            </a:srgbClr>
          </a:solidFill>
          <a:ln w="12700">
            <a:solidFill>
              <a:srgbClr val="6B78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550408" y="2907792"/>
            <a:ext cx="32004" cy="32004"/>
          </a:xfrm>
          <a:prstGeom prst="ellipse">
            <a:avLst/>
          </a:prstGeom>
          <a:solidFill>
            <a:srgbClr val="6B789A">
              <a:alpha val="80000"/>
            </a:srgbClr>
          </a:solidFill>
          <a:ln w="12700">
            <a:solidFill>
              <a:srgbClr val="6B78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705856" y="2743200"/>
            <a:ext cx="32004" cy="32004"/>
          </a:xfrm>
          <a:prstGeom prst="ellipse">
            <a:avLst/>
          </a:prstGeom>
          <a:solidFill>
            <a:srgbClr val="6B789A">
              <a:alpha val="80000"/>
            </a:srgbClr>
          </a:solidFill>
          <a:ln w="12700">
            <a:solidFill>
              <a:srgbClr val="6B78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861304" y="2670048"/>
            <a:ext cx="32004" cy="32004"/>
          </a:xfrm>
          <a:prstGeom prst="ellipse">
            <a:avLst/>
          </a:prstGeom>
          <a:solidFill>
            <a:srgbClr val="6B789A">
              <a:alpha val="80000"/>
            </a:srgbClr>
          </a:solidFill>
          <a:ln w="12700">
            <a:solidFill>
              <a:srgbClr val="6B78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016752" y="2761488"/>
            <a:ext cx="32004" cy="32004"/>
          </a:xfrm>
          <a:prstGeom prst="ellipse">
            <a:avLst/>
          </a:prstGeom>
          <a:solidFill>
            <a:srgbClr val="6B789A">
              <a:alpha val="80000"/>
            </a:srgbClr>
          </a:solidFill>
          <a:ln w="12700">
            <a:solidFill>
              <a:srgbClr val="6B78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172200" y="2926080"/>
            <a:ext cx="32004" cy="32004"/>
          </a:xfrm>
          <a:prstGeom prst="ellipse">
            <a:avLst/>
          </a:prstGeom>
          <a:solidFill>
            <a:srgbClr val="6B789A">
              <a:alpha val="80000"/>
            </a:srgbClr>
          </a:solidFill>
          <a:ln w="12700">
            <a:solidFill>
              <a:srgbClr val="6B78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6327648" y="3108960"/>
            <a:ext cx="32004" cy="32004"/>
          </a:xfrm>
          <a:prstGeom prst="ellipse">
            <a:avLst/>
          </a:prstGeom>
          <a:solidFill>
            <a:srgbClr val="FF7A90">
              <a:alpha val="80000"/>
            </a:srgbClr>
          </a:solidFill>
          <a:ln w="12700">
            <a:solidFill>
              <a:srgbClr val="FF7A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483096" y="2487168"/>
            <a:ext cx="32004" cy="32004"/>
          </a:xfrm>
          <a:prstGeom prst="ellipse">
            <a:avLst/>
          </a:prstGeom>
          <a:solidFill>
            <a:srgbClr val="FF7A90">
              <a:alpha val="80000"/>
            </a:srgbClr>
          </a:solidFill>
          <a:ln w="12700">
            <a:solidFill>
              <a:srgbClr val="FF7A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638544" y="2286000"/>
            <a:ext cx="32004" cy="32004"/>
          </a:xfrm>
          <a:prstGeom prst="ellipse">
            <a:avLst/>
          </a:prstGeom>
          <a:solidFill>
            <a:srgbClr val="FF7A90">
              <a:alpha val="80000"/>
            </a:srgbClr>
          </a:solidFill>
          <a:ln w="12700">
            <a:solidFill>
              <a:srgbClr val="FF7A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793992" y="2084832"/>
            <a:ext cx="32004" cy="32004"/>
          </a:xfrm>
          <a:prstGeom prst="ellipse">
            <a:avLst/>
          </a:prstGeom>
          <a:solidFill>
            <a:srgbClr val="FF7A90">
              <a:alpha val="80000"/>
            </a:srgbClr>
          </a:solidFill>
          <a:ln w="12700">
            <a:solidFill>
              <a:srgbClr val="FF7A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4736592" y="3383280"/>
            <a:ext cx="32004" cy="32004"/>
          </a:xfrm>
          <a:prstGeom prst="ellipse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193792" y="3337560"/>
            <a:ext cx="32004" cy="32004"/>
          </a:xfrm>
          <a:prstGeom prst="ellipse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5650992" y="3273552"/>
            <a:ext cx="32004" cy="32004"/>
          </a:xfrm>
          <a:prstGeom prst="ellipse">
            <a:avLst/>
          </a:prstGeom>
          <a:solidFill>
            <a:srgbClr val="6B789A">
              <a:alpha val="80000"/>
            </a:srgbClr>
          </a:solidFill>
          <a:ln w="12700">
            <a:solidFill>
              <a:srgbClr val="6B78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6108192" y="3310128"/>
            <a:ext cx="32004" cy="32004"/>
          </a:xfrm>
          <a:prstGeom prst="ellipse">
            <a:avLst/>
          </a:prstGeom>
          <a:solidFill>
            <a:srgbClr val="6B789A">
              <a:alpha val="80000"/>
            </a:srgbClr>
          </a:solidFill>
          <a:ln w="12700">
            <a:solidFill>
              <a:srgbClr val="6B78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6565392" y="3410712"/>
            <a:ext cx="32004" cy="32004"/>
          </a:xfrm>
          <a:prstGeom prst="ellipse">
            <a:avLst/>
          </a:prstGeom>
          <a:solidFill>
            <a:srgbClr val="FF7A90">
              <a:alpha val="80000"/>
            </a:srgbClr>
          </a:solidFill>
          <a:ln w="12700">
            <a:solidFill>
              <a:srgbClr val="FF7A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4882896" y="2148840"/>
            <a:ext cx="32004" cy="32004"/>
          </a:xfrm>
          <a:prstGeom prst="ellipse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720840" y="1901952"/>
            <a:ext cx="32004" cy="32004"/>
          </a:xfrm>
          <a:prstGeom prst="ellipse">
            <a:avLst/>
          </a:prstGeom>
          <a:solidFill>
            <a:srgbClr val="FF7A90">
              <a:alpha val="80000"/>
            </a:srgbClr>
          </a:solidFill>
          <a:ln w="12700">
            <a:solidFill>
              <a:srgbClr val="FF7A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5870448" y="2057400"/>
            <a:ext cx="32004" cy="32004"/>
          </a:xfrm>
          <a:prstGeom prst="ellipse">
            <a:avLst/>
          </a:prstGeom>
          <a:solidFill>
            <a:srgbClr val="6B789A">
              <a:alpha val="80000"/>
            </a:srgbClr>
          </a:solidFill>
          <a:ln w="12700">
            <a:solidFill>
              <a:srgbClr val="6B78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5321808" y="2615184"/>
            <a:ext cx="32004" cy="32004"/>
          </a:xfrm>
          <a:prstGeom prst="ellipse">
            <a:avLst/>
          </a:prstGeom>
          <a:solidFill>
            <a:srgbClr val="6B789A">
              <a:alpha val="80000"/>
            </a:srgbClr>
          </a:solidFill>
          <a:ln w="12700">
            <a:solidFill>
              <a:srgbClr val="6B78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6382512" y="2642616"/>
            <a:ext cx="32004" cy="32004"/>
          </a:xfrm>
          <a:prstGeom prst="ellipse">
            <a:avLst/>
          </a:prstGeom>
          <a:solidFill>
            <a:srgbClr val="FF7A90">
              <a:alpha val="80000"/>
            </a:srgbClr>
          </a:solidFill>
          <a:ln w="12700">
            <a:solidFill>
              <a:srgbClr val="FF7A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4526280" y="38221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変化量 × 有意性を見る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8412480" y="1298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Heatmap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8010144" y="1691640"/>
            <a:ext cx="2971800" cy="1965960"/>
          </a:xfrm>
          <a:prstGeom prst="roundRect">
            <a:avLst>
              <a:gd name="adj" fmla="val 2326"/>
            </a:avLst>
          </a:prstGeom>
          <a:solidFill>
            <a:srgbClr val="05142A">
              <a:alpha val="8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8247888" y="1901952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8458200" y="1901952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8668512" y="1901952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8878824" y="1901952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9089136" y="1901952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9299448" y="1901952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9509760" y="1901952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9720072" y="1901952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8247888" y="2029968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8458200" y="2029968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8668512" y="2029968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8878824" y="2029968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9089136" y="2029968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9299448" y="2029968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9509760" y="2029968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9720072" y="2029968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8247888" y="2157984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8458200" y="2157984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8668512" y="2157984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8878824" y="2157984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9089136" y="2157984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Shape 68"/>
          <p:cNvSpPr/>
          <p:nvPr/>
        </p:nvSpPr>
        <p:spPr>
          <a:xfrm>
            <a:off x="9299448" y="2157984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9509760" y="2157984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Shape 70"/>
          <p:cNvSpPr/>
          <p:nvPr/>
        </p:nvSpPr>
        <p:spPr>
          <a:xfrm>
            <a:off x="9720072" y="2157984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Shape 71"/>
          <p:cNvSpPr/>
          <p:nvPr/>
        </p:nvSpPr>
        <p:spPr>
          <a:xfrm>
            <a:off x="8247888" y="2286000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5" name="Shape 72"/>
          <p:cNvSpPr/>
          <p:nvPr/>
        </p:nvSpPr>
        <p:spPr>
          <a:xfrm>
            <a:off x="8458200" y="2286000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8668512" y="2286000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7" name="Shape 74"/>
          <p:cNvSpPr/>
          <p:nvPr/>
        </p:nvSpPr>
        <p:spPr>
          <a:xfrm>
            <a:off x="8878824" y="2286000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8" name="Shape 75"/>
          <p:cNvSpPr/>
          <p:nvPr/>
        </p:nvSpPr>
        <p:spPr>
          <a:xfrm>
            <a:off x="9089136" y="2286000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Shape 76"/>
          <p:cNvSpPr/>
          <p:nvPr/>
        </p:nvSpPr>
        <p:spPr>
          <a:xfrm>
            <a:off x="9299448" y="2286000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Shape 77"/>
          <p:cNvSpPr/>
          <p:nvPr/>
        </p:nvSpPr>
        <p:spPr>
          <a:xfrm>
            <a:off x="9509760" y="2286000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1" name="Shape 78"/>
          <p:cNvSpPr/>
          <p:nvPr/>
        </p:nvSpPr>
        <p:spPr>
          <a:xfrm>
            <a:off x="9720072" y="2286000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Shape 79"/>
          <p:cNvSpPr/>
          <p:nvPr/>
        </p:nvSpPr>
        <p:spPr>
          <a:xfrm>
            <a:off x="8247888" y="2414016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3" name="Shape 80"/>
          <p:cNvSpPr/>
          <p:nvPr/>
        </p:nvSpPr>
        <p:spPr>
          <a:xfrm>
            <a:off x="8458200" y="2414016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4" name="Shape 81"/>
          <p:cNvSpPr/>
          <p:nvPr/>
        </p:nvSpPr>
        <p:spPr>
          <a:xfrm>
            <a:off x="8668512" y="2414016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5" name="Shape 82"/>
          <p:cNvSpPr/>
          <p:nvPr/>
        </p:nvSpPr>
        <p:spPr>
          <a:xfrm>
            <a:off x="8878824" y="2414016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6" name="Shape 83"/>
          <p:cNvSpPr/>
          <p:nvPr/>
        </p:nvSpPr>
        <p:spPr>
          <a:xfrm>
            <a:off x="9089136" y="2414016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7" name="Shape 84"/>
          <p:cNvSpPr/>
          <p:nvPr/>
        </p:nvSpPr>
        <p:spPr>
          <a:xfrm>
            <a:off x="9299448" y="2414016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8" name="Shape 85"/>
          <p:cNvSpPr/>
          <p:nvPr/>
        </p:nvSpPr>
        <p:spPr>
          <a:xfrm>
            <a:off x="9509760" y="2414016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9" name="Shape 86"/>
          <p:cNvSpPr/>
          <p:nvPr/>
        </p:nvSpPr>
        <p:spPr>
          <a:xfrm>
            <a:off x="9720072" y="2414016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0" name="Shape 87"/>
          <p:cNvSpPr/>
          <p:nvPr/>
        </p:nvSpPr>
        <p:spPr>
          <a:xfrm>
            <a:off x="8247888" y="2542032"/>
            <a:ext cx="201168" cy="118872"/>
          </a:xfrm>
          <a:prstGeom prst="rect">
            <a:avLst/>
          </a:prstGeom>
          <a:solidFill>
            <a:srgbClr val="D9DCEB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1" name="Shape 88"/>
          <p:cNvSpPr/>
          <p:nvPr/>
        </p:nvSpPr>
        <p:spPr>
          <a:xfrm>
            <a:off x="8458200" y="2542032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2" name="Shape 89"/>
          <p:cNvSpPr/>
          <p:nvPr/>
        </p:nvSpPr>
        <p:spPr>
          <a:xfrm>
            <a:off x="8668512" y="2542032"/>
            <a:ext cx="201168" cy="118872"/>
          </a:xfrm>
          <a:prstGeom prst="rect">
            <a:avLst/>
          </a:prstGeom>
          <a:solidFill>
            <a:srgbClr val="D9DCEB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3" name="Shape 90"/>
          <p:cNvSpPr/>
          <p:nvPr/>
        </p:nvSpPr>
        <p:spPr>
          <a:xfrm>
            <a:off x="8878824" y="2542032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4" name="Shape 91"/>
          <p:cNvSpPr/>
          <p:nvPr/>
        </p:nvSpPr>
        <p:spPr>
          <a:xfrm>
            <a:off x="9089136" y="2542032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5" name="Shape 92"/>
          <p:cNvSpPr/>
          <p:nvPr/>
        </p:nvSpPr>
        <p:spPr>
          <a:xfrm>
            <a:off x="9299448" y="2542032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6" name="Shape 93"/>
          <p:cNvSpPr/>
          <p:nvPr/>
        </p:nvSpPr>
        <p:spPr>
          <a:xfrm>
            <a:off x="9509760" y="2542032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7" name="Shape 94"/>
          <p:cNvSpPr/>
          <p:nvPr/>
        </p:nvSpPr>
        <p:spPr>
          <a:xfrm>
            <a:off x="9720072" y="2542032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8" name="Shape 95"/>
          <p:cNvSpPr/>
          <p:nvPr/>
        </p:nvSpPr>
        <p:spPr>
          <a:xfrm>
            <a:off x="8247888" y="2670048"/>
            <a:ext cx="201168" cy="118872"/>
          </a:xfrm>
          <a:prstGeom prst="rect">
            <a:avLst/>
          </a:prstGeom>
          <a:solidFill>
            <a:srgbClr val="D9DCEB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9" name="Shape 96"/>
          <p:cNvSpPr/>
          <p:nvPr/>
        </p:nvSpPr>
        <p:spPr>
          <a:xfrm>
            <a:off x="8458200" y="2670048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0" name="Shape 97"/>
          <p:cNvSpPr/>
          <p:nvPr/>
        </p:nvSpPr>
        <p:spPr>
          <a:xfrm>
            <a:off x="8668512" y="2670048"/>
            <a:ext cx="201168" cy="118872"/>
          </a:xfrm>
          <a:prstGeom prst="rect">
            <a:avLst/>
          </a:prstGeom>
          <a:solidFill>
            <a:srgbClr val="D9DCEB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1" name="Shape 98"/>
          <p:cNvSpPr/>
          <p:nvPr/>
        </p:nvSpPr>
        <p:spPr>
          <a:xfrm>
            <a:off x="8878824" y="2670048"/>
            <a:ext cx="201168" cy="118872"/>
          </a:xfrm>
          <a:prstGeom prst="rect">
            <a:avLst/>
          </a:prstGeom>
          <a:solidFill>
            <a:srgbClr val="D9DCEB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2" name="Shape 99"/>
          <p:cNvSpPr/>
          <p:nvPr/>
        </p:nvSpPr>
        <p:spPr>
          <a:xfrm>
            <a:off x="9089136" y="2670048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3" name="Shape 100"/>
          <p:cNvSpPr/>
          <p:nvPr/>
        </p:nvSpPr>
        <p:spPr>
          <a:xfrm>
            <a:off x="9299448" y="2670048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4" name="Shape 101"/>
          <p:cNvSpPr/>
          <p:nvPr/>
        </p:nvSpPr>
        <p:spPr>
          <a:xfrm>
            <a:off x="9509760" y="2670048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5" name="Shape 102"/>
          <p:cNvSpPr/>
          <p:nvPr/>
        </p:nvSpPr>
        <p:spPr>
          <a:xfrm>
            <a:off x="9720072" y="2670048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6" name="Shape 103"/>
          <p:cNvSpPr/>
          <p:nvPr/>
        </p:nvSpPr>
        <p:spPr>
          <a:xfrm>
            <a:off x="8247888" y="2798064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7" name="Shape 104"/>
          <p:cNvSpPr/>
          <p:nvPr/>
        </p:nvSpPr>
        <p:spPr>
          <a:xfrm>
            <a:off x="8458200" y="2798064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8" name="Shape 105"/>
          <p:cNvSpPr/>
          <p:nvPr/>
        </p:nvSpPr>
        <p:spPr>
          <a:xfrm>
            <a:off x="8668512" y="2798064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9" name="Shape 106"/>
          <p:cNvSpPr/>
          <p:nvPr/>
        </p:nvSpPr>
        <p:spPr>
          <a:xfrm>
            <a:off x="8878824" y="2798064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0" name="Shape 107"/>
          <p:cNvSpPr/>
          <p:nvPr/>
        </p:nvSpPr>
        <p:spPr>
          <a:xfrm>
            <a:off x="9089136" y="2798064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1" name="Shape 108"/>
          <p:cNvSpPr/>
          <p:nvPr/>
        </p:nvSpPr>
        <p:spPr>
          <a:xfrm>
            <a:off x="9299448" y="2798064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2" name="Shape 109"/>
          <p:cNvSpPr/>
          <p:nvPr/>
        </p:nvSpPr>
        <p:spPr>
          <a:xfrm>
            <a:off x="9509760" y="2798064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3" name="Shape 110"/>
          <p:cNvSpPr/>
          <p:nvPr/>
        </p:nvSpPr>
        <p:spPr>
          <a:xfrm>
            <a:off x="9720072" y="2798064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4" name="Shape 111"/>
          <p:cNvSpPr/>
          <p:nvPr/>
        </p:nvSpPr>
        <p:spPr>
          <a:xfrm>
            <a:off x="8247888" y="2926080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5" name="Shape 112"/>
          <p:cNvSpPr/>
          <p:nvPr/>
        </p:nvSpPr>
        <p:spPr>
          <a:xfrm>
            <a:off x="8458200" y="2926080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6" name="Shape 113"/>
          <p:cNvSpPr/>
          <p:nvPr/>
        </p:nvSpPr>
        <p:spPr>
          <a:xfrm>
            <a:off x="8668512" y="2926080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7" name="Shape 114"/>
          <p:cNvSpPr/>
          <p:nvPr/>
        </p:nvSpPr>
        <p:spPr>
          <a:xfrm>
            <a:off x="8878824" y="2926080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8" name="Shape 115"/>
          <p:cNvSpPr/>
          <p:nvPr/>
        </p:nvSpPr>
        <p:spPr>
          <a:xfrm>
            <a:off x="9089136" y="2926080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" name="Shape 116"/>
          <p:cNvSpPr/>
          <p:nvPr/>
        </p:nvSpPr>
        <p:spPr>
          <a:xfrm>
            <a:off x="9299448" y="2926080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0" name="Shape 117"/>
          <p:cNvSpPr/>
          <p:nvPr/>
        </p:nvSpPr>
        <p:spPr>
          <a:xfrm>
            <a:off x="9509760" y="2926080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1" name="Shape 118"/>
          <p:cNvSpPr/>
          <p:nvPr/>
        </p:nvSpPr>
        <p:spPr>
          <a:xfrm>
            <a:off x="9720072" y="2926080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2" name="Shape 119"/>
          <p:cNvSpPr/>
          <p:nvPr/>
        </p:nvSpPr>
        <p:spPr>
          <a:xfrm>
            <a:off x="8247888" y="3054096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3" name="Shape 120"/>
          <p:cNvSpPr/>
          <p:nvPr/>
        </p:nvSpPr>
        <p:spPr>
          <a:xfrm>
            <a:off x="8458200" y="3054096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4" name="Shape 121"/>
          <p:cNvSpPr/>
          <p:nvPr/>
        </p:nvSpPr>
        <p:spPr>
          <a:xfrm>
            <a:off x="8668512" y="3054096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5" name="Shape 122"/>
          <p:cNvSpPr/>
          <p:nvPr/>
        </p:nvSpPr>
        <p:spPr>
          <a:xfrm>
            <a:off x="8878824" y="3054096"/>
            <a:ext cx="201168" cy="118872"/>
          </a:xfrm>
          <a:prstGeom prst="rect">
            <a:avLst/>
          </a:prstGeom>
          <a:solidFill>
            <a:srgbClr val="60A5FA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6" name="Shape 123"/>
          <p:cNvSpPr/>
          <p:nvPr/>
        </p:nvSpPr>
        <p:spPr>
          <a:xfrm>
            <a:off x="9089136" y="3054096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7" name="Shape 124"/>
          <p:cNvSpPr/>
          <p:nvPr/>
        </p:nvSpPr>
        <p:spPr>
          <a:xfrm>
            <a:off x="9299448" y="3054096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8" name="Shape 125"/>
          <p:cNvSpPr/>
          <p:nvPr/>
        </p:nvSpPr>
        <p:spPr>
          <a:xfrm>
            <a:off x="9509760" y="3054096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9" name="Shape 126"/>
          <p:cNvSpPr/>
          <p:nvPr/>
        </p:nvSpPr>
        <p:spPr>
          <a:xfrm>
            <a:off x="9720072" y="3054096"/>
            <a:ext cx="201168" cy="118872"/>
          </a:xfrm>
          <a:prstGeom prst="rect">
            <a:avLst/>
          </a:prstGeom>
          <a:solidFill>
            <a:srgbClr val="FF7A9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0" name="Shape 127"/>
          <p:cNvSpPr/>
          <p:nvPr/>
        </p:nvSpPr>
        <p:spPr>
          <a:xfrm>
            <a:off x="9089136" y="1901952"/>
            <a:ext cx="0" cy="128016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1" name="Text 128"/>
          <p:cNvSpPr/>
          <p:nvPr/>
        </p:nvSpPr>
        <p:spPr>
          <a:xfrm>
            <a:off x="8211312" y="38221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Dex / Untreatedを比べる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2" name="Shape 129"/>
          <p:cNvSpPr/>
          <p:nvPr/>
        </p:nvSpPr>
        <p:spPr>
          <a:xfrm>
            <a:off x="1143000" y="4919472"/>
            <a:ext cx="9692640" cy="658368"/>
          </a:xfrm>
          <a:prstGeom prst="roundRect">
            <a:avLst>
              <a:gd name="adj" fmla="val 16667"/>
            </a:avLst>
          </a:prstGeom>
          <a:solidFill>
            <a:srgbClr val="062B54">
              <a:alpha val="9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3" name="Text 130"/>
          <p:cNvSpPr/>
          <p:nvPr/>
        </p:nvSpPr>
        <p:spPr>
          <a:xfrm>
            <a:off x="1307592" y="5029200"/>
            <a:ext cx="93634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図は「きれいに作る」ためではなく、判断するために作る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4" name="Text 131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FC3D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 午後  |  7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候補遺伝子はどう選ぶ？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01952" y="73152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7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p値の順位だけでは決めない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0561320" y="320040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0B3A69">
              <a:alpha val="8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652760" y="38404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07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908792" y="384048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Choice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1248" y="12344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統計 × 一貫性 × 生物学 × 実験可能性</a:t>
            </a:r>
            <a:endParaRPr lang="en-US" sz="2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828800" y="2743200"/>
            <a:ext cx="1600200" cy="1600200"/>
          </a:xfrm>
          <a:prstGeom prst="ellipse">
            <a:avLst/>
          </a:prstGeom>
          <a:solidFill>
            <a:srgbClr val="22D3EE">
              <a:alpha val="30000"/>
            </a:srgbClr>
          </a:solidFill>
          <a:ln w="17780">
            <a:solidFill>
              <a:srgbClr val="22D3E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38528" y="3246120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Statistical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signal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749040" y="2743200"/>
            <a:ext cx="1600200" cy="1600200"/>
          </a:xfrm>
          <a:prstGeom prst="ellipse">
            <a:avLst/>
          </a:prstGeom>
          <a:solidFill>
            <a:srgbClr val="8BE28B">
              <a:alpha val="30000"/>
            </a:srgbClr>
          </a:solidFill>
          <a:ln w="17780">
            <a:solidFill>
              <a:srgbClr val="8BE28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858768" y="3246120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Consistency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across donors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669280" y="2743200"/>
            <a:ext cx="1600200" cy="1600200"/>
          </a:xfrm>
          <a:prstGeom prst="ellipse">
            <a:avLst/>
          </a:prstGeom>
          <a:solidFill>
            <a:srgbClr val="A78BFA">
              <a:alpha val="30000"/>
            </a:srgbClr>
          </a:solidFill>
          <a:ln w="17780">
            <a:solidFill>
              <a:srgbClr val="A78B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79008" y="3246120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Biological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meaning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589520" y="2743200"/>
            <a:ext cx="1600200" cy="1600200"/>
          </a:xfrm>
          <a:prstGeom prst="ellipse">
            <a:avLst/>
          </a:prstGeom>
          <a:solidFill>
            <a:srgbClr val="FF7A90">
              <a:alpha val="30000"/>
            </a:srgbClr>
          </a:solidFill>
          <a:ln w="17780">
            <a:solidFill>
              <a:srgbClr val="FF7A9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699248" y="3246120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Wet experiment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feasibility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14400" y="4983480"/>
            <a:ext cx="4114800" cy="621792"/>
          </a:xfrm>
          <a:prstGeom prst="roundRect">
            <a:avLst>
              <a:gd name="adj" fmla="val 17647"/>
            </a:avLst>
          </a:prstGeom>
          <a:solidFill>
            <a:srgbClr val="071F3E">
              <a:alpha val="9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78992" y="5093208"/>
            <a:ext cx="378561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候補リストではDexで上昇した遺伝子に注目</a:t>
            </a:r>
            <a:endParaRPr lang="en-US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715000" y="4818888"/>
            <a:ext cx="41148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log2FC &gt; 2.0</a:t>
            </a:r>
            <a:endParaRPr lang="en-US" sz="134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34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adjusted p-value &lt; 0.05</a:t>
            </a:r>
            <a:endParaRPr lang="en-US" sz="134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34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Dex-induced candidates 上位50</a:t>
            </a:r>
            <a:endParaRPr lang="en-US" sz="134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14400" y="592531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最終的には「次に何を実験で確かめるか」が大事</a:t>
            </a:r>
            <a:endParaRPr lang="en-US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FC3D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 午後  |  8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答え合わせ：CRISPLD2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01952" y="73152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7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論文が注目した遺伝子は、候補リストの37位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0561320" y="320040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0B3A69">
              <a:alpha val="8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652760" y="38404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08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908792" y="384048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Answer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1248" y="140817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CRISPLD2</a:t>
            </a:r>
            <a:endParaRPr lang="en-US" sz="4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59536" y="2084832"/>
            <a:ext cx="2926080" cy="0"/>
          </a:xfrm>
          <a:prstGeom prst="line">
            <a:avLst/>
          </a:prstGeom>
          <a:noFill/>
          <a:ln w="2921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68680" y="2578608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0A385F">
              <a:alpha val="9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33272" y="2688336"/>
            <a:ext cx="2231136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log2FC = 2.52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padj = 0.0467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Dex high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977640" y="2496312"/>
            <a:ext cx="3063240" cy="658368"/>
          </a:xfrm>
          <a:prstGeom prst="roundRect">
            <a:avLst>
              <a:gd name="adj" fmla="val 16667"/>
            </a:avLst>
          </a:prstGeom>
          <a:solidFill>
            <a:srgbClr val="071F3E">
              <a:alpha val="9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142232" y="2606040"/>
            <a:ext cx="2734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37位という順位が面白い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160520" y="3429000"/>
            <a:ext cx="39319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トップ1ではない</a:t>
            </a:r>
            <a:endParaRPr lang="en-US" sz="142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42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p値順だけでは研究は決まらない</a:t>
            </a:r>
            <a:endParaRPr lang="en-US" sz="142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42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著者は機能・仮説・検証可能性も見ている</a:t>
            </a:r>
            <a:endParaRPr lang="en-US" sz="142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549640" y="1554480"/>
            <a:ext cx="2103120" cy="3566160"/>
          </a:xfrm>
          <a:prstGeom prst="roundRect">
            <a:avLst>
              <a:gd name="adj" fmla="val 2609"/>
            </a:avLst>
          </a:prstGeom>
          <a:solidFill>
            <a:srgbClr val="05142A">
              <a:alpha val="90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869680" y="1874520"/>
            <a:ext cx="1508760" cy="256032"/>
          </a:xfrm>
          <a:prstGeom prst="rect">
            <a:avLst/>
          </a:prstGeom>
          <a:solidFill>
            <a:srgbClr val="85A1C8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869680" y="2377440"/>
            <a:ext cx="1508760" cy="256032"/>
          </a:xfrm>
          <a:prstGeom prst="rect">
            <a:avLst/>
          </a:prstGeom>
          <a:solidFill>
            <a:srgbClr val="85A1C8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869680" y="2880360"/>
            <a:ext cx="1508760" cy="256032"/>
          </a:xfrm>
          <a:prstGeom prst="rect">
            <a:avLst/>
          </a:prstGeom>
          <a:solidFill>
            <a:srgbClr val="85A1C8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869680" y="3383280"/>
            <a:ext cx="1508760" cy="256032"/>
          </a:xfrm>
          <a:prstGeom prst="rect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8869680" y="3886200"/>
            <a:ext cx="1508760" cy="256032"/>
          </a:xfrm>
          <a:prstGeom prst="rect">
            <a:avLst/>
          </a:prstGeom>
          <a:solidFill>
            <a:srgbClr val="85A1C8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808208" y="36210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Rank 37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668512" y="4389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候補選びは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「正解探し」ではなく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「仮説づくり」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FC3D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 午後  |  9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最後はwet実験へつなげる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01952" y="73152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7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RNA-seq解析は、次の実験を考えるための入口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0561320" y="320040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0B3A69">
              <a:alpha val="8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652760" y="38404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09</a:t>
            </a:r>
            <a:endParaRPr lang="en-US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908792" y="384048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Output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77240" y="187452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A78BFA">
              <a:alpha val="12000"/>
            </a:srgbClr>
          </a:solidFill>
          <a:ln w="15240">
            <a:solidFill>
              <a:srgbClr val="A78BFA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68680" y="192938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DEG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029968" y="2157984"/>
            <a:ext cx="80467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971800" y="1874520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22D3EE">
              <a:alpha val="12000"/>
            </a:srgbClr>
          </a:solidFill>
          <a:ln w="15240">
            <a:solidFill>
              <a:srgbClr val="22D3EE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063240" y="19293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候補遺伝子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36592" y="2157984"/>
            <a:ext cx="79552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650992" y="187452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8BE28B">
              <a:alpha val="12000"/>
            </a:srgbClr>
          </a:solidFill>
          <a:ln w="15240">
            <a:solidFill>
              <a:srgbClr val="8BE28B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742432" y="19293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仮説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858000" y="2157984"/>
            <a:ext cx="80467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790688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7A90">
              <a:alpha val="12000"/>
            </a:srgbClr>
          </a:solidFill>
          <a:ln w="15240">
            <a:solidFill>
              <a:srgbClr val="FF7A90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882128" y="19293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wet実験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326880" y="2157984"/>
            <a:ext cx="7772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0222992" y="18745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FDE68A">
              <a:alpha val="12000"/>
            </a:srgbClr>
          </a:solidFill>
          <a:ln w="15240">
            <a:solidFill>
              <a:srgbClr val="FDE68A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314432" y="192938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次の発見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868680" y="3246120"/>
            <a:ext cx="2926080" cy="502920"/>
          </a:xfrm>
          <a:prstGeom prst="roundRect">
            <a:avLst>
              <a:gd name="adj" fmla="val 21818"/>
            </a:avLst>
          </a:prstGeom>
          <a:solidFill>
            <a:srgbClr val="0A385F">
              <a:alpha val="9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33272" y="3355848"/>
            <a:ext cx="2596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ミニ研究レポートで書くこと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87552" y="3931920"/>
            <a:ext cx="40233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PCAから何が見えたか</a:t>
            </a:r>
            <a:endParaRPr lang="en-US" sz="133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33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候補遺伝子を3つ選ぶ</a:t>
            </a:r>
            <a:endParaRPr lang="en-US" sz="133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33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CRISPLD2について確認できたこと</a:t>
            </a:r>
            <a:endParaRPr lang="en-US" sz="133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806440" y="324612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0A385F">
              <a:alpha val="9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971032" y="3355848"/>
            <a:ext cx="16824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wet実験の例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925312" y="3931920"/>
            <a:ext cx="42519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qPCR</a:t>
            </a:r>
            <a:endParaRPr lang="en-US" sz="133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33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Western blot / ELISA</a:t>
            </a:r>
            <a:endParaRPr lang="en-US" sz="133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33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knockdown / overexpression</a:t>
            </a:r>
            <a:endParaRPr lang="en-US" sz="133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33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phenotype assay</a:t>
            </a:r>
            <a:endParaRPr lang="en-US" sz="133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68680" y="5815584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午後のゴール：データから「次に調べたいこと」を1つ持ち帰る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FC3D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バイオ技術 Day 1 午後  |  10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808" y="2066544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では、始めましょう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786384" y="27980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bioinformatics_1-4.ipynb</a:t>
            </a:r>
            <a:endParaRPr lang="en-US" sz="2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86384" y="3273552"/>
            <a:ext cx="3017520" cy="0"/>
          </a:xfrm>
          <a:prstGeom prst="line">
            <a:avLst/>
          </a:prstGeom>
          <a:noFill/>
          <a:ln w="2667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868680" y="3886200"/>
            <a:ext cx="53035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まずはデータの構造を確認する</a:t>
            </a:r>
            <a:endParaRPr lang="en-US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4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途中で候補遺伝子を3つ選ぶ</a:t>
            </a:r>
            <a:endParaRPr lang="en-US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450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• 最後にCRISPLD2と答え合わせする</a:t>
            </a:r>
            <a:endParaRPr lang="en-US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" y="57424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F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わからないところは、その場で質問してください</a:t>
            </a:r>
            <a:endParaRPr lang="en-US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546</Words>
  <Application>Microsoft Office PowerPoint</Application>
  <PresentationFormat>ワイド画面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4" baseType="lpstr">
      <vt:lpstr>Meiryo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Tottori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バイオ技術 Day 1 午後 論文再現チャレンジ</dc:title>
  <dc:subject>Bioinformatics Day 1 Afternoon RNA-seq paper reproduction challenge</dc:subject>
  <dc:creator>OpenAI</dc:creator>
  <cp:lastModifiedBy>岩田　浩明</cp:lastModifiedBy>
  <cp:revision>3</cp:revision>
  <dcterms:created xsi:type="dcterms:W3CDTF">2026-07-05T06:08:48Z</dcterms:created>
  <dcterms:modified xsi:type="dcterms:W3CDTF">2026-07-05T07:40:22Z</dcterms:modified>
</cp:coreProperties>
</file>