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1" r:id="rId2"/>
    <p:sldId id="289" r:id="rId3"/>
    <p:sldId id="283" r:id="rId4"/>
    <p:sldId id="287" r:id="rId5"/>
    <p:sldId id="285" r:id="rId6"/>
    <p:sldId id="286" r:id="rId7"/>
    <p:sldId id="288" r:id="rId8"/>
    <p:sldId id="328" r:id="rId9"/>
    <p:sldId id="330" r:id="rId10"/>
    <p:sldId id="274" r:id="rId11"/>
    <p:sldId id="276" r:id="rId12"/>
    <p:sldId id="302" r:id="rId13"/>
    <p:sldId id="280" r:id="rId14"/>
    <p:sldId id="279" r:id="rId15"/>
    <p:sldId id="281" r:id="rId16"/>
    <p:sldId id="282" r:id="rId17"/>
    <p:sldId id="329" r:id="rId18"/>
    <p:sldId id="284" r:id="rId19"/>
    <p:sldId id="2146851130" r:id="rId20"/>
    <p:sldId id="326" r:id="rId21"/>
    <p:sldId id="2146851131" r:id="rId22"/>
    <p:sldId id="325" r:id="rId23"/>
    <p:sldId id="29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0" autoAdjust="0"/>
    <p:restoredTop sz="94660"/>
  </p:normalViewPr>
  <p:slideViewPr>
    <p:cSldViewPr snapToGrid="0">
      <p:cViewPr varScale="1">
        <p:scale>
          <a:sx n="73" d="100"/>
          <a:sy n="73" d="100"/>
        </p:scale>
        <p:origin x="2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613611"/>
            <a:ext cx="10363200" cy="3719057"/>
          </a:xfrm>
        </p:spPr>
        <p:txBody>
          <a:bodyPr>
            <a:normAutofit/>
          </a:bodyPr>
          <a:lstStyle>
            <a:lvl1pPr>
              <a:defRPr sz="6000" u="none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828800" y="4587766"/>
            <a:ext cx="8534400" cy="1513488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 dirty="0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22B3A-0432-4A17-9759-C2F25A9B548E}" type="datetime1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7652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u="sng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AD361-968A-4FBF-9FD3-AF363EA9937D}" type="datetime1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9976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u="none" cap="none" baseline="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C3AEF-A7F9-45D4-9A71-E38CA601D7D4}" type="datetime1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309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D70BF7-6F02-4157-9154-AD19503795D2}" type="datetime1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7316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B75B1-8360-44EF-9CE4-FA35BCEF221F}" type="datetime1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5951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333A9-23D0-4CE2-AE57-8C99AF0EAEF9}" type="datetime1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7763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21BCF-D9B3-4EAA-AB0E-A39A1078809E}" type="datetime1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3193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93D85-1D1F-43E8-8FC0-5AAF98DAF8F8}" type="datetime1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0368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E36A4-CF1C-426F-BC93-245F4AC7F9CC}" type="datetime1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8807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4C097-342E-4F43-8CA6-3DBDB1664F4C}" type="datetime1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1300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35E32-2D46-4DE1-B330-9D3FB84D851E}" type="datetime1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7414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09600" y="102180"/>
            <a:ext cx="10972800" cy="7130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09600" y="1126436"/>
            <a:ext cx="10972800" cy="4999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09AC7-2B02-4A21-833F-9D7920DB6664}" type="datetime1">
              <a:rPr kumimoji="1" lang="ja-JP" altLang="en-US" smtClean="0"/>
              <a:t>2026/8/5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CAF78-E814-F147-85DE-99D10320521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287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4400" b="1" u="sng" kern="1200">
          <a:solidFill>
            <a:srgbClr val="45172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mc-japan.co.jp/blog/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wmf"/><Relationship Id="rId5" Type="http://schemas.openxmlformats.org/officeDocument/2006/relationships/image" Target="../media/image7.jpeg"/><Relationship Id="rId4" Type="http://schemas.openxmlformats.org/officeDocument/2006/relationships/image" Target="../media/image6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jpeg"/><Relationship Id="rId5" Type="http://schemas.openxmlformats.org/officeDocument/2006/relationships/image" Target="../media/image14.emf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0823D442-AEA9-4163-AF11-D77C689F8B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4000" dirty="0"/>
              <a:t>バイオ技術（補助スライド）</a:t>
            </a:r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955337FE-8AFF-4894-9350-1A0300B753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岩田浩明</a:t>
            </a:r>
          </a:p>
        </p:txBody>
      </p:sp>
    </p:spTree>
    <p:extLst>
      <p:ext uri="{BB962C8B-B14F-4D97-AF65-F5344CB8AC3E}">
        <p14:creationId xmlns:p14="http://schemas.microsoft.com/office/powerpoint/2010/main" val="2554038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931FE76F-C34B-EDF6-40BB-A162C011F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なぜ、</a:t>
            </a:r>
            <a:r>
              <a:rPr lang="en-US" altLang="ja-JP" dirty="0"/>
              <a:t>Python ?</a:t>
            </a:r>
            <a:endParaRPr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048A677F-3F0A-D31F-BA8E-FAF4628BB9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662B5B-1BA5-7E13-CF30-BCFEC6105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59636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15E886-206A-D1F3-FCD1-C7E8EF35A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Python </a:t>
            </a:r>
            <a:r>
              <a:rPr kumimoji="1" lang="ja-JP" altLang="en-US" dirty="0"/>
              <a:t>とは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EAE419-4157-7BC6-5115-B181550D9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オランダ人のグイド・ヴァンロッサム氏によって開発された言語</a:t>
            </a:r>
            <a:endParaRPr kumimoji="1" lang="en-US" altLang="ja-JP" dirty="0"/>
          </a:p>
          <a:p>
            <a:r>
              <a:rPr kumimoji="1" lang="ja-JP" altLang="en-US" dirty="0"/>
              <a:t>イギリス</a:t>
            </a:r>
            <a:r>
              <a:rPr kumimoji="1" lang="en-US" altLang="ja-JP" dirty="0"/>
              <a:t>BBC</a:t>
            </a:r>
            <a:r>
              <a:rPr kumimoji="1" lang="ja-JP" altLang="en-US" dirty="0"/>
              <a:t>のコメディ番組</a:t>
            </a:r>
            <a:r>
              <a:rPr kumimoji="1" lang="en-US" altLang="ja-JP" dirty="0"/>
              <a:t>『</a:t>
            </a:r>
            <a:r>
              <a:rPr kumimoji="1" lang="ja-JP" altLang="en-US" dirty="0"/>
              <a:t>空飛ぶモンティ・パイソン</a:t>
            </a:r>
            <a:r>
              <a:rPr kumimoji="1" lang="en-US" altLang="ja-JP" dirty="0"/>
              <a:t>』</a:t>
            </a:r>
            <a:r>
              <a:rPr kumimoji="1" lang="ja-JP" altLang="en-US" dirty="0"/>
              <a:t>が 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という名前の由来とのこと</a:t>
            </a:r>
            <a:endParaRPr kumimoji="1" lang="en-US" altLang="ja-JP" dirty="0"/>
          </a:p>
          <a:p>
            <a:r>
              <a:rPr kumimoji="1" lang="en-US" altLang="ja-JP" dirty="0"/>
              <a:t>1991</a:t>
            </a:r>
            <a:r>
              <a:rPr kumimoji="1" lang="ja-JP" altLang="en-US" dirty="0"/>
              <a:t>年</a:t>
            </a:r>
            <a:r>
              <a:rPr kumimoji="1" lang="en-US" altLang="ja-JP" dirty="0"/>
              <a:t>2</a:t>
            </a:r>
            <a:r>
              <a:rPr kumimoji="1" lang="ja-JP" altLang="en-US" dirty="0"/>
              <a:t>月に一般公開</a:t>
            </a:r>
            <a:endParaRPr kumimoji="1" lang="en-US" altLang="ja-JP" dirty="0"/>
          </a:p>
          <a:p>
            <a:r>
              <a:rPr lang="ja-JP" altLang="en-US" dirty="0"/>
              <a:t>オープンソースで運営されているプログラミング言語</a:t>
            </a:r>
            <a:endParaRPr kumimoji="1" lang="en-US" altLang="ja-JP" dirty="0"/>
          </a:p>
          <a:p>
            <a:r>
              <a:rPr lang="ja-JP" altLang="en-US" dirty="0"/>
              <a:t>現在（</a:t>
            </a:r>
            <a:r>
              <a:rPr lang="en-US" altLang="ja-JP" dirty="0"/>
              <a:t>2023</a:t>
            </a:r>
            <a:r>
              <a:rPr lang="ja-JP" altLang="en-US" dirty="0"/>
              <a:t>年時点）では </a:t>
            </a:r>
            <a:r>
              <a:rPr lang="en-US" altLang="ja-JP" dirty="0"/>
              <a:t>Python3 </a:t>
            </a:r>
            <a:r>
              <a:rPr lang="ja-JP" altLang="en-US" dirty="0"/>
              <a:t>が最新バージョン</a:t>
            </a:r>
            <a:endParaRPr lang="en-US" altLang="ja-JP" dirty="0"/>
          </a:p>
          <a:p>
            <a:r>
              <a:rPr lang="ja-JP" altLang="en-US" b="0" i="0" dirty="0">
                <a:solidFill>
                  <a:srgbClr val="444444"/>
                </a:solidFill>
                <a:effectLst/>
                <a:latin typeface="Hiragino Kaku Gothic ProN"/>
              </a:rPr>
              <a:t>用途は様々</a:t>
            </a:r>
            <a:endParaRPr lang="en-US" altLang="ja-JP" b="0" i="0" dirty="0">
              <a:solidFill>
                <a:srgbClr val="444444"/>
              </a:solidFill>
              <a:effectLst/>
              <a:latin typeface="Hiragino Kaku Gothic ProN"/>
            </a:endParaRPr>
          </a:p>
          <a:p>
            <a:pPr lvl="1"/>
            <a:r>
              <a:rPr kumimoji="1" lang="ja-JP" altLang="en-US" dirty="0"/>
              <a:t>組み込み開発や、</a:t>
            </a:r>
            <a:r>
              <a:rPr kumimoji="1" lang="en-US" altLang="ja-JP" dirty="0"/>
              <a:t>Web</a:t>
            </a:r>
            <a:r>
              <a:rPr kumimoji="1" lang="ja-JP" altLang="en-US" dirty="0"/>
              <a:t>アプリケーション、デスクトップアプリケーション、さらには人工知能開発、ビッグデータ解析などと多岐にわたる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9EC50B6-ED56-A1E0-B8EF-7E255AF6F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3</a:t>
            </a:fld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6711F9-9564-F222-5899-F852C7ACC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0135" y="96873"/>
            <a:ext cx="3149865" cy="1063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1306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1DE2F-CA51-6F59-7497-CC253074E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プログラミング言語ランキング</a:t>
            </a:r>
            <a:r>
              <a:rPr kumimoji="1" lang="en-US" altLang="ja-JP" dirty="0"/>
              <a:t>TOP20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6A1C057-705E-0380-034E-D3CE65330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4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EABDF8F-DBA0-B39F-CDD3-5B7D26D70081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815270"/>
          <a:ext cx="7538785" cy="57607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79969">
                  <a:extLst>
                    <a:ext uri="{9D8B030D-6E8A-4147-A177-3AD203B41FA5}">
                      <a16:colId xmlns:a16="http://schemas.microsoft.com/office/drawing/2014/main" val="2215342393"/>
                    </a:ext>
                  </a:extLst>
                </a:gridCol>
                <a:gridCol w="1776730">
                  <a:extLst>
                    <a:ext uri="{9D8B030D-6E8A-4147-A177-3AD203B41FA5}">
                      <a16:colId xmlns:a16="http://schemas.microsoft.com/office/drawing/2014/main" val="4184886688"/>
                    </a:ext>
                  </a:extLst>
                </a:gridCol>
                <a:gridCol w="2013268">
                  <a:extLst>
                    <a:ext uri="{9D8B030D-6E8A-4147-A177-3AD203B41FA5}">
                      <a16:colId xmlns:a16="http://schemas.microsoft.com/office/drawing/2014/main" val="4017986456"/>
                    </a:ext>
                  </a:extLst>
                </a:gridCol>
                <a:gridCol w="1968818">
                  <a:extLst>
                    <a:ext uri="{9D8B030D-6E8A-4147-A177-3AD203B41FA5}">
                      <a16:colId xmlns:a16="http://schemas.microsoft.com/office/drawing/2014/main" val="1008403845"/>
                    </a:ext>
                  </a:extLst>
                </a:gridCol>
              </a:tblGrid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2022/12</a:t>
                      </a:r>
                      <a:r>
                        <a:rPr kumimoji="1" lang="ja-JP" altLang="en-US" sz="1200" dirty="0"/>
                        <a:t>順位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2021/11</a:t>
                      </a:r>
                      <a:r>
                        <a:rPr kumimoji="1" lang="ja-JP" altLang="en-US" sz="1200" dirty="0"/>
                        <a:t>順位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プログラミング言語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/>
                        <a:t>全体に占める割合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4776945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Python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16.66%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063131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2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2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C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16.56%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6548992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3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4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C++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11.94%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459001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4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3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Java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11.82%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078470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5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C#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4.92%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317269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6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6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Visual Basic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3.94%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4208865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7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7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JavaScript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3.19%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732235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8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9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SQL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2.22%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9502234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9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8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Assembly language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1.87%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168722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10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12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PHP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1.62%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5689570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11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11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R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1.25%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205004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12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19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Go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1.15%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88655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13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13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Classic Visual Basic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1.15%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1644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14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20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MATLAB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0.95%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654328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15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10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Swift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0.91%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9077772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16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16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Delphi/Object Pascal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0.85%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7847751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17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15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Ruby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0.81%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5222129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18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18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Perl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0.78%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294371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19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29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Objective-C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0.71%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020961"/>
                  </a:ext>
                </a:extLst>
              </a:tr>
              <a:tr h="259628"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20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27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Rust</a:t>
                      </a:r>
                      <a:endParaRPr kumimoji="1" lang="ja-JP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/>
                        <a:t>0.68%</a:t>
                      </a:r>
                      <a:endParaRPr kumimoji="1" lang="ja-JP" alt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473498"/>
                  </a:ext>
                </a:extLst>
              </a:tr>
            </a:tbl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4EDDBF0-F401-41BB-B478-0C56769539AC}"/>
              </a:ext>
            </a:extLst>
          </p:cNvPr>
          <p:cNvSpPr txBox="1"/>
          <p:nvPr/>
        </p:nvSpPr>
        <p:spPr>
          <a:xfrm>
            <a:off x="8218101" y="4507588"/>
            <a:ext cx="388379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TIOBE</a:t>
            </a:r>
            <a:r>
              <a:rPr kumimoji="1" lang="ja-JP" altLang="en-US" dirty="0"/>
              <a:t>の「</a:t>
            </a:r>
            <a:r>
              <a:rPr kumimoji="1" lang="en-US" altLang="ja-JP" dirty="0"/>
              <a:t>TIOBE Programming Community index</a:t>
            </a:r>
            <a:r>
              <a:rPr kumimoji="1" lang="ja-JP" altLang="en-US" dirty="0"/>
              <a:t>」を元に最新のプログラミング言語ランキングとその推移、そこから見えるシステム開発のトレンドについてご紹介</a:t>
            </a:r>
            <a:endParaRPr kumimoji="1" lang="en-US" altLang="ja-JP" dirty="0"/>
          </a:p>
          <a:p>
            <a:r>
              <a:rPr kumimoji="1" lang="en-US" altLang="ja-JP" dirty="0">
                <a:hlinkClick r:id="rId2"/>
              </a:rPr>
              <a:t>https://cmc-japan.co.jp/blog/</a:t>
            </a:r>
            <a:r>
              <a:rPr kumimoji="1" lang="ja-JP" altLang="en-US" dirty="0"/>
              <a:t>開発言語ランキング</a:t>
            </a:r>
            <a:r>
              <a:rPr kumimoji="1" lang="en-US" altLang="ja-JP" dirty="0"/>
              <a:t>/</a:t>
            </a:r>
            <a:endParaRPr kumimoji="1" lang="ja-JP" altLang="en-US" dirty="0"/>
          </a:p>
        </p:txBody>
      </p:sp>
      <p:sp>
        <p:nvSpPr>
          <p:cNvPr id="7" name="矢印: 下 6">
            <a:extLst>
              <a:ext uri="{FF2B5EF4-FFF2-40B4-BE49-F238E27FC236}">
                <a16:creationId xmlns:a16="http://schemas.microsoft.com/office/drawing/2014/main" id="{38244B6A-BC36-A1EE-2948-753E7D45C51B}"/>
              </a:ext>
            </a:extLst>
          </p:cNvPr>
          <p:cNvSpPr/>
          <p:nvPr/>
        </p:nvSpPr>
        <p:spPr>
          <a:xfrm rot="10800000">
            <a:off x="8218101" y="1730801"/>
            <a:ext cx="590550" cy="457200"/>
          </a:xfrm>
          <a:prstGeom prst="down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2057636-2B41-7904-536A-06F993447460}"/>
              </a:ext>
            </a:extLst>
          </p:cNvPr>
          <p:cNvSpPr txBox="1"/>
          <p:nvPr/>
        </p:nvSpPr>
        <p:spPr>
          <a:xfrm>
            <a:off x="8939498" y="1818669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top 4</a:t>
            </a:r>
            <a:r>
              <a:rPr kumimoji="1" lang="ja-JP" altLang="en-US" dirty="0"/>
              <a:t>で</a:t>
            </a:r>
            <a:r>
              <a:rPr kumimoji="1" lang="en-US" altLang="ja-JP" dirty="0"/>
              <a:t>56.98%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4FAA4B9-805B-C44C-56CB-9DE5F25B9ED9}"/>
              </a:ext>
            </a:extLst>
          </p:cNvPr>
          <p:cNvCxnSpPr>
            <a:cxnSpLocks/>
          </p:cNvCxnSpPr>
          <p:nvPr/>
        </p:nvCxnSpPr>
        <p:spPr>
          <a:xfrm flipV="1">
            <a:off x="466725" y="2188001"/>
            <a:ext cx="10658475" cy="95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294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EDCA66AA-84A5-3419-8756-C849EB9B4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プログラミング言語ランキングの推移</a:t>
            </a:r>
            <a:endParaRPr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58E0DF1-1546-EB50-F856-0F2AEA2FE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5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61A501C7-CD67-9240-A03B-248D06C04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866900"/>
            <a:ext cx="9753600" cy="312420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C7EFBFA-6717-2EFB-DE2C-E650B1DFD95F}"/>
              </a:ext>
            </a:extLst>
          </p:cNvPr>
          <p:cNvSpPr txBox="1"/>
          <p:nvPr/>
        </p:nvSpPr>
        <p:spPr>
          <a:xfrm>
            <a:off x="3498526" y="1128563"/>
            <a:ext cx="5194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+mn-ea"/>
              </a:rPr>
              <a:t>TOP10</a:t>
            </a:r>
            <a:r>
              <a:rPr kumimoji="1" lang="ja-JP" altLang="en-US" dirty="0">
                <a:latin typeface="+mn-ea"/>
              </a:rPr>
              <a:t>の</a:t>
            </a:r>
            <a:r>
              <a:rPr kumimoji="1" lang="en-US" altLang="ja-JP" dirty="0">
                <a:latin typeface="+mn-ea"/>
              </a:rPr>
              <a:t>2002</a:t>
            </a:r>
            <a:r>
              <a:rPr kumimoji="1" lang="ja-JP" altLang="en-US" dirty="0">
                <a:latin typeface="+mn-ea"/>
              </a:rPr>
              <a:t>年前後から</a:t>
            </a:r>
            <a:r>
              <a:rPr kumimoji="1" lang="en-US" altLang="ja-JP" dirty="0">
                <a:latin typeface="+mn-ea"/>
              </a:rPr>
              <a:t>2022</a:t>
            </a:r>
            <a:r>
              <a:rPr kumimoji="1" lang="ja-JP" altLang="en-US" dirty="0">
                <a:latin typeface="+mn-ea"/>
              </a:rPr>
              <a:t>年までの人気の推移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72E5CE0-B926-9011-0F4E-7FAE68172B6D}"/>
              </a:ext>
            </a:extLst>
          </p:cNvPr>
          <p:cNvSpPr txBox="1"/>
          <p:nvPr/>
        </p:nvSpPr>
        <p:spPr>
          <a:xfrm>
            <a:off x="2428553" y="5673398"/>
            <a:ext cx="7334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全体で見ると、</a:t>
            </a:r>
            <a:r>
              <a:rPr kumimoji="1" lang="en-US" altLang="ja-JP" dirty="0"/>
              <a:t>Java</a:t>
            </a:r>
            <a:r>
              <a:rPr kumimoji="1" lang="ja-JP" altLang="en-US" dirty="0"/>
              <a:t>と</a:t>
            </a:r>
            <a:r>
              <a:rPr kumimoji="1" lang="en-US" altLang="ja-JP" dirty="0"/>
              <a:t>C</a:t>
            </a:r>
            <a:r>
              <a:rPr kumimoji="1" lang="ja-JP" altLang="en-US" dirty="0"/>
              <a:t>の人気が高かったが、ここ数年で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が伸びている。</a:t>
            </a:r>
          </a:p>
        </p:txBody>
      </p:sp>
    </p:spTree>
    <p:extLst>
      <p:ext uri="{BB962C8B-B14F-4D97-AF65-F5344CB8AC3E}">
        <p14:creationId xmlns:p14="http://schemas.microsoft.com/office/powerpoint/2010/main" val="1006996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2A52CE-FC89-5B0B-5E0B-476E33BC5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プログラミング言語ランキングの推移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D088385-5B6F-8559-E93F-B1C0BE137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6</a:t>
            </a:fld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635280E-AC4E-F636-D7E9-56B8DB6FD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828800"/>
            <a:ext cx="9753600" cy="320040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EBE6F03-58F8-25DE-4B63-A0E72EE41523}"/>
              </a:ext>
            </a:extLst>
          </p:cNvPr>
          <p:cNvSpPr txBox="1"/>
          <p:nvPr/>
        </p:nvSpPr>
        <p:spPr>
          <a:xfrm>
            <a:off x="3498526" y="1128563"/>
            <a:ext cx="5194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+mn-ea"/>
              </a:rPr>
              <a:t>TOP10</a:t>
            </a:r>
            <a:r>
              <a:rPr kumimoji="1" lang="ja-JP" altLang="en-US" dirty="0">
                <a:latin typeface="+mn-ea"/>
              </a:rPr>
              <a:t>の</a:t>
            </a:r>
            <a:r>
              <a:rPr kumimoji="1" lang="en-US" altLang="ja-JP" dirty="0">
                <a:latin typeface="+mn-ea"/>
              </a:rPr>
              <a:t>2002</a:t>
            </a:r>
            <a:r>
              <a:rPr kumimoji="1" lang="ja-JP" altLang="en-US" dirty="0">
                <a:latin typeface="+mn-ea"/>
              </a:rPr>
              <a:t>年前後から</a:t>
            </a:r>
            <a:r>
              <a:rPr kumimoji="1" lang="en-US" altLang="ja-JP" dirty="0">
                <a:latin typeface="+mn-ea"/>
              </a:rPr>
              <a:t>2022</a:t>
            </a:r>
            <a:r>
              <a:rPr kumimoji="1" lang="ja-JP" altLang="en-US" dirty="0">
                <a:latin typeface="+mn-ea"/>
              </a:rPr>
              <a:t>年までの人気の推移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D5D0AA8-92C5-CE9C-D601-2D4493CCFEDF}"/>
              </a:ext>
            </a:extLst>
          </p:cNvPr>
          <p:cNvSpPr txBox="1"/>
          <p:nvPr/>
        </p:nvSpPr>
        <p:spPr>
          <a:xfrm>
            <a:off x="2908845" y="5544771"/>
            <a:ext cx="6374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latin typeface="+mn-ea"/>
              </a:rPr>
              <a:t>Python</a:t>
            </a:r>
            <a:r>
              <a:rPr kumimoji="1" lang="ja-JP" altLang="en-US" dirty="0">
                <a:latin typeface="+mn-ea"/>
              </a:rPr>
              <a:t>単体で見ると、</a:t>
            </a:r>
            <a:r>
              <a:rPr kumimoji="1" lang="en-US" altLang="ja-JP" dirty="0">
                <a:latin typeface="+mn-ea"/>
              </a:rPr>
              <a:t>2018</a:t>
            </a:r>
            <a:r>
              <a:rPr kumimoji="1" lang="ja-JP" altLang="en-US" dirty="0">
                <a:latin typeface="+mn-ea"/>
              </a:rPr>
              <a:t>年ごろから急激に人気が高まっている。</a:t>
            </a:r>
          </a:p>
        </p:txBody>
      </p:sp>
    </p:spTree>
    <p:extLst>
      <p:ext uri="{BB962C8B-B14F-4D97-AF65-F5344CB8AC3E}">
        <p14:creationId xmlns:p14="http://schemas.microsoft.com/office/powerpoint/2010/main" val="2190726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73CF2D-3D26-97EA-36D2-41789A2C2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なぜ、</a:t>
            </a:r>
            <a:r>
              <a:rPr kumimoji="1" lang="en-US" altLang="ja-JP" dirty="0"/>
              <a:t>Python</a:t>
            </a:r>
            <a:r>
              <a:rPr kumimoji="1" lang="ja-JP" altLang="en-US" dirty="0"/>
              <a:t>が人気に？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9466C24-0696-38B9-C418-C665D4B18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ja-JP" altLang="en-US" dirty="0"/>
              <a:t>豊富なライブラリ</a:t>
            </a:r>
            <a:endParaRPr lang="en-US" altLang="ja-JP" dirty="0"/>
          </a:p>
          <a:p>
            <a:pPr lvl="1"/>
            <a:r>
              <a:rPr lang="ja-JP" altLang="en-US" dirty="0"/>
              <a:t>機械学習に特化した </a:t>
            </a:r>
            <a:r>
              <a:rPr lang="en-US" altLang="ja-JP" dirty="0"/>
              <a:t>TensorFlow </a:t>
            </a:r>
            <a:r>
              <a:rPr lang="ja-JP" altLang="en-US" dirty="0"/>
              <a:t>や </a:t>
            </a:r>
            <a:r>
              <a:rPr lang="en-US" altLang="ja-JP" dirty="0" err="1"/>
              <a:t>Keras</a:t>
            </a:r>
            <a:r>
              <a:rPr lang="en-US" altLang="ja-JP" dirty="0"/>
              <a:t> </a:t>
            </a:r>
            <a:r>
              <a:rPr lang="ja-JP" altLang="en-US" dirty="0"/>
              <a:t>や統計に特化した </a:t>
            </a:r>
            <a:r>
              <a:rPr lang="en-US" altLang="ja-JP" dirty="0" err="1"/>
              <a:t>scipy</a:t>
            </a:r>
            <a:r>
              <a:rPr lang="ja-JP" altLang="en-US" dirty="0"/>
              <a:t>、データ分析に特化した </a:t>
            </a:r>
            <a:r>
              <a:rPr lang="en-US" altLang="ja-JP" dirty="0" err="1"/>
              <a:t>Numpy</a:t>
            </a:r>
            <a:r>
              <a:rPr lang="en-US" altLang="ja-JP" dirty="0"/>
              <a:t> </a:t>
            </a:r>
            <a:r>
              <a:rPr lang="ja-JP" altLang="en-US" dirty="0"/>
              <a:t>など、さまざまなライブラリが揃っており、作業の効率化という面でもさまざまな需要を満たしています。</a:t>
            </a:r>
            <a:endParaRPr lang="en-US" altLang="ja-JP" dirty="0"/>
          </a:p>
          <a:p>
            <a:r>
              <a:rPr lang="en-US" altLang="ja-JP" dirty="0"/>
              <a:t>AI </a:t>
            </a:r>
            <a:r>
              <a:rPr lang="ja-JP" altLang="en-US" dirty="0"/>
              <a:t>や機械学習における需要の高まり</a:t>
            </a:r>
            <a:endParaRPr lang="en-US" altLang="ja-JP" dirty="0"/>
          </a:p>
          <a:p>
            <a:pPr lvl="1"/>
            <a:r>
              <a:rPr lang="ja-JP" altLang="en-US" dirty="0"/>
              <a:t>近年需要が高まっている </a:t>
            </a:r>
            <a:r>
              <a:rPr lang="en-US" altLang="ja-JP" dirty="0"/>
              <a:t>AI</a:t>
            </a:r>
            <a:r>
              <a:rPr lang="ja-JP" altLang="en-US" dirty="0"/>
              <a:t>（人工知能）開発や機械学習を行う際に最適なプログラミング言語として認識</a:t>
            </a:r>
            <a:endParaRPr lang="en-US" altLang="ja-JP" dirty="0"/>
          </a:p>
          <a:p>
            <a:r>
              <a:rPr lang="ja-JP" altLang="en-US" dirty="0"/>
              <a:t>シンプルで学習しやすい</a:t>
            </a:r>
            <a:endParaRPr lang="en-US" altLang="ja-JP" dirty="0"/>
          </a:p>
          <a:p>
            <a:pPr lvl="1"/>
            <a:r>
              <a:rPr lang="ja-JP" altLang="en-US" dirty="0"/>
              <a:t>コードが非常に簡潔で、初心者でも理解しやすい</a:t>
            </a:r>
            <a:endParaRPr lang="en-US" altLang="ja-JP" dirty="0"/>
          </a:p>
          <a:p>
            <a:r>
              <a:rPr lang="ja-JP" altLang="en-US" dirty="0"/>
              <a:t>高い汎用性</a:t>
            </a:r>
            <a:endParaRPr lang="en-US" altLang="ja-JP" dirty="0"/>
          </a:p>
          <a:p>
            <a:pPr lvl="1"/>
            <a:r>
              <a:rPr lang="en-US" altLang="ja-JP" dirty="0"/>
              <a:t>YouTube</a:t>
            </a:r>
            <a:r>
              <a:rPr lang="ja-JP" altLang="en-US" dirty="0"/>
              <a:t>、</a:t>
            </a:r>
            <a:r>
              <a:rPr lang="en-US" altLang="ja-JP" dirty="0"/>
              <a:t>Instagram</a:t>
            </a:r>
            <a:r>
              <a:rPr lang="ja-JP" altLang="en-US" dirty="0"/>
              <a:t>、</a:t>
            </a:r>
            <a:r>
              <a:rPr lang="en-US" altLang="ja-JP" dirty="0"/>
              <a:t>Dropbox </a:t>
            </a:r>
            <a:r>
              <a:rPr lang="ja-JP" altLang="en-US" dirty="0"/>
              <a:t>など身近なところで </a:t>
            </a:r>
            <a:r>
              <a:rPr lang="en-US" altLang="ja-JP" dirty="0"/>
              <a:t>Python </a:t>
            </a:r>
            <a:r>
              <a:rPr lang="ja-JP" altLang="en-US" dirty="0"/>
              <a:t>は使われている</a:t>
            </a:r>
            <a:endParaRPr lang="en-US" altLang="ja-JP" dirty="0"/>
          </a:p>
          <a:p>
            <a:r>
              <a:rPr lang="ja-JP" altLang="en-US" dirty="0"/>
              <a:t>他言語との連携のしやすさ</a:t>
            </a:r>
            <a:endParaRPr lang="en-US" altLang="ja-JP" dirty="0"/>
          </a:p>
          <a:p>
            <a:pPr lvl="1"/>
            <a:r>
              <a:rPr lang="en-US" altLang="ja-JP" dirty="0"/>
              <a:t>Python </a:t>
            </a:r>
            <a:r>
              <a:rPr lang="ja-JP" altLang="en-US" dirty="0"/>
              <a:t>は</a:t>
            </a:r>
            <a:r>
              <a:rPr lang="en-US" altLang="ja-JP" dirty="0"/>
              <a:t>C</a:t>
            </a:r>
            <a:r>
              <a:rPr lang="ja-JP" altLang="en-US" dirty="0"/>
              <a:t>言語系と相性がよく、連携することもできるため、組み込み系のシステムなど幅広く利用されている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930A82E-3761-84FD-66F7-C658E2DC6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524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2E1B21-6666-773B-B277-664FAB169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RNA-seq</a:t>
            </a:r>
            <a:r>
              <a:rPr kumimoji="1" lang="ja-JP" altLang="en-US" dirty="0"/>
              <a:t>解析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0FD0FA3-8B61-DCC6-92EB-519AD3A18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6792BDF-5B58-6213-5807-4D96B23EC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189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836994-CDA6-AE36-FAB7-0A196FDE4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遺伝子発現解析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2D6D00-AABE-8C95-7AAD-DB3CC37C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42" name="Picture 62">
            <a:extLst>
              <a:ext uri="{FF2B5EF4-FFF2-40B4-BE49-F238E27FC236}">
                <a16:creationId xmlns:a16="http://schemas.microsoft.com/office/drawing/2014/main" id="{EDF62D56-E34D-9A3E-9833-8F258BDB85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0" t="65720" r="77893" b="24553"/>
          <a:stretch>
            <a:fillRect/>
          </a:stretch>
        </p:blipFill>
        <p:spPr bwMode="auto">
          <a:xfrm>
            <a:off x="9598818" y="1299364"/>
            <a:ext cx="287338" cy="26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55">
            <a:extLst>
              <a:ext uri="{FF2B5EF4-FFF2-40B4-BE49-F238E27FC236}">
                <a16:creationId xmlns:a16="http://schemas.microsoft.com/office/drawing/2014/main" id="{36E5AB0C-B4AF-B2A3-7321-E87FB6093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63" t="17029" r="4619" b="60309"/>
          <a:stretch>
            <a:fillRect/>
          </a:stretch>
        </p:blipFill>
        <p:spPr bwMode="auto">
          <a:xfrm>
            <a:off x="8517731" y="872327"/>
            <a:ext cx="720725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56">
            <a:extLst>
              <a:ext uri="{FF2B5EF4-FFF2-40B4-BE49-F238E27FC236}">
                <a16:creationId xmlns:a16="http://schemas.microsoft.com/office/drawing/2014/main" id="{784E674C-44FC-DD40-C789-5557066CCA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571" t="45868" r="2477" b="37646"/>
          <a:stretch>
            <a:fillRect/>
          </a:stretch>
        </p:blipFill>
        <p:spPr bwMode="auto">
          <a:xfrm>
            <a:off x="8284368" y="1716877"/>
            <a:ext cx="865188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" name="Text Box 59">
            <a:extLst>
              <a:ext uri="{FF2B5EF4-FFF2-40B4-BE49-F238E27FC236}">
                <a16:creationId xmlns:a16="http://schemas.microsoft.com/office/drawing/2014/main" id="{BC0DC936-3B27-113F-4E2D-272277025D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1117" y="2388181"/>
            <a:ext cx="364875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人体にはおよそ</a:t>
            </a:r>
            <a:r>
              <a:rPr kumimoji="1" lang="en-US" altLang="ja-JP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100</a:t>
            </a:r>
            <a:r>
              <a:rPr kumimoji="1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兆個の細胞が存在</a:t>
            </a:r>
            <a:endParaRPr kumimoji="1" lang="en-US" altLang="ja-JP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pic>
        <p:nvPicPr>
          <p:cNvPr id="46" name="Picture 60">
            <a:extLst>
              <a:ext uri="{FF2B5EF4-FFF2-40B4-BE49-F238E27FC236}">
                <a16:creationId xmlns:a16="http://schemas.microsoft.com/office/drawing/2014/main" id="{D2FBBED2-93E6-8562-1DBA-D4E56AF20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0" t="65720" r="77893" b="24553"/>
          <a:stretch>
            <a:fillRect/>
          </a:stretch>
        </p:blipFill>
        <p:spPr bwMode="auto">
          <a:xfrm>
            <a:off x="9427368" y="1524789"/>
            <a:ext cx="287338" cy="26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61">
            <a:extLst>
              <a:ext uri="{FF2B5EF4-FFF2-40B4-BE49-F238E27FC236}">
                <a16:creationId xmlns:a16="http://schemas.microsoft.com/office/drawing/2014/main" id="{E3C01174-C9EB-8D9B-C91E-6435CA45F1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0" t="65720" r="77893" b="24553"/>
          <a:stretch>
            <a:fillRect/>
          </a:stretch>
        </p:blipFill>
        <p:spPr bwMode="auto">
          <a:xfrm>
            <a:off x="9309893" y="1254914"/>
            <a:ext cx="287338" cy="265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Text Box 63">
            <a:extLst>
              <a:ext uri="{FF2B5EF4-FFF2-40B4-BE49-F238E27FC236}">
                <a16:creationId xmlns:a16="http://schemas.microsoft.com/office/drawing/2014/main" id="{7F1C92CD-99AC-E66A-7E35-58753FD65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434" y="2365956"/>
            <a:ext cx="415439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ヒトゲノムには</a:t>
            </a:r>
            <a:r>
              <a:rPr kumimoji="1" lang="en-US" altLang="ja-JP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22,000</a:t>
            </a:r>
            <a:r>
              <a:rPr kumimoji="1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の遺伝子が含まれている</a:t>
            </a:r>
            <a:endParaRPr kumimoji="1" lang="en-US" altLang="ja-JP" sz="16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pic>
        <p:nvPicPr>
          <p:cNvPr id="49" name="Picture 65">
            <a:extLst>
              <a:ext uri="{FF2B5EF4-FFF2-40B4-BE49-F238E27FC236}">
                <a16:creationId xmlns:a16="http://schemas.microsoft.com/office/drawing/2014/main" id="{9B079392-BC69-2FFA-0A22-AD82BD9236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642" y="1351752"/>
            <a:ext cx="3060700" cy="65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" name="Rectangle 66">
            <a:extLst>
              <a:ext uri="{FF2B5EF4-FFF2-40B4-BE49-F238E27FC236}">
                <a16:creationId xmlns:a16="http://schemas.microsoft.com/office/drawing/2014/main" id="{182EC95C-B6D6-7ADF-6E0D-197788FA0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173" y="860833"/>
            <a:ext cx="273062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ゲノムは</a:t>
            </a:r>
            <a:r>
              <a:rPr kumimoji="1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30</a:t>
            </a:r>
            <a:r>
              <a:rPr kumimoji="1" lang="ja-JP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億塩基対から構成</a:t>
            </a:r>
            <a:endParaRPr kumimoji="1" lang="en-US" altLang="ja-JP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51" name="Line 67">
            <a:extLst>
              <a:ext uri="{FF2B5EF4-FFF2-40B4-BE49-F238E27FC236}">
                <a16:creationId xmlns:a16="http://schemas.microsoft.com/office/drawing/2014/main" id="{44D79A43-9C91-F332-7C3C-BCF54314B142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6167" y="1877214"/>
            <a:ext cx="0" cy="21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2" name="Line 68">
            <a:extLst>
              <a:ext uri="{FF2B5EF4-FFF2-40B4-BE49-F238E27FC236}">
                <a16:creationId xmlns:a16="http://schemas.microsoft.com/office/drawing/2014/main" id="{79A1563F-91C7-27B4-ABAC-A9458C6BDB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6167" y="2093114"/>
            <a:ext cx="4333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3" name="Line 69">
            <a:extLst>
              <a:ext uri="{FF2B5EF4-FFF2-40B4-BE49-F238E27FC236}">
                <a16:creationId xmlns:a16="http://schemas.microsoft.com/office/drawing/2014/main" id="{C2DF126B-C34D-FD25-B3DB-8E9D6B08B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0280" y="1516852"/>
            <a:ext cx="0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4" name="Rectangle 70">
            <a:extLst>
              <a:ext uri="{FF2B5EF4-FFF2-40B4-BE49-F238E27FC236}">
                <a16:creationId xmlns:a16="http://schemas.microsoft.com/office/drawing/2014/main" id="{F6F470F5-3E98-D43A-B3E7-DC42E6231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4880" y="2042314"/>
            <a:ext cx="7104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Gene a</a:t>
            </a:r>
          </a:p>
        </p:txBody>
      </p:sp>
      <p:sp>
        <p:nvSpPr>
          <p:cNvPr id="55" name="Line 71">
            <a:extLst>
              <a:ext uri="{FF2B5EF4-FFF2-40B4-BE49-F238E27FC236}">
                <a16:creationId xmlns:a16="http://schemas.microsoft.com/office/drawing/2014/main" id="{A4FC23D5-175F-0802-1695-07F44C0BB1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9555" y="1877214"/>
            <a:ext cx="0" cy="2159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6" name="Line 72">
            <a:extLst>
              <a:ext uri="{FF2B5EF4-FFF2-40B4-BE49-F238E27FC236}">
                <a16:creationId xmlns:a16="http://schemas.microsoft.com/office/drawing/2014/main" id="{66173DD3-741A-5419-7C97-2E5862834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2960280" y="1516852"/>
            <a:ext cx="2889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7" name="Line 73">
            <a:extLst>
              <a:ext uri="{FF2B5EF4-FFF2-40B4-BE49-F238E27FC236}">
                <a16:creationId xmlns:a16="http://schemas.microsoft.com/office/drawing/2014/main" id="{BEC19AC3-B60C-D26F-CF47-59B7DEF004A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49205" y="1500977"/>
            <a:ext cx="0" cy="1444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8" name="Rectangle 74">
            <a:extLst>
              <a:ext uri="{FF2B5EF4-FFF2-40B4-BE49-F238E27FC236}">
                <a16:creationId xmlns:a16="http://schemas.microsoft.com/office/drawing/2014/main" id="{B5FB6A57-1AB5-A74D-45B4-77EC1BAAD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5817" y="1226339"/>
            <a:ext cx="71526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Gene n</a:t>
            </a:r>
          </a:p>
        </p:txBody>
      </p:sp>
      <p:sp>
        <p:nvSpPr>
          <p:cNvPr id="59" name="Text Box 75">
            <a:extLst>
              <a:ext uri="{FF2B5EF4-FFF2-40B4-BE49-F238E27FC236}">
                <a16:creationId xmlns:a16="http://schemas.microsoft.com/office/drawing/2014/main" id="{46C21C36-853E-7707-414E-1D951355F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8517" y="1023139"/>
            <a:ext cx="3855144" cy="707886"/>
          </a:xfrm>
          <a:prstGeom prst="rect">
            <a:avLst/>
          </a:prstGeom>
          <a:noFill/>
          <a:ln w="28575" algn="ctr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なぜ同じ遺伝子を持っているのに、異なる細胞になるの？</a:t>
            </a:r>
            <a:endParaRPr kumimoji="1" lang="en-US" altLang="ja-JP" sz="20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pic>
        <p:nvPicPr>
          <p:cNvPr id="60" name="Picture 81">
            <a:extLst>
              <a:ext uri="{FF2B5EF4-FFF2-40B4-BE49-F238E27FC236}">
                <a16:creationId xmlns:a16="http://schemas.microsoft.com/office/drawing/2014/main" id="{83017910-2D57-3148-34EE-694B041CB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contras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130" y="3945727"/>
            <a:ext cx="1655762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" name="Picture 118">
            <a:extLst>
              <a:ext uri="{FF2B5EF4-FFF2-40B4-BE49-F238E27FC236}">
                <a16:creationId xmlns:a16="http://schemas.microsoft.com/office/drawing/2014/main" id="{18E9CF14-1F41-8B42-F2F7-21B7B216AE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0068" y="3802852"/>
            <a:ext cx="1071563" cy="85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Text Box 158">
            <a:extLst>
              <a:ext uri="{FF2B5EF4-FFF2-40B4-BE49-F238E27FC236}">
                <a16:creationId xmlns:a16="http://schemas.microsoft.com/office/drawing/2014/main" id="{AFACA95E-E379-221C-FDD9-C0625000E2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6653" y="3874289"/>
            <a:ext cx="15680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Translation</a:t>
            </a:r>
          </a:p>
        </p:txBody>
      </p:sp>
      <p:sp>
        <p:nvSpPr>
          <p:cNvPr id="63" name="Text Box 159">
            <a:extLst>
              <a:ext uri="{FF2B5EF4-FFF2-40B4-BE49-F238E27FC236}">
                <a16:creationId xmlns:a16="http://schemas.microsoft.com/office/drawing/2014/main" id="{66BDD2F7-14A4-850B-3F97-103DF6C89B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0642" y="3227531"/>
            <a:ext cx="1558925" cy="400110"/>
          </a:xfrm>
          <a:prstGeom prst="rect">
            <a:avLst/>
          </a:prstGeom>
          <a:solidFill>
            <a:srgbClr val="CC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</a:rPr>
              <a:t>遺伝子発現</a:t>
            </a:r>
            <a:endParaRPr kumimoji="1" lang="en-US" altLang="ja-JP" sz="20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4" name="Text Box 160">
            <a:extLst>
              <a:ext uri="{FF2B5EF4-FFF2-40B4-BE49-F238E27FC236}">
                <a16:creationId xmlns:a16="http://schemas.microsoft.com/office/drawing/2014/main" id="{B8047A5A-7748-7CF2-75D1-112537B4C1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9430" y="4455314"/>
            <a:ext cx="196399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mRNA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Transcriptome</a:t>
            </a:r>
          </a:p>
        </p:txBody>
      </p:sp>
      <p:sp>
        <p:nvSpPr>
          <p:cNvPr id="65" name="Text Box 162">
            <a:extLst>
              <a:ext uri="{FF2B5EF4-FFF2-40B4-BE49-F238E27FC236}">
                <a16:creationId xmlns:a16="http://schemas.microsoft.com/office/drawing/2014/main" id="{B2B86326-E87F-DD42-B462-A5245B746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0552" y="4609302"/>
            <a:ext cx="137409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Protein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Proteome</a:t>
            </a:r>
          </a:p>
        </p:txBody>
      </p:sp>
      <p:sp>
        <p:nvSpPr>
          <p:cNvPr id="66" name="Text Box 164">
            <a:extLst>
              <a:ext uri="{FF2B5EF4-FFF2-40B4-BE49-F238E27FC236}">
                <a16:creationId xmlns:a16="http://schemas.microsoft.com/office/drawing/2014/main" id="{15F06602-2EAF-2965-41DB-249CEBEA63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0846" y="5255633"/>
            <a:ext cx="5654433" cy="707886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79388" marR="0" lvl="0" indent="-1793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</a:rPr>
              <a:t>生命の機能発現の大半は、タンパク質が担っている。</a:t>
            </a:r>
            <a:endParaRPr kumimoji="1" lang="en-US" altLang="ja-JP" sz="2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</a:endParaRPr>
          </a:p>
          <a:p>
            <a:pPr marL="179388" marR="0" lvl="0" indent="-179388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1" lang="en-US" altLang="ja-JP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</a:rPr>
              <a:t>mRNA</a:t>
            </a:r>
            <a:r>
              <a:rPr kumimoji="1" lang="ja-JP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+mn-ea"/>
              </a:rPr>
              <a:t>が無ければ、タンパク質は産生されない。</a:t>
            </a:r>
            <a:endParaRPr kumimoji="1" lang="en-US" altLang="ja-JP" sz="2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7" name="Text Box 169">
            <a:extLst>
              <a:ext uri="{FF2B5EF4-FFF2-40B4-BE49-F238E27FC236}">
                <a16:creationId xmlns:a16="http://schemas.microsoft.com/office/drawing/2014/main" id="{C6746B14-6D65-7E0E-14E8-2B506399F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17731" y="547028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神経細胞</a:t>
            </a:r>
            <a:endParaRPr kumimoji="1" lang="en-US" altLang="ja-JP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8" name="Text Box 170">
            <a:extLst>
              <a:ext uri="{FF2B5EF4-FFF2-40B4-BE49-F238E27FC236}">
                <a16:creationId xmlns:a16="http://schemas.microsoft.com/office/drawing/2014/main" id="{8B736347-AA40-3C12-6B3C-C429AD187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70193" y="1880389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心筋細胞</a:t>
            </a:r>
            <a:endParaRPr kumimoji="1" lang="en-US" altLang="ja-JP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69" name="Text Box 171">
            <a:extLst>
              <a:ext uri="{FF2B5EF4-FFF2-40B4-BE49-F238E27FC236}">
                <a16:creationId xmlns:a16="http://schemas.microsoft.com/office/drawing/2014/main" id="{7CA73E8A-F9A1-0F54-4DB3-C82FB4A42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9591" y="970823"/>
            <a:ext cx="11079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脂肪細胞</a:t>
            </a:r>
            <a:endParaRPr kumimoji="1" lang="en-US" altLang="ja-JP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70" name="直線矢印コネクタ 59">
            <a:extLst>
              <a:ext uri="{FF2B5EF4-FFF2-40B4-BE49-F238E27FC236}">
                <a16:creationId xmlns:a16="http://schemas.microsoft.com/office/drawing/2014/main" id="{247758D4-6E58-7B62-66A4-9F8C881286B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10090" y="1943889"/>
            <a:ext cx="2428875" cy="1588"/>
          </a:xfrm>
          <a:prstGeom prst="straightConnector1">
            <a:avLst/>
          </a:prstGeom>
          <a:noFill/>
          <a:ln w="57150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" name="直線矢印コネクタ 60">
            <a:extLst>
              <a:ext uri="{FF2B5EF4-FFF2-40B4-BE49-F238E27FC236}">
                <a16:creationId xmlns:a16="http://schemas.microsoft.com/office/drawing/2014/main" id="{16EA69EB-50C7-B1B8-2352-33E564E6F39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18028" y="4302914"/>
            <a:ext cx="2428875" cy="1588"/>
          </a:xfrm>
          <a:prstGeom prst="straightConnector1">
            <a:avLst/>
          </a:prstGeom>
          <a:noFill/>
          <a:ln w="57150" algn="ctr">
            <a:solidFill>
              <a:srgbClr val="00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2" name="Text Box 75">
            <a:extLst>
              <a:ext uri="{FF2B5EF4-FFF2-40B4-BE49-F238E27FC236}">
                <a16:creationId xmlns:a16="http://schemas.microsoft.com/office/drawing/2014/main" id="{A443F9E5-85F8-2648-37FB-906D55BE8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0903" y="3331364"/>
            <a:ext cx="22012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 i="1" u="sng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Central Dogma</a:t>
            </a:r>
          </a:p>
        </p:txBody>
      </p:sp>
      <p:sp>
        <p:nvSpPr>
          <p:cNvPr id="73" name="テキスト ボックス 40">
            <a:extLst>
              <a:ext uri="{FF2B5EF4-FFF2-40B4-BE49-F238E27FC236}">
                <a16:creationId xmlns:a16="http://schemas.microsoft.com/office/drawing/2014/main" id="{0CD39657-6BB1-0A66-80BB-71B548BB66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1496" y="6355770"/>
            <a:ext cx="8637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ja-JP" sz="2000">
                <a:solidFill>
                  <a:srgbClr val="FF0000"/>
                </a:solidFill>
                <a:latin typeface="+mn-ea"/>
                <a:ea typeface="+mn-ea"/>
              </a:rPr>
              <a:t>mRNA</a:t>
            </a:r>
            <a:r>
              <a:rPr lang="ja-JP" altLang="en-US" sz="2000">
                <a:solidFill>
                  <a:srgbClr val="FF0000"/>
                </a:solidFill>
                <a:latin typeface="+mn-ea"/>
                <a:ea typeface="+mn-ea"/>
              </a:rPr>
              <a:t>の発現量（遺伝子発現情報）を検出すれば、生体系の機能解析に繋がる</a:t>
            </a:r>
          </a:p>
        </p:txBody>
      </p: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BD57854A-5E94-9AD3-DB3A-CF26254BA413}"/>
              </a:ext>
            </a:extLst>
          </p:cNvPr>
          <p:cNvCxnSpPr/>
          <p:nvPr/>
        </p:nvCxnSpPr>
        <p:spPr>
          <a:xfrm rot="5400000">
            <a:off x="2727711" y="3338508"/>
            <a:ext cx="1073150" cy="1588"/>
          </a:xfrm>
          <a:prstGeom prst="straightConnector1">
            <a:avLst/>
          </a:prstGeom>
          <a:noFill/>
          <a:ln w="57150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7C933979-C117-99A7-4C3D-CFABFDE75214}"/>
              </a:ext>
            </a:extLst>
          </p:cNvPr>
          <p:cNvCxnSpPr/>
          <p:nvPr/>
        </p:nvCxnSpPr>
        <p:spPr>
          <a:xfrm rot="16200000" flipV="1">
            <a:off x="8135143" y="3266277"/>
            <a:ext cx="1071563" cy="1587"/>
          </a:xfrm>
          <a:prstGeom prst="straightConnector1">
            <a:avLst/>
          </a:prstGeom>
          <a:noFill/>
          <a:ln w="57150" cap="flat" cmpd="sng" algn="ctr">
            <a:solidFill>
              <a:srgbClr val="000000"/>
            </a:solidFill>
            <a:prstDash val="solid"/>
            <a:tailEnd type="arrow"/>
          </a:ln>
          <a:effectLst/>
        </p:spPr>
      </p:cxnSp>
      <p:sp>
        <p:nvSpPr>
          <p:cNvPr id="76" name="Rectangle 168">
            <a:extLst>
              <a:ext uri="{FF2B5EF4-FFF2-40B4-BE49-F238E27FC236}">
                <a16:creationId xmlns:a16="http://schemas.microsoft.com/office/drawing/2014/main" id="{EEFB6266-3048-E3AA-834B-6AFED1940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0131" y="3226867"/>
            <a:ext cx="22145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lvl="0" defTabSz="914400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ja-JP" altLang="en-US" sz="1800" b="1" kern="0" dirty="0">
                <a:solidFill>
                  <a:srgbClr val="000000"/>
                </a:solidFill>
                <a:latin typeface="+mn-ea"/>
                <a:ea typeface="+mn-ea"/>
              </a:rPr>
              <a:t>細胞機能の制御</a:t>
            </a:r>
            <a:endParaRPr kumimoji="1" lang="en-US" altLang="ja-JP" sz="1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77" name="下矢印 41">
            <a:extLst>
              <a:ext uri="{FF2B5EF4-FFF2-40B4-BE49-F238E27FC236}">
                <a16:creationId xmlns:a16="http://schemas.microsoft.com/office/drawing/2014/main" id="{7AEA3886-061F-3AFB-47C1-84ED8E5536E0}"/>
              </a:ext>
            </a:extLst>
          </p:cNvPr>
          <p:cNvSpPr/>
          <p:nvPr/>
        </p:nvSpPr>
        <p:spPr>
          <a:xfrm>
            <a:off x="5733684" y="6038270"/>
            <a:ext cx="1214437" cy="357188"/>
          </a:xfrm>
          <a:prstGeom prst="downArrow">
            <a:avLst/>
          </a:prstGeom>
          <a:solidFill>
            <a:srgbClr val="BBE0E3"/>
          </a:solidFill>
          <a:ln w="25400" cap="flat" cmpd="sng" algn="ctr">
            <a:solidFill>
              <a:srgbClr val="BBE0E3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8" name="正方形/長方形 42">
            <a:extLst>
              <a:ext uri="{FF2B5EF4-FFF2-40B4-BE49-F238E27FC236}">
                <a16:creationId xmlns:a16="http://schemas.microsoft.com/office/drawing/2014/main" id="{3B6A53AE-D19E-3842-DE20-60581EE42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967" y="2831302"/>
            <a:ext cx="181171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Transcription</a:t>
            </a:r>
          </a:p>
        </p:txBody>
      </p:sp>
    </p:spTree>
    <p:extLst>
      <p:ext uri="{BB962C8B-B14F-4D97-AF65-F5344CB8AC3E}">
        <p14:creationId xmlns:p14="http://schemas.microsoft.com/office/powerpoint/2010/main" val="3769424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 animBg="1"/>
      <p:bldP spid="64" grpId="0"/>
      <p:bldP spid="65" grpId="0"/>
      <p:bldP spid="66" grpId="0" animBg="1"/>
      <p:bldP spid="72" grpId="0"/>
      <p:bldP spid="73" grpId="0"/>
      <p:bldP spid="76" grpId="0"/>
      <p:bldP spid="77" grpId="0" animBg="1"/>
      <p:bldP spid="7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1CB724-6E3F-5196-1799-DC809109E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遺伝子発現量</a:t>
            </a:r>
            <a:r>
              <a:rPr kumimoji="1" lang="ja-JP" altLang="en-US" dirty="0"/>
              <a:t>データのクラスタ解析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59B252F-3BD2-3949-4CE6-4EC156ED9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10</a:t>
            </a:fld>
            <a:endParaRPr kumimoji="1" lang="ja-JP" altLang="en-US"/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970A6B00-6215-B34D-18F6-C2C0B54B2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99" t="7910" r="3404" b="88329"/>
          <a:stretch>
            <a:fillRect/>
          </a:stretch>
        </p:blipFill>
        <p:spPr bwMode="auto">
          <a:xfrm>
            <a:off x="9188450" y="5888920"/>
            <a:ext cx="1223963" cy="11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16">
            <a:extLst>
              <a:ext uri="{FF2B5EF4-FFF2-40B4-BE49-F238E27FC236}">
                <a16:creationId xmlns:a16="http://schemas.microsoft.com/office/drawing/2014/main" id="{F78F9159-EE31-D660-819D-355E4E38A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0" y="5744457"/>
            <a:ext cx="5741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>
                <a:latin typeface="+mn-ea"/>
                <a:ea typeface="+mn-ea"/>
              </a:rPr>
              <a:t>low</a:t>
            </a:r>
          </a:p>
        </p:txBody>
      </p:sp>
      <p:sp>
        <p:nvSpPr>
          <p:cNvPr id="6" name="Text Box 17">
            <a:extLst>
              <a:ext uri="{FF2B5EF4-FFF2-40B4-BE49-F238E27FC236}">
                <a16:creationId xmlns:a16="http://schemas.microsoft.com/office/drawing/2014/main" id="{D25741DB-AB7E-8F6E-A695-869DBEFC6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5675" y="5744457"/>
            <a:ext cx="6687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>
                <a:latin typeface="+mn-ea"/>
                <a:ea typeface="+mn-ea"/>
              </a:rPr>
              <a:t>high</a:t>
            </a:r>
          </a:p>
        </p:txBody>
      </p:sp>
      <p:pic>
        <p:nvPicPr>
          <p:cNvPr id="7" name="Picture 18">
            <a:extLst>
              <a:ext uri="{FF2B5EF4-FFF2-40B4-BE49-F238E27FC236}">
                <a16:creationId xmlns:a16="http://schemas.microsoft.com/office/drawing/2014/main" id="{3CC75DEB-6F29-ADE6-2560-CCCC5B357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6288" y="3101270"/>
            <a:ext cx="2881312" cy="274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20">
            <a:extLst>
              <a:ext uri="{FF2B5EF4-FFF2-40B4-BE49-F238E27FC236}">
                <a16:creationId xmlns:a16="http://schemas.microsoft.com/office/drawing/2014/main" id="{D0E4F9E8-3ECF-A64C-ABF0-BDA1255ED2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0538" y="1783645"/>
            <a:ext cx="129394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b="1">
                <a:latin typeface="+mn-ea"/>
                <a:ea typeface="+mn-ea"/>
              </a:rPr>
              <a:t>Samples </a:t>
            </a:r>
          </a:p>
        </p:txBody>
      </p:sp>
      <p:sp>
        <p:nvSpPr>
          <p:cNvPr id="9" name="Text Box 21">
            <a:extLst>
              <a:ext uri="{FF2B5EF4-FFF2-40B4-BE49-F238E27FC236}">
                <a16:creationId xmlns:a16="http://schemas.microsoft.com/office/drawing/2014/main" id="{F3035D5F-85FD-1B45-1B49-96F550249E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9110" y="3917245"/>
            <a:ext cx="461665" cy="917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800" b="1">
                <a:latin typeface="+mn-ea"/>
                <a:ea typeface="+mn-ea"/>
              </a:rPr>
              <a:t>Genes </a:t>
            </a:r>
          </a:p>
        </p:txBody>
      </p:sp>
      <p:sp>
        <p:nvSpPr>
          <p:cNvPr id="10" name="Line 22">
            <a:extLst>
              <a:ext uri="{FF2B5EF4-FFF2-40B4-BE49-F238E27FC236}">
                <a16:creationId xmlns:a16="http://schemas.microsoft.com/office/drawing/2014/main" id="{C083B668-3FDC-099E-9937-A6AEFEEE889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0825" y="4709407"/>
            <a:ext cx="19431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1" name="Text Box 23">
            <a:extLst>
              <a:ext uri="{FF2B5EF4-FFF2-40B4-BE49-F238E27FC236}">
                <a16:creationId xmlns:a16="http://schemas.microsoft.com/office/drawing/2014/main" id="{1962DC64-3810-6923-4848-D1D69FC955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7988" y="3958520"/>
            <a:ext cx="160813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b="1">
                <a:solidFill>
                  <a:srgbClr val="E8182C"/>
                </a:solidFill>
                <a:latin typeface="+mn-ea"/>
                <a:ea typeface="+mn-ea"/>
              </a:rPr>
              <a:t>遺伝子の</a:t>
            </a:r>
            <a:endParaRPr lang="en-US" altLang="ja-JP" sz="2000" b="1">
              <a:solidFill>
                <a:srgbClr val="E8182C"/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b="1">
                <a:solidFill>
                  <a:srgbClr val="E8182C"/>
                </a:solidFill>
                <a:latin typeface="+mn-ea"/>
                <a:ea typeface="+mn-ea"/>
              </a:rPr>
              <a:t>クラスタリング</a:t>
            </a:r>
          </a:p>
        </p:txBody>
      </p:sp>
      <p:sp>
        <p:nvSpPr>
          <p:cNvPr id="12" name="Line 24">
            <a:extLst>
              <a:ext uri="{FF2B5EF4-FFF2-40B4-BE49-F238E27FC236}">
                <a16:creationId xmlns:a16="http://schemas.microsoft.com/office/drawing/2014/main" id="{0FE77E53-3805-7F4C-22FC-56FC5E32A2E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12050" y="5844470"/>
            <a:ext cx="0" cy="360362"/>
          </a:xfrm>
          <a:prstGeom prst="line">
            <a:avLst/>
          </a:prstGeom>
          <a:noFill/>
          <a:ln w="50800">
            <a:solidFill>
              <a:srgbClr val="00008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3" name="Text Box 28">
            <a:extLst>
              <a:ext uri="{FF2B5EF4-FFF2-40B4-BE49-F238E27FC236}">
                <a16:creationId xmlns:a16="http://schemas.microsoft.com/office/drawing/2014/main" id="{EE3DD690-E01E-CF17-E760-CEB19223E1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2388" y="1812220"/>
            <a:ext cx="21732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 b="1">
                <a:latin typeface="+mn-ea"/>
                <a:ea typeface="+mn-ea"/>
              </a:rPr>
              <a:t>悪性腫瘍</a:t>
            </a:r>
            <a:endParaRPr lang="en-US" altLang="ja-JP" sz="1800" b="1">
              <a:latin typeface="+mn-ea"/>
              <a:ea typeface="+mn-ea"/>
            </a:endParaRPr>
          </a:p>
        </p:txBody>
      </p:sp>
      <p:sp>
        <p:nvSpPr>
          <p:cNvPr id="14" name="Text Box 29">
            <a:extLst>
              <a:ext uri="{FF2B5EF4-FFF2-40B4-BE49-F238E27FC236}">
                <a16:creationId xmlns:a16="http://schemas.microsoft.com/office/drawing/2014/main" id="{26787D29-AD84-44BF-9B92-3D14EDDC7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9388" y="1829682"/>
            <a:ext cx="11080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 b="1" dirty="0">
                <a:latin typeface="+mn-ea"/>
                <a:ea typeface="+mn-ea"/>
              </a:rPr>
              <a:t>良性腫瘍</a:t>
            </a:r>
            <a:endParaRPr lang="en-US" altLang="ja-JP" sz="1800" b="1" dirty="0">
              <a:latin typeface="+mn-ea"/>
              <a:ea typeface="+mn-ea"/>
            </a:endParaRPr>
          </a:p>
        </p:txBody>
      </p:sp>
      <p:sp>
        <p:nvSpPr>
          <p:cNvPr id="15" name="Text Box 351">
            <a:extLst>
              <a:ext uri="{FF2B5EF4-FFF2-40B4-BE49-F238E27FC236}">
                <a16:creationId xmlns:a16="http://schemas.microsoft.com/office/drawing/2014/main" id="{78A7C898-99C3-3C8A-733B-3401C1CE9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4725" y="6244520"/>
            <a:ext cx="2878138" cy="400050"/>
          </a:xfrm>
          <a:prstGeom prst="rect">
            <a:avLst/>
          </a:prstGeom>
          <a:noFill/>
          <a:ln w="22225" algn="ctr">
            <a:solidFill>
              <a:srgbClr val="000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b="1">
                <a:solidFill>
                  <a:srgbClr val="0066FF"/>
                </a:solidFill>
                <a:latin typeface="+mn-ea"/>
                <a:ea typeface="+mn-ea"/>
              </a:rPr>
              <a:t>病態の分類・患者の診断</a:t>
            </a:r>
            <a:endParaRPr lang="en-US" altLang="ja-JP" sz="2000" b="1">
              <a:solidFill>
                <a:srgbClr val="0066FF"/>
              </a:solidFill>
              <a:latin typeface="+mn-ea"/>
              <a:ea typeface="+mn-ea"/>
            </a:endParaRPr>
          </a:p>
        </p:txBody>
      </p:sp>
      <p:sp>
        <p:nvSpPr>
          <p:cNvPr id="16" name="テキスト ボックス 30">
            <a:extLst>
              <a:ext uri="{FF2B5EF4-FFF2-40B4-BE49-F238E27FC236}">
                <a16:creationId xmlns:a16="http://schemas.microsoft.com/office/drawing/2014/main" id="{960479BB-B066-7580-BAA4-D82B84F7374A}"/>
              </a:ext>
            </a:extLst>
          </p:cNvPr>
          <p:cNvSpPr txBox="1">
            <a:spLocks noChangeArrowheads="1"/>
          </p:cNvSpPr>
          <p:nvPr/>
        </p:nvSpPr>
        <p:spPr bwMode="auto">
          <a:xfrm rot="18276838">
            <a:off x="6286839" y="2506235"/>
            <a:ext cx="8819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latin typeface="+mn-ea"/>
                <a:ea typeface="+mn-ea"/>
              </a:rPr>
              <a:t>患者</a:t>
            </a:r>
            <a:r>
              <a:rPr lang="en-US" altLang="ja-JP" sz="1800">
                <a:latin typeface="+mn-ea"/>
                <a:ea typeface="+mn-ea"/>
              </a:rPr>
              <a:t> A</a:t>
            </a:r>
            <a:endParaRPr lang="ja-JP" altLang="en-US" sz="1800">
              <a:latin typeface="+mn-ea"/>
              <a:ea typeface="+mn-ea"/>
            </a:endParaRPr>
          </a:p>
        </p:txBody>
      </p:sp>
      <p:sp>
        <p:nvSpPr>
          <p:cNvPr id="17" name="テキスト ボックス 32">
            <a:extLst>
              <a:ext uri="{FF2B5EF4-FFF2-40B4-BE49-F238E27FC236}">
                <a16:creationId xmlns:a16="http://schemas.microsoft.com/office/drawing/2014/main" id="{EA9CA251-EB7F-947F-8023-C144B6EF4DD5}"/>
              </a:ext>
            </a:extLst>
          </p:cNvPr>
          <p:cNvSpPr txBox="1">
            <a:spLocks noChangeArrowheads="1"/>
          </p:cNvSpPr>
          <p:nvPr/>
        </p:nvSpPr>
        <p:spPr bwMode="auto">
          <a:xfrm rot="18276838">
            <a:off x="7422356" y="2501989"/>
            <a:ext cx="8778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 dirty="0">
                <a:latin typeface="+mn-ea"/>
                <a:ea typeface="+mn-ea"/>
              </a:rPr>
              <a:t>患者</a:t>
            </a:r>
            <a:r>
              <a:rPr lang="en-US" altLang="ja-JP" sz="1800" dirty="0">
                <a:latin typeface="+mn-ea"/>
                <a:ea typeface="+mn-ea"/>
              </a:rPr>
              <a:t> C</a:t>
            </a:r>
            <a:endParaRPr lang="ja-JP" altLang="en-US" sz="1800" dirty="0">
              <a:latin typeface="+mn-ea"/>
              <a:ea typeface="+mn-ea"/>
            </a:endParaRPr>
          </a:p>
        </p:txBody>
      </p:sp>
      <p:sp>
        <p:nvSpPr>
          <p:cNvPr id="18" name="テキスト ボックス 33">
            <a:extLst>
              <a:ext uri="{FF2B5EF4-FFF2-40B4-BE49-F238E27FC236}">
                <a16:creationId xmlns:a16="http://schemas.microsoft.com/office/drawing/2014/main" id="{9367AFF0-D43C-5D46-510C-289B80E7A5D0}"/>
              </a:ext>
            </a:extLst>
          </p:cNvPr>
          <p:cNvSpPr txBox="1">
            <a:spLocks noChangeArrowheads="1"/>
          </p:cNvSpPr>
          <p:nvPr/>
        </p:nvSpPr>
        <p:spPr bwMode="auto">
          <a:xfrm rot="18276838">
            <a:off x="7824340" y="2501473"/>
            <a:ext cx="8803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latin typeface="+mn-ea"/>
                <a:ea typeface="+mn-ea"/>
              </a:rPr>
              <a:t>患者</a:t>
            </a:r>
            <a:r>
              <a:rPr lang="en-US" altLang="ja-JP" sz="1800">
                <a:latin typeface="+mn-ea"/>
                <a:ea typeface="+mn-ea"/>
              </a:rPr>
              <a:t> B</a:t>
            </a:r>
            <a:endParaRPr lang="ja-JP" altLang="en-US" sz="1800">
              <a:latin typeface="+mn-ea"/>
              <a:ea typeface="+mn-ea"/>
            </a:endParaRPr>
          </a:p>
        </p:txBody>
      </p:sp>
      <p:cxnSp>
        <p:nvCxnSpPr>
          <p:cNvPr id="19" name="直線矢印コネクタ 35">
            <a:extLst>
              <a:ext uri="{FF2B5EF4-FFF2-40B4-BE49-F238E27FC236}">
                <a16:creationId xmlns:a16="http://schemas.microsoft.com/office/drawing/2014/main" id="{6765B489-1A69-4AD6-D4E8-6CC871715A5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503988" y="2258307"/>
            <a:ext cx="1000125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" name="直線矢印コネクタ 36">
            <a:extLst>
              <a:ext uri="{FF2B5EF4-FFF2-40B4-BE49-F238E27FC236}">
                <a16:creationId xmlns:a16="http://schemas.microsoft.com/office/drawing/2014/main" id="{C64ABB1D-1C27-2C07-8506-A8049A00089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00975" y="2258307"/>
            <a:ext cx="1000125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直線矢印コネクタ 38">
            <a:extLst>
              <a:ext uri="{FF2B5EF4-FFF2-40B4-BE49-F238E27FC236}">
                <a16:creationId xmlns:a16="http://schemas.microsoft.com/office/drawing/2014/main" id="{DD4D605D-E36E-55E8-C263-A03CEF897D07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1246188" y="4528432"/>
            <a:ext cx="2144712" cy="1588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直線矢印コネクタ 39">
            <a:extLst>
              <a:ext uri="{FF2B5EF4-FFF2-40B4-BE49-F238E27FC236}">
                <a16:creationId xmlns:a16="http://schemas.microsoft.com/office/drawing/2014/main" id="{58983A10-0E15-2935-DAB9-28E60B8BC06E}"/>
              </a:ext>
            </a:extLst>
          </p:cNvPr>
          <p:cNvCxnSpPr>
            <a:cxnSpLocks noChangeShapeType="1"/>
          </p:cNvCxnSpPr>
          <p:nvPr/>
        </p:nvCxnSpPr>
        <p:spPr bwMode="auto">
          <a:xfrm rot="5400000">
            <a:off x="5004594" y="4553039"/>
            <a:ext cx="2143125" cy="1587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直線矢印コネクタ 40">
            <a:extLst>
              <a:ext uri="{FF2B5EF4-FFF2-40B4-BE49-F238E27FC236}">
                <a16:creationId xmlns:a16="http://schemas.microsoft.com/office/drawing/2014/main" id="{F007037F-66AB-0D53-4556-0D0B25AE76A0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74988" y="2242432"/>
            <a:ext cx="1073150" cy="1588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arrow" w="med" len="med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正方形/長方形 48">
            <a:extLst>
              <a:ext uri="{FF2B5EF4-FFF2-40B4-BE49-F238E27FC236}">
                <a16:creationId xmlns:a16="http://schemas.microsoft.com/office/drawing/2014/main" id="{80B5736F-5A97-B293-967F-7FA94BD3E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4300" y="3958520"/>
            <a:ext cx="1785938" cy="400050"/>
          </a:xfrm>
          <a:prstGeom prst="rect">
            <a:avLst/>
          </a:prstGeom>
          <a:noFill/>
          <a:ln w="22225">
            <a:solidFill>
              <a:srgbClr val="E8182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b="1">
                <a:solidFill>
                  <a:srgbClr val="E8182C"/>
                </a:solidFill>
                <a:latin typeface="+mn-ea"/>
                <a:ea typeface="+mn-ea"/>
              </a:rPr>
              <a:t>癌関連遺伝子</a:t>
            </a:r>
            <a:endParaRPr lang="en-US" altLang="ja-JP" sz="2000" b="1">
              <a:solidFill>
                <a:srgbClr val="E8182C"/>
              </a:solidFill>
              <a:latin typeface="+mn-ea"/>
              <a:ea typeface="+mn-ea"/>
            </a:endParaRPr>
          </a:p>
        </p:txBody>
      </p:sp>
      <p:sp>
        <p:nvSpPr>
          <p:cNvPr id="25" name="テキスト ボックス 70">
            <a:extLst>
              <a:ext uri="{FF2B5EF4-FFF2-40B4-BE49-F238E27FC236}">
                <a16:creationId xmlns:a16="http://schemas.microsoft.com/office/drawing/2014/main" id="{412B577D-2D94-7A0A-B1C5-2217D58655FB}"/>
              </a:ext>
            </a:extLst>
          </p:cNvPr>
          <p:cNvSpPr txBox="1">
            <a:spLocks noChangeArrowheads="1"/>
          </p:cNvSpPr>
          <p:nvPr/>
        </p:nvSpPr>
        <p:spPr bwMode="auto">
          <a:xfrm rot="18276838">
            <a:off x="3553180" y="2430035"/>
            <a:ext cx="8787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latin typeface="+mn-ea"/>
                <a:ea typeface="+mn-ea"/>
              </a:rPr>
              <a:t>患者</a:t>
            </a:r>
            <a:r>
              <a:rPr lang="en-US" altLang="ja-JP" sz="1800">
                <a:latin typeface="+mn-ea"/>
                <a:ea typeface="+mn-ea"/>
              </a:rPr>
              <a:t> X</a:t>
            </a:r>
            <a:endParaRPr lang="ja-JP" altLang="en-US" sz="1800">
              <a:latin typeface="+mn-ea"/>
              <a:ea typeface="+mn-ea"/>
            </a:endParaRPr>
          </a:p>
        </p:txBody>
      </p:sp>
      <p:sp>
        <p:nvSpPr>
          <p:cNvPr id="26" name="テキスト ボックス 27">
            <a:extLst>
              <a:ext uri="{FF2B5EF4-FFF2-40B4-BE49-F238E27FC236}">
                <a16:creationId xmlns:a16="http://schemas.microsoft.com/office/drawing/2014/main" id="{63FB3436-E5AD-0B8C-477C-ECF2C6B8D383}"/>
              </a:ext>
            </a:extLst>
          </p:cNvPr>
          <p:cNvSpPr txBox="1">
            <a:spLocks noChangeArrowheads="1"/>
          </p:cNvSpPr>
          <p:nvPr/>
        </p:nvSpPr>
        <p:spPr bwMode="auto">
          <a:xfrm rot="18276838">
            <a:off x="2472077" y="2458610"/>
            <a:ext cx="88197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latin typeface="+mn-ea"/>
                <a:ea typeface="+mn-ea"/>
              </a:rPr>
              <a:t>患者</a:t>
            </a:r>
            <a:r>
              <a:rPr lang="en-US" altLang="ja-JP" sz="1800">
                <a:latin typeface="+mn-ea"/>
                <a:ea typeface="+mn-ea"/>
              </a:rPr>
              <a:t> A</a:t>
            </a:r>
            <a:endParaRPr lang="ja-JP" altLang="en-US" sz="1800">
              <a:latin typeface="+mn-ea"/>
              <a:ea typeface="+mn-ea"/>
            </a:endParaRPr>
          </a:p>
        </p:txBody>
      </p:sp>
      <p:sp>
        <p:nvSpPr>
          <p:cNvPr id="27" name="テキスト ボックス 28">
            <a:extLst>
              <a:ext uri="{FF2B5EF4-FFF2-40B4-BE49-F238E27FC236}">
                <a16:creationId xmlns:a16="http://schemas.microsoft.com/office/drawing/2014/main" id="{B5F1C211-60F0-2D01-D3C8-BDEA758226B3}"/>
              </a:ext>
            </a:extLst>
          </p:cNvPr>
          <p:cNvSpPr txBox="1">
            <a:spLocks noChangeArrowheads="1"/>
          </p:cNvSpPr>
          <p:nvPr/>
        </p:nvSpPr>
        <p:spPr bwMode="auto">
          <a:xfrm rot="18276838">
            <a:off x="2744341" y="2458610"/>
            <a:ext cx="88036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latin typeface="+mn-ea"/>
                <a:ea typeface="+mn-ea"/>
              </a:rPr>
              <a:t>患者</a:t>
            </a:r>
            <a:r>
              <a:rPr lang="en-US" altLang="ja-JP" sz="1800">
                <a:latin typeface="+mn-ea"/>
                <a:ea typeface="+mn-ea"/>
              </a:rPr>
              <a:t> B</a:t>
            </a:r>
            <a:endParaRPr lang="ja-JP" altLang="en-US" sz="1800">
              <a:latin typeface="+mn-ea"/>
              <a:ea typeface="+mn-ea"/>
            </a:endParaRPr>
          </a:p>
        </p:txBody>
      </p:sp>
      <p:sp>
        <p:nvSpPr>
          <p:cNvPr id="28" name="Rectangle 38">
            <a:extLst>
              <a:ext uri="{FF2B5EF4-FFF2-40B4-BE49-F238E27FC236}">
                <a16:creationId xmlns:a16="http://schemas.microsoft.com/office/drawing/2014/main" id="{88C072DD-3CAE-6895-25FC-DC8E41E1B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4268082"/>
            <a:ext cx="217487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29" name="Rectangle 39">
            <a:extLst>
              <a:ext uri="{FF2B5EF4-FFF2-40B4-BE49-F238E27FC236}">
                <a16:creationId xmlns:a16="http://schemas.microsoft.com/office/drawing/2014/main" id="{4E19FF59-B780-F2AD-FCBE-19FF89197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63" y="4268082"/>
            <a:ext cx="2190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30" name="Rectangle 40">
            <a:extLst>
              <a:ext uri="{FF2B5EF4-FFF2-40B4-BE49-F238E27FC236}">
                <a16:creationId xmlns:a16="http://schemas.microsoft.com/office/drawing/2014/main" id="{7085A82F-D4B2-78D1-AC90-EFC0E9729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4268082"/>
            <a:ext cx="217488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31" name="Rectangle 41">
            <a:extLst>
              <a:ext uri="{FF2B5EF4-FFF2-40B4-BE49-F238E27FC236}">
                <a16:creationId xmlns:a16="http://schemas.microsoft.com/office/drawing/2014/main" id="{FA8060A3-0767-713A-EC36-4BAD3E3CA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4268082"/>
            <a:ext cx="217487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32" name="Rectangle 42">
            <a:extLst>
              <a:ext uri="{FF2B5EF4-FFF2-40B4-BE49-F238E27FC236}">
                <a16:creationId xmlns:a16="http://schemas.microsoft.com/office/drawing/2014/main" id="{BBEE062F-F7E4-1F58-B21E-A795592F8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4268082"/>
            <a:ext cx="2190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33" name="Rectangle 43">
            <a:extLst>
              <a:ext uri="{FF2B5EF4-FFF2-40B4-BE49-F238E27FC236}">
                <a16:creationId xmlns:a16="http://schemas.microsoft.com/office/drawing/2014/main" id="{E8EC9439-0AEA-BAED-D6EF-C17C0D150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4268082"/>
            <a:ext cx="217488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34" name="Rectangle 44">
            <a:extLst>
              <a:ext uri="{FF2B5EF4-FFF2-40B4-BE49-F238E27FC236}">
                <a16:creationId xmlns:a16="http://schemas.microsoft.com/office/drawing/2014/main" id="{CDBBF29C-8CE6-8F4F-80E9-31EBB702A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4482395"/>
            <a:ext cx="217487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35" name="Rectangle 45">
            <a:extLst>
              <a:ext uri="{FF2B5EF4-FFF2-40B4-BE49-F238E27FC236}">
                <a16:creationId xmlns:a16="http://schemas.microsoft.com/office/drawing/2014/main" id="{E52DB9FE-CF24-B812-6555-B652BCE40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63" y="4482395"/>
            <a:ext cx="219075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36" name="Rectangle 46">
            <a:extLst>
              <a:ext uri="{FF2B5EF4-FFF2-40B4-BE49-F238E27FC236}">
                <a16:creationId xmlns:a16="http://schemas.microsoft.com/office/drawing/2014/main" id="{A39CF892-3241-A077-CD71-ECECC5FE07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4482395"/>
            <a:ext cx="217488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37" name="Rectangle 47">
            <a:extLst>
              <a:ext uri="{FF2B5EF4-FFF2-40B4-BE49-F238E27FC236}">
                <a16:creationId xmlns:a16="http://schemas.microsoft.com/office/drawing/2014/main" id="{CFDE667C-661D-42BB-6C02-CFAABDC9A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4482395"/>
            <a:ext cx="217487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38" name="Rectangle 48">
            <a:extLst>
              <a:ext uri="{FF2B5EF4-FFF2-40B4-BE49-F238E27FC236}">
                <a16:creationId xmlns:a16="http://schemas.microsoft.com/office/drawing/2014/main" id="{DB4D2C59-BB5D-7E6F-9A5F-87E04E9B7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4482395"/>
            <a:ext cx="219075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39" name="Rectangle 49">
            <a:extLst>
              <a:ext uri="{FF2B5EF4-FFF2-40B4-BE49-F238E27FC236}">
                <a16:creationId xmlns:a16="http://schemas.microsoft.com/office/drawing/2014/main" id="{0740F024-9B99-C4B9-4A14-577A4AF9B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4482395"/>
            <a:ext cx="217488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40" name="Rectangle 54">
            <a:extLst>
              <a:ext uri="{FF2B5EF4-FFF2-40B4-BE49-F238E27FC236}">
                <a16:creationId xmlns:a16="http://schemas.microsoft.com/office/drawing/2014/main" id="{C00B43FA-A8A5-BEAB-85C6-802BCE853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3196520"/>
            <a:ext cx="219075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41" name="Rectangle 55">
            <a:extLst>
              <a:ext uri="{FF2B5EF4-FFF2-40B4-BE49-F238E27FC236}">
                <a16:creationId xmlns:a16="http://schemas.microsoft.com/office/drawing/2014/main" id="{FEDEA17C-A641-D14E-74A2-581F4174E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3196520"/>
            <a:ext cx="217488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en-US" altLang="ja-JP" sz="800">
              <a:latin typeface="+mn-ea"/>
              <a:ea typeface="+mn-ea"/>
            </a:endParaRPr>
          </a:p>
        </p:txBody>
      </p:sp>
      <p:sp>
        <p:nvSpPr>
          <p:cNvPr id="42" name="Rectangle 56">
            <a:extLst>
              <a:ext uri="{FF2B5EF4-FFF2-40B4-BE49-F238E27FC236}">
                <a16:creationId xmlns:a16="http://schemas.microsoft.com/office/drawing/2014/main" id="{579C690E-3E86-E9D2-0EB8-B923AFBCC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3410832"/>
            <a:ext cx="217487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43" name="Rectangle 57">
            <a:extLst>
              <a:ext uri="{FF2B5EF4-FFF2-40B4-BE49-F238E27FC236}">
                <a16:creationId xmlns:a16="http://schemas.microsoft.com/office/drawing/2014/main" id="{49D0EF8B-3F2F-9E75-91CD-39728A588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63" y="3410832"/>
            <a:ext cx="2190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44" name="Rectangle 58">
            <a:extLst>
              <a:ext uri="{FF2B5EF4-FFF2-40B4-BE49-F238E27FC236}">
                <a16:creationId xmlns:a16="http://schemas.microsoft.com/office/drawing/2014/main" id="{B48C5BFD-FFE7-FA93-D34A-DD925A2F5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3410832"/>
            <a:ext cx="217488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45" name="Rectangle 59">
            <a:extLst>
              <a:ext uri="{FF2B5EF4-FFF2-40B4-BE49-F238E27FC236}">
                <a16:creationId xmlns:a16="http://schemas.microsoft.com/office/drawing/2014/main" id="{02556096-06D1-4226-E969-ADE23EA26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3410832"/>
            <a:ext cx="217487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46" name="Rectangle 60">
            <a:extLst>
              <a:ext uri="{FF2B5EF4-FFF2-40B4-BE49-F238E27FC236}">
                <a16:creationId xmlns:a16="http://schemas.microsoft.com/office/drawing/2014/main" id="{AA73CF64-A78B-EEEB-8E3D-D4C083BF0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3410832"/>
            <a:ext cx="2190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47" name="Rectangle 61">
            <a:extLst>
              <a:ext uri="{FF2B5EF4-FFF2-40B4-BE49-F238E27FC236}">
                <a16:creationId xmlns:a16="http://schemas.microsoft.com/office/drawing/2014/main" id="{808891B0-99CC-BA1A-A468-F72A876FB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3410832"/>
            <a:ext cx="217488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48" name="Rectangle 62">
            <a:extLst>
              <a:ext uri="{FF2B5EF4-FFF2-40B4-BE49-F238E27FC236}">
                <a16:creationId xmlns:a16="http://schemas.microsoft.com/office/drawing/2014/main" id="{213D0428-C30D-875E-96A5-C3A6887DA3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5126920"/>
            <a:ext cx="217487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49" name="Rectangle 63">
            <a:extLst>
              <a:ext uri="{FF2B5EF4-FFF2-40B4-BE49-F238E27FC236}">
                <a16:creationId xmlns:a16="http://schemas.microsoft.com/office/drawing/2014/main" id="{C1F1E830-BA9A-39EE-4146-0E63B6DEA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63" y="5126920"/>
            <a:ext cx="219075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50" name="Rectangle 64">
            <a:extLst>
              <a:ext uri="{FF2B5EF4-FFF2-40B4-BE49-F238E27FC236}">
                <a16:creationId xmlns:a16="http://schemas.microsoft.com/office/drawing/2014/main" id="{7E07F7A5-8D13-1D99-A475-27C8628D7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5126920"/>
            <a:ext cx="217488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51" name="Rectangle 65">
            <a:extLst>
              <a:ext uri="{FF2B5EF4-FFF2-40B4-BE49-F238E27FC236}">
                <a16:creationId xmlns:a16="http://schemas.microsoft.com/office/drawing/2014/main" id="{575BCB46-561F-E8B2-4E0A-A576D951F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5126920"/>
            <a:ext cx="217487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52" name="Rectangle 66">
            <a:extLst>
              <a:ext uri="{FF2B5EF4-FFF2-40B4-BE49-F238E27FC236}">
                <a16:creationId xmlns:a16="http://schemas.microsoft.com/office/drawing/2014/main" id="{4CDD0A03-9C55-16FC-3ACC-1B780E1BD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5126920"/>
            <a:ext cx="219075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53" name="Rectangle 67">
            <a:extLst>
              <a:ext uri="{FF2B5EF4-FFF2-40B4-BE49-F238E27FC236}">
                <a16:creationId xmlns:a16="http://schemas.microsoft.com/office/drawing/2014/main" id="{D97D9D50-C1BB-CDE0-8AA2-10D3D6471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5126920"/>
            <a:ext cx="217488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54" name="Rectangle 68">
            <a:extLst>
              <a:ext uri="{FF2B5EF4-FFF2-40B4-BE49-F238E27FC236}">
                <a16:creationId xmlns:a16="http://schemas.microsoft.com/office/drawing/2014/main" id="{E1F46D91-3A04-E71E-2FC6-B94F7AF6B9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5341232"/>
            <a:ext cx="217487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55" name="Rectangle 69">
            <a:extLst>
              <a:ext uri="{FF2B5EF4-FFF2-40B4-BE49-F238E27FC236}">
                <a16:creationId xmlns:a16="http://schemas.microsoft.com/office/drawing/2014/main" id="{510C9C91-0212-1097-0011-9215A5955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63" y="5341232"/>
            <a:ext cx="2190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56" name="Rectangle 70">
            <a:extLst>
              <a:ext uri="{FF2B5EF4-FFF2-40B4-BE49-F238E27FC236}">
                <a16:creationId xmlns:a16="http://schemas.microsoft.com/office/drawing/2014/main" id="{6DCCE33E-37B6-6764-2802-744CB9141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5341232"/>
            <a:ext cx="217488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57" name="Rectangle 71">
            <a:extLst>
              <a:ext uri="{FF2B5EF4-FFF2-40B4-BE49-F238E27FC236}">
                <a16:creationId xmlns:a16="http://schemas.microsoft.com/office/drawing/2014/main" id="{F5CD807E-7F37-6153-BDCC-1CA6049BA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5341232"/>
            <a:ext cx="217487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58" name="Rectangle 72">
            <a:extLst>
              <a:ext uri="{FF2B5EF4-FFF2-40B4-BE49-F238E27FC236}">
                <a16:creationId xmlns:a16="http://schemas.microsoft.com/office/drawing/2014/main" id="{51B55EC6-F52E-49A6-8CA6-0DE67DA2D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5341232"/>
            <a:ext cx="2190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59" name="Rectangle 73">
            <a:extLst>
              <a:ext uri="{FF2B5EF4-FFF2-40B4-BE49-F238E27FC236}">
                <a16:creationId xmlns:a16="http://schemas.microsoft.com/office/drawing/2014/main" id="{9A706DD2-321E-783D-2789-8D2417DCF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5341232"/>
            <a:ext cx="217488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60" name="Rectangle 74">
            <a:extLst>
              <a:ext uri="{FF2B5EF4-FFF2-40B4-BE49-F238E27FC236}">
                <a16:creationId xmlns:a16="http://schemas.microsoft.com/office/drawing/2014/main" id="{3EC0B958-339C-11E3-0469-3097A5582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4053770"/>
            <a:ext cx="217487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61" name="Rectangle 75">
            <a:extLst>
              <a:ext uri="{FF2B5EF4-FFF2-40B4-BE49-F238E27FC236}">
                <a16:creationId xmlns:a16="http://schemas.microsoft.com/office/drawing/2014/main" id="{3D868055-A076-EAA1-CB6E-2912676C8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63" y="4053770"/>
            <a:ext cx="219075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62" name="Rectangle 76">
            <a:extLst>
              <a:ext uri="{FF2B5EF4-FFF2-40B4-BE49-F238E27FC236}">
                <a16:creationId xmlns:a16="http://schemas.microsoft.com/office/drawing/2014/main" id="{81B54213-65B8-96FE-E8ED-721400BD1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4053770"/>
            <a:ext cx="217488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63" name="Rectangle 77">
            <a:extLst>
              <a:ext uri="{FF2B5EF4-FFF2-40B4-BE49-F238E27FC236}">
                <a16:creationId xmlns:a16="http://schemas.microsoft.com/office/drawing/2014/main" id="{FF060DBF-3445-4E63-4148-2AA55830C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4053770"/>
            <a:ext cx="217487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64" name="Rectangle 78">
            <a:extLst>
              <a:ext uri="{FF2B5EF4-FFF2-40B4-BE49-F238E27FC236}">
                <a16:creationId xmlns:a16="http://schemas.microsoft.com/office/drawing/2014/main" id="{D0F2F093-12A9-C830-3B3E-5BD180E2E9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4053770"/>
            <a:ext cx="219075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65" name="Rectangle 79">
            <a:extLst>
              <a:ext uri="{FF2B5EF4-FFF2-40B4-BE49-F238E27FC236}">
                <a16:creationId xmlns:a16="http://schemas.microsoft.com/office/drawing/2014/main" id="{0A3D7AED-7D50-1A36-878D-E6935C93F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4053770"/>
            <a:ext cx="217488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66" name="Rectangle 80">
            <a:extLst>
              <a:ext uri="{FF2B5EF4-FFF2-40B4-BE49-F238E27FC236}">
                <a16:creationId xmlns:a16="http://schemas.microsoft.com/office/drawing/2014/main" id="{06CC5C03-D2F1-2E71-14CE-D698740FF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4698295"/>
            <a:ext cx="217487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67" name="Rectangle 81">
            <a:extLst>
              <a:ext uri="{FF2B5EF4-FFF2-40B4-BE49-F238E27FC236}">
                <a16:creationId xmlns:a16="http://schemas.microsoft.com/office/drawing/2014/main" id="{433E6171-66A9-2010-0C4E-475C0829C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63" y="4698295"/>
            <a:ext cx="219075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68" name="Rectangle 82">
            <a:extLst>
              <a:ext uri="{FF2B5EF4-FFF2-40B4-BE49-F238E27FC236}">
                <a16:creationId xmlns:a16="http://schemas.microsoft.com/office/drawing/2014/main" id="{F73CB301-F2E8-2A2D-9F77-6A94DB31B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4698295"/>
            <a:ext cx="217488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69" name="Rectangle 83">
            <a:extLst>
              <a:ext uri="{FF2B5EF4-FFF2-40B4-BE49-F238E27FC236}">
                <a16:creationId xmlns:a16="http://schemas.microsoft.com/office/drawing/2014/main" id="{F67C9DDB-9453-26DB-3F73-51B1BBF3D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4698295"/>
            <a:ext cx="217487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70" name="Rectangle 84">
            <a:extLst>
              <a:ext uri="{FF2B5EF4-FFF2-40B4-BE49-F238E27FC236}">
                <a16:creationId xmlns:a16="http://schemas.microsoft.com/office/drawing/2014/main" id="{A30ACEBF-7A6E-4618-C463-AAB754EC2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4698295"/>
            <a:ext cx="219075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71" name="Rectangle 85">
            <a:extLst>
              <a:ext uri="{FF2B5EF4-FFF2-40B4-BE49-F238E27FC236}">
                <a16:creationId xmlns:a16="http://schemas.microsoft.com/office/drawing/2014/main" id="{0669FFF7-2B13-BB17-0A0B-561D0A10A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4698295"/>
            <a:ext cx="217488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72" name="Rectangle 86">
            <a:extLst>
              <a:ext uri="{FF2B5EF4-FFF2-40B4-BE49-F238E27FC236}">
                <a16:creationId xmlns:a16="http://schemas.microsoft.com/office/drawing/2014/main" id="{71B812A5-3ADD-04F0-CFBB-25B8E181E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4912607"/>
            <a:ext cx="217487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73" name="Rectangle 87">
            <a:extLst>
              <a:ext uri="{FF2B5EF4-FFF2-40B4-BE49-F238E27FC236}">
                <a16:creationId xmlns:a16="http://schemas.microsoft.com/office/drawing/2014/main" id="{C58EF675-334B-129B-7C72-610A4FA0C2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63" y="4912607"/>
            <a:ext cx="2190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74" name="Rectangle 88">
            <a:extLst>
              <a:ext uri="{FF2B5EF4-FFF2-40B4-BE49-F238E27FC236}">
                <a16:creationId xmlns:a16="http://schemas.microsoft.com/office/drawing/2014/main" id="{679A4A1C-C02B-E3E1-9258-50FA2CC5E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4912607"/>
            <a:ext cx="217488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75" name="Rectangle 89">
            <a:extLst>
              <a:ext uri="{FF2B5EF4-FFF2-40B4-BE49-F238E27FC236}">
                <a16:creationId xmlns:a16="http://schemas.microsoft.com/office/drawing/2014/main" id="{EF3AC8FF-5F4B-7A02-AE5A-3619D4C95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4912607"/>
            <a:ext cx="217487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76" name="Rectangle 90">
            <a:extLst>
              <a:ext uri="{FF2B5EF4-FFF2-40B4-BE49-F238E27FC236}">
                <a16:creationId xmlns:a16="http://schemas.microsoft.com/office/drawing/2014/main" id="{E6D76363-65C5-D360-8986-CCBC31BC41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4912607"/>
            <a:ext cx="2190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77" name="Rectangle 91">
            <a:extLst>
              <a:ext uri="{FF2B5EF4-FFF2-40B4-BE49-F238E27FC236}">
                <a16:creationId xmlns:a16="http://schemas.microsoft.com/office/drawing/2014/main" id="{C0032FBD-D1EB-A078-6E93-38928B9EC2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4912607"/>
            <a:ext cx="217488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78" name="Rectangle 92">
            <a:extLst>
              <a:ext uri="{FF2B5EF4-FFF2-40B4-BE49-F238E27FC236}">
                <a16:creationId xmlns:a16="http://schemas.microsoft.com/office/drawing/2014/main" id="{9D1824FE-C542-271E-B397-3978FD7B7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5555545"/>
            <a:ext cx="217487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79" name="Rectangle 93">
            <a:extLst>
              <a:ext uri="{FF2B5EF4-FFF2-40B4-BE49-F238E27FC236}">
                <a16:creationId xmlns:a16="http://schemas.microsoft.com/office/drawing/2014/main" id="{2022C80F-DBE9-00BF-0C8B-359D68AC7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63" y="5555545"/>
            <a:ext cx="219075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80" name="Rectangle 94">
            <a:extLst>
              <a:ext uri="{FF2B5EF4-FFF2-40B4-BE49-F238E27FC236}">
                <a16:creationId xmlns:a16="http://schemas.microsoft.com/office/drawing/2014/main" id="{4707ACA9-2B93-4359-3FDF-75E96AE11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5555545"/>
            <a:ext cx="217488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81" name="Rectangle 95">
            <a:extLst>
              <a:ext uri="{FF2B5EF4-FFF2-40B4-BE49-F238E27FC236}">
                <a16:creationId xmlns:a16="http://schemas.microsoft.com/office/drawing/2014/main" id="{EF1B4CC6-2F80-6523-D9AF-E0EE32021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5555545"/>
            <a:ext cx="217487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82" name="Rectangle 96">
            <a:extLst>
              <a:ext uri="{FF2B5EF4-FFF2-40B4-BE49-F238E27FC236}">
                <a16:creationId xmlns:a16="http://schemas.microsoft.com/office/drawing/2014/main" id="{B1FFD078-0967-7088-0ADD-7DE48E4D3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5555545"/>
            <a:ext cx="219075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83" name="Rectangle 97">
            <a:extLst>
              <a:ext uri="{FF2B5EF4-FFF2-40B4-BE49-F238E27FC236}">
                <a16:creationId xmlns:a16="http://schemas.microsoft.com/office/drawing/2014/main" id="{6ADF279C-7482-C53F-11F1-7AFE911D6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5555545"/>
            <a:ext cx="217488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84" name="Rectangle 98">
            <a:extLst>
              <a:ext uri="{FF2B5EF4-FFF2-40B4-BE49-F238E27FC236}">
                <a16:creationId xmlns:a16="http://schemas.microsoft.com/office/drawing/2014/main" id="{2C92FAC6-B5DF-720D-10D1-2C40B81C8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5769857"/>
            <a:ext cx="217487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85" name="Rectangle 99">
            <a:extLst>
              <a:ext uri="{FF2B5EF4-FFF2-40B4-BE49-F238E27FC236}">
                <a16:creationId xmlns:a16="http://schemas.microsoft.com/office/drawing/2014/main" id="{064D6770-99A8-F257-53A7-C301D59EA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63" y="5769857"/>
            <a:ext cx="2190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86" name="Rectangle 100">
            <a:extLst>
              <a:ext uri="{FF2B5EF4-FFF2-40B4-BE49-F238E27FC236}">
                <a16:creationId xmlns:a16="http://schemas.microsoft.com/office/drawing/2014/main" id="{65273108-9ED9-EEF4-8F64-3F77A5DB0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5769857"/>
            <a:ext cx="217488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87" name="Rectangle 101">
            <a:extLst>
              <a:ext uri="{FF2B5EF4-FFF2-40B4-BE49-F238E27FC236}">
                <a16:creationId xmlns:a16="http://schemas.microsoft.com/office/drawing/2014/main" id="{D7306814-790D-302F-FA06-05CC9B008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5769857"/>
            <a:ext cx="217487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88" name="Rectangle 102">
            <a:extLst>
              <a:ext uri="{FF2B5EF4-FFF2-40B4-BE49-F238E27FC236}">
                <a16:creationId xmlns:a16="http://schemas.microsoft.com/office/drawing/2014/main" id="{A193A05A-891E-7AC2-6E30-4773D6A52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5769857"/>
            <a:ext cx="2190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89" name="Rectangle 103">
            <a:extLst>
              <a:ext uri="{FF2B5EF4-FFF2-40B4-BE49-F238E27FC236}">
                <a16:creationId xmlns:a16="http://schemas.microsoft.com/office/drawing/2014/main" id="{46432821-7322-7791-3BBA-D9CEFA0EC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5769857"/>
            <a:ext cx="217488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90" name="Rectangle 108">
            <a:extLst>
              <a:ext uri="{FF2B5EF4-FFF2-40B4-BE49-F238E27FC236}">
                <a16:creationId xmlns:a16="http://schemas.microsoft.com/office/drawing/2014/main" id="{E140B263-169C-83A3-FBBE-FF20D5927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2982207"/>
            <a:ext cx="2190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91" name="Rectangle 109">
            <a:extLst>
              <a:ext uri="{FF2B5EF4-FFF2-40B4-BE49-F238E27FC236}">
                <a16:creationId xmlns:a16="http://schemas.microsoft.com/office/drawing/2014/main" id="{9D707ECB-2EA8-4EBA-12B4-5F89595FC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2982207"/>
            <a:ext cx="217488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en-US" altLang="ja-JP" sz="800">
              <a:latin typeface="+mn-ea"/>
              <a:ea typeface="+mn-ea"/>
            </a:endParaRPr>
          </a:p>
        </p:txBody>
      </p:sp>
      <p:sp>
        <p:nvSpPr>
          <p:cNvPr id="92" name="Rectangle 110">
            <a:extLst>
              <a:ext uri="{FF2B5EF4-FFF2-40B4-BE49-F238E27FC236}">
                <a16:creationId xmlns:a16="http://schemas.microsoft.com/office/drawing/2014/main" id="{4126F45B-47A3-3706-1249-16A19FBAC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3625145"/>
            <a:ext cx="217487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93" name="Rectangle 111">
            <a:extLst>
              <a:ext uri="{FF2B5EF4-FFF2-40B4-BE49-F238E27FC236}">
                <a16:creationId xmlns:a16="http://schemas.microsoft.com/office/drawing/2014/main" id="{5E9DD7E4-A93D-14BE-3F98-F1A634140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63" y="3625145"/>
            <a:ext cx="219075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94" name="Rectangle 112">
            <a:extLst>
              <a:ext uri="{FF2B5EF4-FFF2-40B4-BE49-F238E27FC236}">
                <a16:creationId xmlns:a16="http://schemas.microsoft.com/office/drawing/2014/main" id="{9F9BA2A4-911B-995D-0155-C9C43E988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3625145"/>
            <a:ext cx="217488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95" name="Rectangle 113">
            <a:extLst>
              <a:ext uri="{FF2B5EF4-FFF2-40B4-BE49-F238E27FC236}">
                <a16:creationId xmlns:a16="http://schemas.microsoft.com/office/drawing/2014/main" id="{F3837F14-B2AD-786A-D99A-35F94F1BB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3625145"/>
            <a:ext cx="217487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96" name="Rectangle 114">
            <a:extLst>
              <a:ext uri="{FF2B5EF4-FFF2-40B4-BE49-F238E27FC236}">
                <a16:creationId xmlns:a16="http://schemas.microsoft.com/office/drawing/2014/main" id="{C9E2916F-E30A-D306-FD7A-E49232BE0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3625145"/>
            <a:ext cx="219075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97" name="Rectangle 115">
            <a:extLst>
              <a:ext uri="{FF2B5EF4-FFF2-40B4-BE49-F238E27FC236}">
                <a16:creationId xmlns:a16="http://schemas.microsoft.com/office/drawing/2014/main" id="{DF40B8FF-A8FB-6F21-A998-5C6BEC671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3625145"/>
            <a:ext cx="217488" cy="2143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98" name="Rectangle 116">
            <a:extLst>
              <a:ext uri="{FF2B5EF4-FFF2-40B4-BE49-F238E27FC236}">
                <a16:creationId xmlns:a16="http://schemas.microsoft.com/office/drawing/2014/main" id="{C2ACAC5C-4DD1-46AD-8FED-23FA2173D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5984170"/>
            <a:ext cx="217487" cy="2238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99" name="Rectangle 117">
            <a:extLst>
              <a:ext uri="{FF2B5EF4-FFF2-40B4-BE49-F238E27FC236}">
                <a16:creationId xmlns:a16="http://schemas.microsoft.com/office/drawing/2014/main" id="{35A0B7CA-DBC7-5FDC-5917-7BC5DE9B7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63" y="5984170"/>
            <a:ext cx="219075" cy="2238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100" name="Rectangle 118">
            <a:extLst>
              <a:ext uri="{FF2B5EF4-FFF2-40B4-BE49-F238E27FC236}">
                <a16:creationId xmlns:a16="http://schemas.microsoft.com/office/drawing/2014/main" id="{C9FE80A3-6563-EC01-3BA8-FEC1AFA43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5984170"/>
            <a:ext cx="217488" cy="2238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101" name="Rectangle 119">
            <a:extLst>
              <a:ext uri="{FF2B5EF4-FFF2-40B4-BE49-F238E27FC236}">
                <a16:creationId xmlns:a16="http://schemas.microsoft.com/office/drawing/2014/main" id="{67FFF818-6DFC-0348-B8DA-492E623E32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5984170"/>
            <a:ext cx="217487" cy="2238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102" name="Rectangle 120">
            <a:extLst>
              <a:ext uri="{FF2B5EF4-FFF2-40B4-BE49-F238E27FC236}">
                <a16:creationId xmlns:a16="http://schemas.microsoft.com/office/drawing/2014/main" id="{1221BF64-628E-0F21-EE21-B2B8BEC1D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5984170"/>
            <a:ext cx="219075" cy="2238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103" name="Rectangle 121">
            <a:extLst>
              <a:ext uri="{FF2B5EF4-FFF2-40B4-BE49-F238E27FC236}">
                <a16:creationId xmlns:a16="http://schemas.microsoft.com/office/drawing/2014/main" id="{3B8EFF1D-DD84-8B0A-3642-6ECE7615F4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5984170"/>
            <a:ext cx="217488" cy="2238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104" name="Rectangle 122">
            <a:extLst>
              <a:ext uri="{FF2B5EF4-FFF2-40B4-BE49-F238E27FC236}">
                <a16:creationId xmlns:a16="http://schemas.microsoft.com/office/drawing/2014/main" id="{E7D2366A-1BE4-CD3E-2166-42A9925045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7138" y="3839457"/>
            <a:ext cx="217487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105" name="Rectangle 123">
            <a:extLst>
              <a:ext uri="{FF2B5EF4-FFF2-40B4-BE49-F238E27FC236}">
                <a16:creationId xmlns:a16="http://schemas.microsoft.com/office/drawing/2014/main" id="{34CEE057-CD0D-2776-F642-902017C57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063" y="3839457"/>
            <a:ext cx="2190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106" name="Rectangle 124">
            <a:extLst>
              <a:ext uri="{FF2B5EF4-FFF2-40B4-BE49-F238E27FC236}">
                <a16:creationId xmlns:a16="http://schemas.microsoft.com/office/drawing/2014/main" id="{86015571-94AC-D0CC-4789-366178DBA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0575" y="3839457"/>
            <a:ext cx="217488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107" name="Rectangle 125">
            <a:extLst>
              <a:ext uri="{FF2B5EF4-FFF2-40B4-BE49-F238E27FC236}">
                <a16:creationId xmlns:a16="http://schemas.microsoft.com/office/drawing/2014/main" id="{8960C466-5B7A-6806-A820-CD60D3B5B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3088" y="3839457"/>
            <a:ext cx="217487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108" name="Rectangle 126">
            <a:extLst>
              <a:ext uri="{FF2B5EF4-FFF2-40B4-BE49-F238E27FC236}">
                <a16:creationId xmlns:a16="http://schemas.microsoft.com/office/drawing/2014/main" id="{B7525DDC-FE08-9338-6FFC-B2AF9DA08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3839457"/>
            <a:ext cx="219075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109" name="Rectangle 127">
            <a:extLst>
              <a:ext uri="{FF2B5EF4-FFF2-40B4-BE49-F238E27FC236}">
                <a16:creationId xmlns:a16="http://schemas.microsoft.com/office/drawing/2014/main" id="{A5B2B6C6-522F-7D97-2E57-5E3A7095D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6525" y="3839457"/>
            <a:ext cx="217488" cy="2143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>
              <a:buFontTx/>
              <a:buNone/>
            </a:pPr>
            <a:endParaRPr lang="ja-JP" altLang="en-US" sz="800">
              <a:latin typeface="+mn-ea"/>
              <a:ea typeface="+mn-ea"/>
            </a:endParaRPr>
          </a:p>
        </p:txBody>
      </p:sp>
      <p:sp>
        <p:nvSpPr>
          <p:cNvPr id="110" name="Line 128">
            <a:extLst>
              <a:ext uri="{FF2B5EF4-FFF2-40B4-BE49-F238E27FC236}">
                <a16:creationId xmlns:a16="http://schemas.microsoft.com/office/drawing/2014/main" id="{F5100A95-4954-FC05-8AE7-AE7DCF3DDBD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2982207"/>
            <a:ext cx="13081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11" name="Line 129">
            <a:extLst>
              <a:ext uri="{FF2B5EF4-FFF2-40B4-BE49-F238E27FC236}">
                <a16:creationId xmlns:a16="http://schemas.microsoft.com/office/drawing/2014/main" id="{34B7F374-EA2D-8713-32C1-1DBE72427BC2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4053770"/>
            <a:ext cx="130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12" name="Line 130">
            <a:extLst>
              <a:ext uri="{FF2B5EF4-FFF2-40B4-BE49-F238E27FC236}">
                <a16:creationId xmlns:a16="http://schemas.microsoft.com/office/drawing/2014/main" id="{82B4636F-B5FD-9D64-33A8-550AA4556C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6193720"/>
            <a:ext cx="13081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13" name="Line 131">
            <a:extLst>
              <a:ext uri="{FF2B5EF4-FFF2-40B4-BE49-F238E27FC236}">
                <a16:creationId xmlns:a16="http://schemas.microsoft.com/office/drawing/2014/main" id="{31C04751-1331-7FF5-6A2F-7D86CC8C790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2982207"/>
            <a:ext cx="0" cy="322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14" name="Line 132">
            <a:extLst>
              <a:ext uri="{FF2B5EF4-FFF2-40B4-BE49-F238E27FC236}">
                <a16:creationId xmlns:a16="http://schemas.microsoft.com/office/drawing/2014/main" id="{A67080D8-549B-C870-D96C-CCFA85A9122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4013" y="2982207"/>
            <a:ext cx="0" cy="322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15" name="Line 133">
            <a:extLst>
              <a:ext uri="{FF2B5EF4-FFF2-40B4-BE49-F238E27FC236}">
                <a16:creationId xmlns:a16="http://schemas.microsoft.com/office/drawing/2014/main" id="{9087119D-1345-4E33-2CDA-3BE215807A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113088" y="2982207"/>
            <a:ext cx="0" cy="322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16" name="Line 134">
            <a:extLst>
              <a:ext uri="{FF2B5EF4-FFF2-40B4-BE49-F238E27FC236}">
                <a16:creationId xmlns:a16="http://schemas.microsoft.com/office/drawing/2014/main" id="{5D7C8AF6-9C2A-B6D7-F0C8-709A7E33F1CE}"/>
              </a:ext>
            </a:extLst>
          </p:cNvPr>
          <p:cNvSpPr>
            <a:spLocks noChangeShapeType="1"/>
          </p:cNvSpPr>
          <p:nvPr/>
        </p:nvSpPr>
        <p:spPr bwMode="auto">
          <a:xfrm>
            <a:off x="3330575" y="2982207"/>
            <a:ext cx="0" cy="322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17" name="Line 135">
            <a:extLst>
              <a:ext uri="{FF2B5EF4-FFF2-40B4-BE49-F238E27FC236}">
                <a16:creationId xmlns:a16="http://schemas.microsoft.com/office/drawing/2014/main" id="{28D5CAC1-9BE2-89A5-A626-6BD607A51B2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8063" y="2982207"/>
            <a:ext cx="0" cy="322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18" name="Line 136">
            <a:extLst>
              <a:ext uri="{FF2B5EF4-FFF2-40B4-BE49-F238E27FC236}">
                <a16:creationId xmlns:a16="http://schemas.microsoft.com/office/drawing/2014/main" id="{1DE424F3-914D-617A-394E-597A5C979628}"/>
              </a:ext>
            </a:extLst>
          </p:cNvPr>
          <p:cNvSpPr>
            <a:spLocks noChangeShapeType="1"/>
          </p:cNvSpPr>
          <p:nvPr/>
        </p:nvSpPr>
        <p:spPr bwMode="auto">
          <a:xfrm>
            <a:off x="3767138" y="2982207"/>
            <a:ext cx="0" cy="3225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19" name="Line 137">
            <a:extLst>
              <a:ext uri="{FF2B5EF4-FFF2-40B4-BE49-F238E27FC236}">
                <a16:creationId xmlns:a16="http://schemas.microsoft.com/office/drawing/2014/main" id="{4166155E-17D2-00A1-784E-47DC3ED90F0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84625" y="2982207"/>
            <a:ext cx="0" cy="32258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20" name="Line 138">
            <a:extLst>
              <a:ext uri="{FF2B5EF4-FFF2-40B4-BE49-F238E27FC236}">
                <a16:creationId xmlns:a16="http://schemas.microsoft.com/office/drawing/2014/main" id="{A9862742-5C95-6B31-791A-92B77A88A1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3839457"/>
            <a:ext cx="130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21" name="Line 139">
            <a:extLst>
              <a:ext uri="{FF2B5EF4-FFF2-40B4-BE49-F238E27FC236}">
                <a16:creationId xmlns:a16="http://schemas.microsoft.com/office/drawing/2014/main" id="{B45BA689-7957-2925-D790-B2D3BE5FE8E6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3196520"/>
            <a:ext cx="130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22" name="Line 140">
            <a:extLst>
              <a:ext uri="{FF2B5EF4-FFF2-40B4-BE49-F238E27FC236}">
                <a16:creationId xmlns:a16="http://schemas.microsoft.com/office/drawing/2014/main" id="{F0DB1A6A-A640-F7BD-8213-D67A15F75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5984170"/>
            <a:ext cx="130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23" name="Line 141">
            <a:extLst>
              <a:ext uri="{FF2B5EF4-FFF2-40B4-BE49-F238E27FC236}">
                <a16:creationId xmlns:a16="http://schemas.microsoft.com/office/drawing/2014/main" id="{0A474791-FC38-C0D0-4B63-214C9F8DB2B1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5769857"/>
            <a:ext cx="130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24" name="Line 142">
            <a:extLst>
              <a:ext uri="{FF2B5EF4-FFF2-40B4-BE49-F238E27FC236}">
                <a16:creationId xmlns:a16="http://schemas.microsoft.com/office/drawing/2014/main" id="{A4E7B68F-98FA-F845-2A7A-0C44EEEA75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5126920"/>
            <a:ext cx="130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25" name="Line 143">
            <a:extLst>
              <a:ext uri="{FF2B5EF4-FFF2-40B4-BE49-F238E27FC236}">
                <a16:creationId xmlns:a16="http://schemas.microsoft.com/office/drawing/2014/main" id="{2D06450E-37D6-BF32-257B-7BF079280498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4912607"/>
            <a:ext cx="130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26" name="Line 144">
            <a:extLst>
              <a:ext uri="{FF2B5EF4-FFF2-40B4-BE49-F238E27FC236}">
                <a16:creationId xmlns:a16="http://schemas.microsoft.com/office/drawing/2014/main" id="{A60C0115-398C-C09C-C388-33CF7ED1899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4268082"/>
            <a:ext cx="130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27" name="Line 145">
            <a:extLst>
              <a:ext uri="{FF2B5EF4-FFF2-40B4-BE49-F238E27FC236}">
                <a16:creationId xmlns:a16="http://schemas.microsoft.com/office/drawing/2014/main" id="{DF9000BC-DCD6-DF99-15DA-E34CFDA517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5555545"/>
            <a:ext cx="130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28" name="Line 146">
            <a:extLst>
              <a:ext uri="{FF2B5EF4-FFF2-40B4-BE49-F238E27FC236}">
                <a16:creationId xmlns:a16="http://schemas.microsoft.com/office/drawing/2014/main" id="{14E2DF7E-2A61-71CF-04F4-738BE01DDB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5341232"/>
            <a:ext cx="130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29" name="Line 147">
            <a:extLst>
              <a:ext uri="{FF2B5EF4-FFF2-40B4-BE49-F238E27FC236}">
                <a16:creationId xmlns:a16="http://schemas.microsoft.com/office/drawing/2014/main" id="{02AA65F7-6FCA-6B34-D99D-E791ED3A7BCB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3625145"/>
            <a:ext cx="130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30" name="Line 148">
            <a:extLst>
              <a:ext uri="{FF2B5EF4-FFF2-40B4-BE49-F238E27FC236}">
                <a16:creationId xmlns:a16="http://schemas.microsoft.com/office/drawing/2014/main" id="{65944E81-EE7C-012E-B935-6AB8E8863C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3410832"/>
            <a:ext cx="130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31" name="Line 149">
            <a:extLst>
              <a:ext uri="{FF2B5EF4-FFF2-40B4-BE49-F238E27FC236}">
                <a16:creationId xmlns:a16="http://schemas.microsoft.com/office/drawing/2014/main" id="{65E6C98E-B167-9CFA-5F24-3A36AF4B393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4698295"/>
            <a:ext cx="130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32" name="Line 150">
            <a:extLst>
              <a:ext uri="{FF2B5EF4-FFF2-40B4-BE49-F238E27FC236}">
                <a16:creationId xmlns:a16="http://schemas.microsoft.com/office/drawing/2014/main" id="{8AE0AC26-223C-8DC9-07EE-449313E64B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6525" y="4482395"/>
            <a:ext cx="130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33" name="Text Box 152">
            <a:extLst>
              <a:ext uri="{FF2B5EF4-FFF2-40B4-BE49-F238E27FC236}">
                <a16:creationId xmlns:a16="http://schemas.microsoft.com/office/drawing/2014/main" id="{7E4A4D20-6A12-5D74-F4C2-A7E7A94692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4425" y="2880607"/>
            <a:ext cx="3032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600">
                <a:latin typeface="+mn-ea"/>
                <a:ea typeface="+mn-ea"/>
              </a:rPr>
              <a:t>a</a:t>
            </a:r>
          </a:p>
        </p:txBody>
      </p:sp>
      <p:sp>
        <p:nvSpPr>
          <p:cNvPr id="134" name="Text Box 153">
            <a:extLst>
              <a:ext uri="{FF2B5EF4-FFF2-40B4-BE49-F238E27FC236}">
                <a16:creationId xmlns:a16="http://schemas.microsoft.com/office/drawing/2014/main" id="{0E7DED2B-BF0E-8F4C-A48D-667C3D240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600" y="3364795"/>
            <a:ext cx="3032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600">
                <a:latin typeface="+mn-ea"/>
                <a:ea typeface="+mn-ea"/>
              </a:rPr>
              <a:t>a</a:t>
            </a:r>
          </a:p>
        </p:txBody>
      </p:sp>
      <p:sp>
        <p:nvSpPr>
          <p:cNvPr id="135" name="Text Box 154">
            <a:extLst>
              <a:ext uri="{FF2B5EF4-FFF2-40B4-BE49-F238E27FC236}">
                <a16:creationId xmlns:a16="http://schemas.microsoft.com/office/drawing/2014/main" id="{9C4A57D8-AD28-5209-A59C-235FA80C7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600" y="3125082"/>
            <a:ext cx="3097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600">
                <a:latin typeface="+mn-ea"/>
                <a:ea typeface="+mn-ea"/>
              </a:rPr>
              <a:t>b</a:t>
            </a:r>
          </a:p>
        </p:txBody>
      </p:sp>
      <p:sp>
        <p:nvSpPr>
          <p:cNvPr id="136" name="Text Box 155">
            <a:extLst>
              <a:ext uri="{FF2B5EF4-FFF2-40B4-BE49-F238E27FC236}">
                <a16:creationId xmlns:a16="http://schemas.microsoft.com/office/drawing/2014/main" id="{4E685425-AEFD-EB50-BF7C-99505062F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2363" y="5885745"/>
            <a:ext cx="2888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600">
                <a:latin typeface="+mn-ea"/>
                <a:ea typeface="+mn-ea"/>
              </a:rPr>
              <a:t>z</a:t>
            </a:r>
          </a:p>
        </p:txBody>
      </p:sp>
      <p:sp>
        <p:nvSpPr>
          <p:cNvPr id="137" name="Text Box 156">
            <a:extLst>
              <a:ext uri="{FF2B5EF4-FFF2-40B4-BE49-F238E27FC236}">
                <a16:creationId xmlns:a16="http://schemas.microsoft.com/office/drawing/2014/main" id="{014AF44A-FC9B-9161-3D43-904AC45199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2363" y="3556882"/>
            <a:ext cx="28886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600">
                <a:latin typeface="+mn-ea"/>
                <a:ea typeface="+mn-ea"/>
              </a:rPr>
              <a:t>c</a:t>
            </a:r>
          </a:p>
        </p:txBody>
      </p:sp>
      <p:sp>
        <p:nvSpPr>
          <p:cNvPr id="138" name="Text Box 157">
            <a:extLst>
              <a:ext uri="{FF2B5EF4-FFF2-40B4-BE49-F238E27FC236}">
                <a16:creationId xmlns:a16="http://schemas.microsoft.com/office/drawing/2014/main" id="{0093DCF3-C2D4-DDEE-C256-F12216DC13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2363" y="5646032"/>
            <a:ext cx="30008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600">
                <a:latin typeface="+mn-ea"/>
                <a:ea typeface="+mn-ea"/>
              </a:rPr>
              <a:t>y</a:t>
            </a:r>
          </a:p>
        </p:txBody>
      </p:sp>
      <p:sp>
        <p:nvSpPr>
          <p:cNvPr id="139" name="Text Box 158">
            <a:extLst>
              <a:ext uri="{FF2B5EF4-FFF2-40B4-BE49-F238E27FC236}">
                <a16:creationId xmlns:a16="http://schemas.microsoft.com/office/drawing/2014/main" id="{7AA6B6AB-A1A3-3768-7E45-900B53886C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600" y="3988682"/>
            <a:ext cx="3032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600">
                <a:latin typeface="+mn-ea"/>
                <a:ea typeface="+mn-ea"/>
              </a:rPr>
              <a:t>e</a:t>
            </a:r>
          </a:p>
        </p:txBody>
      </p:sp>
      <p:sp>
        <p:nvSpPr>
          <p:cNvPr id="140" name="Text Box 159">
            <a:extLst>
              <a:ext uri="{FF2B5EF4-FFF2-40B4-BE49-F238E27FC236}">
                <a16:creationId xmlns:a16="http://schemas.microsoft.com/office/drawing/2014/main" id="{AB0F1251-4418-622D-C0B2-22CDFF2F45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9663" y="3772782"/>
            <a:ext cx="3097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ja-JP" sz="1600">
                <a:latin typeface="+mn-ea"/>
                <a:ea typeface="+mn-ea"/>
              </a:rPr>
              <a:t>d</a:t>
            </a:r>
          </a:p>
        </p:txBody>
      </p:sp>
      <p:sp>
        <p:nvSpPr>
          <p:cNvPr id="141" name="Text Box 160">
            <a:extLst>
              <a:ext uri="{FF2B5EF4-FFF2-40B4-BE49-F238E27FC236}">
                <a16:creationId xmlns:a16="http://schemas.microsoft.com/office/drawing/2014/main" id="{DCF03B8D-CAD2-EC8B-9E73-D32D030E6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175" y="4925307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600">
                <a:latin typeface="+mn-ea"/>
                <a:ea typeface="+mn-ea"/>
              </a:rPr>
              <a:t>・</a:t>
            </a:r>
          </a:p>
        </p:txBody>
      </p:sp>
      <p:sp>
        <p:nvSpPr>
          <p:cNvPr id="142" name="Text Box 161">
            <a:extLst>
              <a:ext uri="{FF2B5EF4-FFF2-40B4-BE49-F238E27FC236}">
                <a16:creationId xmlns:a16="http://schemas.microsoft.com/office/drawing/2014/main" id="{C2B5EDF3-1083-34DE-EBE5-AC94B2D3F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9350" y="4277607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600">
                <a:latin typeface="+mn-ea"/>
                <a:ea typeface="+mn-ea"/>
              </a:rPr>
              <a:t>・</a:t>
            </a:r>
          </a:p>
        </p:txBody>
      </p:sp>
      <p:sp>
        <p:nvSpPr>
          <p:cNvPr id="143" name="Text Box 162">
            <a:extLst>
              <a:ext uri="{FF2B5EF4-FFF2-40B4-BE49-F238E27FC236}">
                <a16:creationId xmlns:a16="http://schemas.microsoft.com/office/drawing/2014/main" id="{1924CB41-3C9F-08D8-23A6-62CDA3606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6175" y="4564945"/>
            <a:ext cx="2857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600">
                <a:latin typeface="+mn-ea"/>
                <a:ea typeface="+mn-ea"/>
              </a:rPr>
              <a:t>・</a:t>
            </a:r>
          </a:p>
        </p:txBody>
      </p:sp>
      <p:sp>
        <p:nvSpPr>
          <p:cNvPr id="144" name="Text Box 186">
            <a:extLst>
              <a:ext uri="{FF2B5EF4-FFF2-40B4-BE49-F238E27FC236}">
                <a16:creationId xmlns:a16="http://schemas.microsoft.com/office/drawing/2014/main" id="{57FBE513-A940-7D66-AE36-16FE0DA33C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225" y="2477382"/>
            <a:ext cx="647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b="1">
                <a:latin typeface="+mn-ea"/>
                <a:ea typeface="+mn-ea"/>
              </a:rPr>
              <a:t>・・・</a:t>
            </a:r>
          </a:p>
        </p:txBody>
      </p:sp>
      <p:sp>
        <p:nvSpPr>
          <p:cNvPr id="146" name="Text Box 191">
            <a:extLst>
              <a:ext uri="{FF2B5EF4-FFF2-40B4-BE49-F238E27FC236}">
                <a16:creationId xmlns:a16="http://schemas.microsoft.com/office/drawing/2014/main" id="{B5F6EF06-54EB-DB3E-970F-A653C9664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0925" y="815270"/>
            <a:ext cx="160813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b="1" dirty="0">
                <a:solidFill>
                  <a:schemeClr val="accent2"/>
                </a:solidFill>
                <a:latin typeface="+mn-ea"/>
                <a:ea typeface="+mn-ea"/>
              </a:rPr>
              <a:t>サンプルの</a:t>
            </a:r>
            <a:endParaRPr lang="en-US" altLang="ja-JP" sz="2000" b="1" dirty="0">
              <a:solidFill>
                <a:schemeClr val="accent2"/>
              </a:solidFill>
              <a:latin typeface="+mn-ea"/>
              <a:ea typeface="+mn-ea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2000" b="1" dirty="0">
                <a:solidFill>
                  <a:schemeClr val="accent2"/>
                </a:solidFill>
                <a:latin typeface="+mn-ea"/>
                <a:ea typeface="+mn-ea"/>
              </a:rPr>
              <a:t>クラスタリング</a:t>
            </a:r>
            <a:endParaRPr lang="en-US" altLang="ja-JP" sz="20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147" name="Line 24">
            <a:extLst>
              <a:ext uri="{FF2B5EF4-FFF2-40B4-BE49-F238E27FC236}">
                <a16:creationId xmlns:a16="http://schemas.microsoft.com/office/drawing/2014/main" id="{FFF57905-5D66-26E8-D590-92FFDC71029A}"/>
              </a:ext>
            </a:extLst>
          </p:cNvPr>
          <p:cNvSpPr>
            <a:spLocks noChangeShapeType="1"/>
          </p:cNvSpPr>
          <p:nvPr/>
        </p:nvSpPr>
        <p:spPr bwMode="auto">
          <a:xfrm rot="5400000" flipV="1">
            <a:off x="8755857" y="3992650"/>
            <a:ext cx="0" cy="360363"/>
          </a:xfrm>
          <a:prstGeom prst="line">
            <a:avLst/>
          </a:prstGeom>
          <a:noFill/>
          <a:ln w="50800">
            <a:solidFill>
              <a:srgbClr val="E8182C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ja-JP" altLang="en-US">
              <a:latin typeface="+mn-ea"/>
            </a:endParaRPr>
          </a:p>
        </p:txBody>
      </p:sp>
      <p:sp>
        <p:nvSpPr>
          <p:cNvPr id="148" name="テキスト ボックス 30">
            <a:extLst>
              <a:ext uri="{FF2B5EF4-FFF2-40B4-BE49-F238E27FC236}">
                <a16:creationId xmlns:a16="http://schemas.microsoft.com/office/drawing/2014/main" id="{62934E9C-3CA3-C6A5-FCE0-FF76BBB637B1}"/>
              </a:ext>
            </a:extLst>
          </p:cNvPr>
          <p:cNvSpPr txBox="1">
            <a:spLocks noChangeArrowheads="1"/>
          </p:cNvSpPr>
          <p:nvPr/>
        </p:nvSpPr>
        <p:spPr bwMode="auto">
          <a:xfrm rot="18276838">
            <a:off x="6601180" y="2514966"/>
            <a:ext cx="87876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ja-JP" altLang="en-US" sz="1800">
                <a:latin typeface="+mn-ea"/>
                <a:ea typeface="+mn-ea"/>
              </a:rPr>
              <a:t>患者</a:t>
            </a:r>
            <a:r>
              <a:rPr lang="en-US" altLang="ja-JP" sz="1800">
                <a:latin typeface="+mn-ea"/>
                <a:ea typeface="+mn-ea"/>
              </a:rPr>
              <a:t> X</a:t>
            </a:r>
            <a:endParaRPr lang="ja-JP" altLang="en-US" sz="1800">
              <a:latin typeface="+mn-ea"/>
              <a:ea typeface="+mn-ea"/>
            </a:endParaRPr>
          </a:p>
        </p:txBody>
      </p:sp>
      <p:cxnSp>
        <p:nvCxnSpPr>
          <p:cNvPr id="149" name="直線コネクタ 148">
            <a:extLst>
              <a:ext uri="{FF2B5EF4-FFF2-40B4-BE49-F238E27FC236}">
                <a16:creationId xmlns:a16="http://schemas.microsoft.com/office/drawing/2014/main" id="{742913EF-5FA9-9071-6EB7-062ACF250ECD}"/>
              </a:ext>
            </a:extLst>
          </p:cNvPr>
          <p:cNvCxnSpPr/>
          <p:nvPr/>
        </p:nvCxnSpPr>
        <p:spPr>
          <a:xfrm rot="5400000">
            <a:off x="8397081" y="4208551"/>
            <a:ext cx="358775" cy="1588"/>
          </a:xfrm>
          <a:prstGeom prst="line">
            <a:avLst/>
          </a:prstGeom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AutoShape 190">
            <a:extLst>
              <a:ext uri="{FF2B5EF4-FFF2-40B4-BE49-F238E27FC236}">
                <a16:creationId xmlns:a16="http://schemas.microsoft.com/office/drawing/2014/main" id="{6E33AB15-F31F-327D-CD3F-E252813257E4}"/>
              </a:ext>
            </a:extLst>
          </p:cNvPr>
          <p:cNvSpPr>
            <a:spLocks/>
          </p:cNvSpPr>
          <p:nvPr/>
        </p:nvSpPr>
        <p:spPr bwMode="auto">
          <a:xfrm rot="16200000">
            <a:off x="5484019" y="-304362"/>
            <a:ext cx="215900" cy="3960812"/>
          </a:xfrm>
          <a:prstGeom prst="rightBracket">
            <a:avLst>
              <a:gd name="adj" fmla="val 152880"/>
            </a:avLst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365126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DBB126E-C54F-42A3-DBE3-4CED4A423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9AAAE0E-58A9-8087-A428-06335CC3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4" name="Picture 6" descr="http://www.senbokukumiai-hp.gr.jp/assets/images/common/kenshuu/kenshuu20.jpg">
            <a:extLst>
              <a:ext uri="{FF2B5EF4-FFF2-40B4-BE49-F238E27FC236}">
                <a16:creationId xmlns:a16="http://schemas.microsoft.com/office/drawing/2014/main" id="{E1FC7C24-0106-BBE7-8166-30E132BD9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7265" y="903573"/>
            <a:ext cx="1787525" cy="151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E897A963-7077-DE94-5140-27F6D8693DD2}"/>
              </a:ext>
            </a:extLst>
          </p:cNvPr>
          <p:cNvGrpSpPr>
            <a:grpSpLocks/>
          </p:cNvGrpSpPr>
          <p:nvPr/>
        </p:nvGrpSpPr>
        <p:grpSpPr bwMode="auto">
          <a:xfrm>
            <a:off x="4514727" y="1408398"/>
            <a:ext cx="1141413" cy="712788"/>
            <a:chOff x="2771800" y="1772816"/>
            <a:chExt cx="1142416" cy="713136"/>
          </a:xfrm>
        </p:grpSpPr>
        <p:pic>
          <p:nvPicPr>
            <p:cNvPr id="6" name="図 8">
              <a:extLst>
                <a:ext uri="{FF2B5EF4-FFF2-40B4-BE49-F238E27FC236}">
                  <a16:creationId xmlns:a16="http://schemas.microsoft.com/office/drawing/2014/main" id="{4526B302-A071-F33E-E37D-E9161B4A9D7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1490" y="1772816"/>
              <a:ext cx="560379" cy="353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図 8">
              <a:extLst>
                <a:ext uri="{FF2B5EF4-FFF2-40B4-BE49-F238E27FC236}">
                  <a16:creationId xmlns:a16="http://schemas.microsoft.com/office/drawing/2014/main" id="{9647876F-A457-DDAC-AE4E-906C3FB94C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3837" y="2132856"/>
              <a:ext cx="560379" cy="353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図 8">
              <a:extLst>
                <a:ext uri="{FF2B5EF4-FFF2-40B4-BE49-F238E27FC236}">
                  <a16:creationId xmlns:a16="http://schemas.microsoft.com/office/drawing/2014/main" id="{5D35AFFF-00BE-7D69-DB4D-AFDBB0C89E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1800" y="2126995"/>
              <a:ext cx="560379" cy="353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9" name="グループ化 9">
            <a:extLst>
              <a:ext uri="{FF2B5EF4-FFF2-40B4-BE49-F238E27FC236}">
                <a16:creationId xmlns:a16="http://schemas.microsoft.com/office/drawing/2014/main" id="{7CE57890-57E4-D5EA-AECE-9A5E5BC58609}"/>
              </a:ext>
            </a:extLst>
          </p:cNvPr>
          <p:cNvGrpSpPr>
            <a:grpSpLocks/>
          </p:cNvGrpSpPr>
          <p:nvPr/>
        </p:nvGrpSpPr>
        <p:grpSpPr bwMode="auto">
          <a:xfrm>
            <a:off x="2165227" y="1792573"/>
            <a:ext cx="1042988" cy="407988"/>
            <a:chOff x="4722918" y="1988840"/>
            <a:chExt cx="1289242" cy="504200"/>
          </a:xfrm>
        </p:grpSpPr>
        <p:pic>
          <p:nvPicPr>
            <p:cNvPr id="10" name="Picture 81">
              <a:extLst>
                <a:ext uri="{FF2B5EF4-FFF2-40B4-BE49-F238E27FC236}">
                  <a16:creationId xmlns:a16="http://schemas.microsoft.com/office/drawing/2014/main" id="{7A9CE679-A91E-94F8-4F0B-D255BA37F1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3836" y="2060848"/>
              <a:ext cx="569162" cy="216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81">
              <a:extLst>
                <a:ext uri="{FF2B5EF4-FFF2-40B4-BE49-F238E27FC236}">
                  <a16:creationId xmlns:a16="http://schemas.microsoft.com/office/drawing/2014/main" id="{43944407-3BAB-0168-F220-FA5965EAF1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7892" y="2257470"/>
              <a:ext cx="569162" cy="216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81">
              <a:extLst>
                <a:ext uri="{FF2B5EF4-FFF2-40B4-BE49-F238E27FC236}">
                  <a16:creationId xmlns:a16="http://schemas.microsoft.com/office/drawing/2014/main" id="{54E412E1-41E9-9104-E1EF-243E8FE3AB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2918" y="2276944"/>
              <a:ext cx="569162" cy="216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81">
              <a:extLst>
                <a:ext uri="{FF2B5EF4-FFF2-40B4-BE49-F238E27FC236}">
                  <a16:creationId xmlns:a16="http://schemas.microsoft.com/office/drawing/2014/main" id="{A047151D-433F-7589-6327-03ABB3C326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2998" y="1988840"/>
              <a:ext cx="569162" cy="216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Rectangle 5">
            <a:extLst>
              <a:ext uri="{FF2B5EF4-FFF2-40B4-BE49-F238E27FC236}">
                <a16:creationId xmlns:a16="http://schemas.microsoft.com/office/drawing/2014/main" id="{9AF09C2B-DA38-3E2A-9B4E-DA308C9B4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6915" y="148936"/>
            <a:ext cx="9104313" cy="584775"/>
          </a:xfrm>
          <a:prstGeom prst="rect">
            <a:avLst/>
          </a:prstGeom>
          <a:gradFill rotWithShape="1">
            <a:gsLst>
              <a:gs pos="0">
                <a:srgbClr val="BBE0E3">
                  <a:tint val="50000"/>
                  <a:satMod val="300000"/>
                </a:srgbClr>
              </a:gs>
              <a:gs pos="35000">
                <a:srgbClr val="BBE0E3">
                  <a:tint val="37000"/>
                  <a:satMod val="300000"/>
                </a:srgbClr>
              </a:gs>
              <a:gs pos="100000">
                <a:srgbClr val="BBE0E3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BE0E3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squar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+mn-ea"/>
                <a:cs typeface="+mn-cs"/>
              </a:rPr>
              <a:t>Nature 403, 503-511 (03 February 2000)</a:t>
            </a:r>
            <a:endParaRPr kumimoji="0" lang="en-US" altLang="ja-JP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cs typeface="+mn-cs"/>
              </a:rPr>
              <a:t>Distinct types of diffuse large B-cell lymphoma identified by gene expression profiling</a:t>
            </a:r>
          </a:p>
        </p:txBody>
      </p:sp>
      <p:pic>
        <p:nvPicPr>
          <p:cNvPr id="15" name="Picture 8">
            <a:extLst>
              <a:ext uri="{FF2B5EF4-FFF2-40B4-BE49-F238E27FC236}">
                <a16:creationId xmlns:a16="http://schemas.microsoft.com/office/drawing/2014/main" id="{77AE4A77-88BF-F0CF-BCB9-31FBAA16B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815" y="2571750"/>
            <a:ext cx="6408737" cy="428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テキスト ボックス 11">
            <a:extLst>
              <a:ext uri="{FF2B5EF4-FFF2-40B4-BE49-F238E27FC236}">
                <a16:creationId xmlns:a16="http://schemas.microsoft.com/office/drawing/2014/main" id="{0236802E-5507-E886-D2C5-E1463095F9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4702" y="903573"/>
            <a:ext cx="12698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ea"/>
                <a:ea typeface="+mn-ea"/>
              </a:rPr>
              <a:t>患者サンプル</a:t>
            </a:r>
            <a:endParaRPr kumimoji="1" lang="en-US" altLang="ja-JP" sz="1600" b="1" i="0" u="none" strike="noStrike" kern="0" cap="none" spc="0" normalizeH="0" baseline="0" noProof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ea"/>
                <a:ea typeface="+mn-ea"/>
              </a:rPr>
              <a:t>の採取</a:t>
            </a:r>
          </a:p>
        </p:txBody>
      </p:sp>
      <p:grpSp>
        <p:nvGrpSpPr>
          <p:cNvPr id="17" name="グループ化 25">
            <a:extLst>
              <a:ext uri="{FF2B5EF4-FFF2-40B4-BE49-F238E27FC236}">
                <a16:creationId xmlns:a16="http://schemas.microsoft.com/office/drawing/2014/main" id="{2B233CEE-2739-E3A7-E9CF-298A2B428D44}"/>
              </a:ext>
            </a:extLst>
          </p:cNvPr>
          <p:cNvGrpSpPr>
            <a:grpSpLocks/>
          </p:cNvGrpSpPr>
          <p:nvPr/>
        </p:nvGrpSpPr>
        <p:grpSpPr bwMode="auto">
          <a:xfrm>
            <a:off x="1696915" y="1432211"/>
            <a:ext cx="1042987" cy="407987"/>
            <a:chOff x="4722918" y="1988840"/>
            <a:chExt cx="1289242" cy="504200"/>
          </a:xfrm>
        </p:grpSpPr>
        <p:pic>
          <p:nvPicPr>
            <p:cNvPr id="18" name="Picture 81">
              <a:extLst>
                <a:ext uri="{FF2B5EF4-FFF2-40B4-BE49-F238E27FC236}">
                  <a16:creationId xmlns:a16="http://schemas.microsoft.com/office/drawing/2014/main" id="{5B364EAA-EDB0-347D-B6C7-9436DFB672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3836" y="2060848"/>
              <a:ext cx="569162" cy="216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81">
              <a:extLst>
                <a:ext uri="{FF2B5EF4-FFF2-40B4-BE49-F238E27FC236}">
                  <a16:creationId xmlns:a16="http://schemas.microsoft.com/office/drawing/2014/main" id="{562B5174-E834-20CF-AF78-49374534092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77892" y="2257470"/>
              <a:ext cx="569162" cy="216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81">
              <a:extLst>
                <a:ext uri="{FF2B5EF4-FFF2-40B4-BE49-F238E27FC236}">
                  <a16:creationId xmlns:a16="http://schemas.microsoft.com/office/drawing/2014/main" id="{36DB3605-B205-139C-1B33-82CDA294B5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2918" y="2276944"/>
              <a:ext cx="569162" cy="216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81">
              <a:extLst>
                <a:ext uri="{FF2B5EF4-FFF2-40B4-BE49-F238E27FC236}">
                  <a16:creationId xmlns:a16="http://schemas.microsoft.com/office/drawing/2014/main" id="{969D3A9B-6CEF-50D1-CC15-DDC7EBF0C7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lum contras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42998" y="1988840"/>
              <a:ext cx="569162" cy="2160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2" name="テキスト ボックス 30">
            <a:extLst>
              <a:ext uri="{FF2B5EF4-FFF2-40B4-BE49-F238E27FC236}">
                <a16:creationId xmlns:a16="http://schemas.microsoft.com/office/drawing/2014/main" id="{F21587C3-F0EC-1BEC-9E03-C71FD391A3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652" y="1141698"/>
            <a:ext cx="106792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ea"/>
                <a:ea typeface="+mn-ea"/>
              </a:rPr>
              <a:t>RNA</a:t>
            </a:r>
            <a:r>
              <a:rPr kumimoji="1" lang="ja-JP" altLang="en-US" sz="1600" b="1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ea"/>
                <a:ea typeface="+mn-ea"/>
              </a:rPr>
              <a:t>抽出</a:t>
            </a:r>
          </a:p>
        </p:txBody>
      </p:sp>
      <p:sp>
        <p:nvSpPr>
          <p:cNvPr id="23" name="右矢印 19">
            <a:extLst>
              <a:ext uri="{FF2B5EF4-FFF2-40B4-BE49-F238E27FC236}">
                <a16:creationId xmlns:a16="http://schemas.microsoft.com/office/drawing/2014/main" id="{AFA34F08-E92B-BD2D-7FF3-539CE4D3E9A2}"/>
              </a:ext>
            </a:extLst>
          </p:cNvPr>
          <p:cNvSpPr/>
          <p:nvPr/>
        </p:nvSpPr>
        <p:spPr>
          <a:xfrm flipH="1">
            <a:off x="5872040" y="1567148"/>
            <a:ext cx="865187" cy="344488"/>
          </a:xfrm>
          <a:prstGeom prst="rightArrow">
            <a:avLst/>
          </a:prstGeom>
          <a:solidFill>
            <a:srgbClr val="FFFF66"/>
          </a:solidFill>
          <a:ln w="9525" cap="flat" cmpd="sng" algn="ctr">
            <a:solidFill>
              <a:srgbClr val="BBE0E3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4" name="右矢印 33">
            <a:extLst>
              <a:ext uri="{FF2B5EF4-FFF2-40B4-BE49-F238E27FC236}">
                <a16:creationId xmlns:a16="http://schemas.microsoft.com/office/drawing/2014/main" id="{0151E39D-BB5F-B8B1-6770-82D8B64B5009}"/>
              </a:ext>
            </a:extLst>
          </p:cNvPr>
          <p:cNvSpPr/>
          <p:nvPr/>
        </p:nvSpPr>
        <p:spPr>
          <a:xfrm flipH="1">
            <a:off x="3352677" y="1552861"/>
            <a:ext cx="863600" cy="344487"/>
          </a:xfrm>
          <a:prstGeom prst="rightArrow">
            <a:avLst/>
          </a:prstGeom>
          <a:solidFill>
            <a:srgbClr val="FFFF66"/>
          </a:solidFill>
          <a:ln w="9525" cap="flat" cmpd="sng" algn="ctr">
            <a:solidFill>
              <a:srgbClr val="BBE0E3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25" name="右矢印 34">
            <a:extLst>
              <a:ext uri="{FF2B5EF4-FFF2-40B4-BE49-F238E27FC236}">
                <a16:creationId xmlns:a16="http://schemas.microsoft.com/office/drawing/2014/main" id="{5A388233-CF9C-AC6B-EA9B-89770424DE48}"/>
              </a:ext>
            </a:extLst>
          </p:cNvPr>
          <p:cNvSpPr/>
          <p:nvPr/>
        </p:nvSpPr>
        <p:spPr>
          <a:xfrm rot="16200000" flipH="1">
            <a:off x="2012034" y="2820479"/>
            <a:ext cx="863600" cy="344487"/>
          </a:xfrm>
          <a:prstGeom prst="rightArrow">
            <a:avLst/>
          </a:prstGeom>
          <a:solidFill>
            <a:srgbClr val="FFFF66"/>
          </a:solidFill>
          <a:ln w="9525" cap="flat" cmpd="sng" algn="ctr">
            <a:solidFill>
              <a:srgbClr val="BBE0E3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grpSp>
        <p:nvGrpSpPr>
          <p:cNvPr id="26" name="グループ化 21">
            <a:extLst>
              <a:ext uri="{FF2B5EF4-FFF2-40B4-BE49-F238E27FC236}">
                <a16:creationId xmlns:a16="http://schemas.microsoft.com/office/drawing/2014/main" id="{21E8C1C6-72D9-D937-6134-D8201C3D4DA5}"/>
              </a:ext>
            </a:extLst>
          </p:cNvPr>
          <p:cNvGrpSpPr>
            <a:grpSpLocks/>
          </p:cNvGrpSpPr>
          <p:nvPr/>
        </p:nvGrpSpPr>
        <p:grpSpPr bwMode="auto">
          <a:xfrm>
            <a:off x="795251" y="4158709"/>
            <a:ext cx="1600200" cy="1628775"/>
            <a:chOff x="195794" y="3887635"/>
            <a:chExt cx="1783918" cy="1816163"/>
          </a:xfrm>
        </p:grpSpPr>
        <p:pic>
          <p:nvPicPr>
            <p:cNvPr id="27" name="Picture 10" descr="http://www.utoledo.edu/med/depts/bioinfo/images/Affymetrix_GeneChip_image.JPG">
              <a:extLst>
                <a:ext uri="{FF2B5EF4-FFF2-40B4-BE49-F238E27FC236}">
                  <a16:creationId xmlns:a16="http://schemas.microsoft.com/office/drawing/2014/main" id="{7937FADB-9B70-793E-338A-FB6CE92A69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9" t="3918" r="43787" b="26617"/>
            <a:stretch>
              <a:fillRect/>
            </a:stretch>
          </p:blipFill>
          <p:spPr bwMode="auto">
            <a:xfrm>
              <a:off x="195794" y="3887635"/>
              <a:ext cx="1763072" cy="18161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85747551-7F31-B6C3-8D79-135F31B04E40}"/>
                </a:ext>
              </a:extLst>
            </p:cNvPr>
            <p:cNvSpPr/>
            <p:nvPr/>
          </p:nvSpPr>
          <p:spPr>
            <a:xfrm>
              <a:off x="1457632" y="4077039"/>
              <a:ext cx="522080" cy="504490"/>
            </a:xfrm>
            <a:prstGeom prst="rect">
              <a:avLst/>
            </a:prstGeom>
            <a:solidFill>
              <a:srgbClr val="FFFFFF"/>
            </a:solidFill>
            <a:ln w="254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ea"/>
                <a:cs typeface="+mn-cs"/>
              </a:endParaRPr>
            </a:p>
          </p:txBody>
        </p:sp>
      </p:grpSp>
      <p:sp>
        <p:nvSpPr>
          <p:cNvPr id="29" name="テキスト ボックス 37">
            <a:extLst>
              <a:ext uri="{FF2B5EF4-FFF2-40B4-BE49-F238E27FC236}">
                <a16:creationId xmlns:a16="http://schemas.microsoft.com/office/drawing/2014/main" id="{2904D8A9-325A-7F23-F2EC-0D4892C52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8540" y="3650025"/>
            <a:ext cx="12105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50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+mn-ea"/>
                <a:ea typeface="+mn-ea"/>
              </a:rPr>
              <a:t>発現量解析</a:t>
            </a:r>
          </a:p>
        </p:txBody>
      </p:sp>
      <p:sp>
        <p:nvSpPr>
          <p:cNvPr id="30" name="右矢印 38">
            <a:extLst>
              <a:ext uri="{FF2B5EF4-FFF2-40B4-BE49-F238E27FC236}">
                <a16:creationId xmlns:a16="http://schemas.microsoft.com/office/drawing/2014/main" id="{702F6A9C-0F57-99EC-00AA-04E5BAF5B07C}"/>
              </a:ext>
            </a:extLst>
          </p:cNvPr>
          <p:cNvSpPr/>
          <p:nvPr/>
        </p:nvSpPr>
        <p:spPr>
          <a:xfrm>
            <a:off x="3733190" y="5011737"/>
            <a:ext cx="863600" cy="344488"/>
          </a:xfrm>
          <a:prstGeom prst="rightArrow">
            <a:avLst/>
          </a:prstGeom>
          <a:solidFill>
            <a:srgbClr val="FFFF66"/>
          </a:solidFill>
          <a:ln w="9525" cap="flat" cmpd="sng" algn="ctr">
            <a:solidFill>
              <a:srgbClr val="BBE0E3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pic>
        <p:nvPicPr>
          <p:cNvPr id="31" name="図 30">
            <a:extLst>
              <a:ext uri="{FF2B5EF4-FFF2-40B4-BE49-F238E27FC236}">
                <a16:creationId xmlns:a16="http://schemas.microsoft.com/office/drawing/2014/main" id="{BBC8B397-8D50-1F01-37DD-74647F3EF2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1344" y="4305643"/>
            <a:ext cx="1984794" cy="148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415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AC1DC3-A102-C614-A1A0-1F26FCDDE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発現量解析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FB0EB0B-8367-DB99-67BB-5D6F1120F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1026" name="Picture 2" descr="RNA-seqのマッピング">
            <a:extLst>
              <a:ext uri="{FF2B5EF4-FFF2-40B4-BE49-F238E27FC236}">
                <a16:creationId xmlns:a16="http://schemas.microsoft.com/office/drawing/2014/main" id="{941F140F-6D88-131D-424A-36AB8DD04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1139826"/>
            <a:ext cx="9525000" cy="558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1175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9D8613-79B3-3849-19B1-4CC57A7A0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トランスクリプトーム解析とは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5D4AEBF-826D-6F5F-958F-40FA7FE30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13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E41C327-A6D6-0056-91E2-F0D4AABEE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58" y="1454646"/>
            <a:ext cx="8876936" cy="540335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3BEAD51-DD36-25F6-2C18-B39412DC5543}"/>
              </a:ext>
            </a:extLst>
          </p:cNvPr>
          <p:cNvSpPr txBox="1"/>
          <p:nvPr/>
        </p:nvSpPr>
        <p:spPr>
          <a:xfrm>
            <a:off x="609600" y="904126"/>
            <a:ext cx="6838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ある状態のあるサンプル（例：目）のあるゲノムの領域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F347742-6DBA-7553-2996-B235484F843E}"/>
              </a:ext>
            </a:extLst>
          </p:cNvPr>
          <p:cNvSpPr txBox="1"/>
          <p:nvPr/>
        </p:nvSpPr>
        <p:spPr>
          <a:xfrm>
            <a:off x="8808377" y="904126"/>
            <a:ext cx="3318553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2400" dirty="0"/>
              <a:t>働いている</a:t>
            </a:r>
            <a:r>
              <a:rPr kumimoji="1" lang="en-US" altLang="ja-JP" sz="2400" dirty="0"/>
              <a:t>RNA</a:t>
            </a:r>
            <a:r>
              <a:rPr kumimoji="1" lang="ja-JP" altLang="en-US" sz="2400" dirty="0"/>
              <a:t>の種類や量を調べるのが目的</a:t>
            </a:r>
          </a:p>
        </p:txBody>
      </p:sp>
    </p:spTree>
    <p:extLst>
      <p:ext uri="{BB962C8B-B14F-4D97-AF65-F5344CB8AC3E}">
        <p14:creationId xmlns:p14="http://schemas.microsoft.com/office/powerpoint/2010/main" val="2979934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62805E1-F535-1295-F214-6282F6DA3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トランスクリプトーム解析とは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7D95484-E16E-B7F7-4C89-4DF14ECA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14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4420AAC-BC20-A97E-4DA0-AF8C8A2F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36" y="1403594"/>
            <a:ext cx="8989888" cy="513531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C703623-150B-9FF3-BAA4-768CFFD8052A}"/>
              </a:ext>
            </a:extLst>
          </p:cNvPr>
          <p:cNvSpPr txBox="1"/>
          <p:nvPr/>
        </p:nvSpPr>
        <p:spPr>
          <a:xfrm>
            <a:off x="609600" y="904126"/>
            <a:ext cx="68387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ある状態のあるサンプル（例：目）のあるゲノムの領域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8F05A77-5774-F383-D14D-56F60908D215}"/>
              </a:ext>
            </a:extLst>
          </p:cNvPr>
          <p:cNvSpPr txBox="1"/>
          <p:nvPr/>
        </p:nvSpPr>
        <p:spPr>
          <a:xfrm>
            <a:off x="8808377" y="904126"/>
            <a:ext cx="3318553" cy="83099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ja-JP" altLang="en-US" sz="2400" dirty="0"/>
              <a:t>働いている</a:t>
            </a:r>
            <a:r>
              <a:rPr kumimoji="1" lang="en-US" altLang="ja-JP" sz="2400" dirty="0"/>
              <a:t>RNA</a:t>
            </a:r>
            <a:r>
              <a:rPr kumimoji="1" lang="ja-JP" altLang="en-US" sz="2400" dirty="0"/>
              <a:t>の種類や量を調べるのが目的</a:t>
            </a:r>
          </a:p>
        </p:txBody>
      </p:sp>
    </p:spTree>
    <p:extLst>
      <p:ext uri="{BB962C8B-B14F-4D97-AF65-F5344CB8AC3E}">
        <p14:creationId xmlns:p14="http://schemas.microsoft.com/office/powerpoint/2010/main" val="185099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CAD64E-34FF-035D-02EE-9AACD4A3E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トランスクリプトーム解析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3DFB001-C49F-3806-8284-0412B3708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15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88DD695-8E21-2974-FB67-200878CBD3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31"/>
            <a:ext cx="12192000" cy="428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66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B83A5-B59C-B1B4-C99B-C41051676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C49913-6D7C-F2F9-7F13-0A6BCE791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トランスクリプトーム解析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4A65BD9-CD37-C4D3-F544-71840E1A4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16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E3E8B1A-5EEC-B95C-B308-04FA26C0C0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931"/>
            <a:ext cx="12192000" cy="4282138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499925C-7D0D-F445-7769-47670C6EF8D4}"/>
              </a:ext>
            </a:extLst>
          </p:cNvPr>
          <p:cNvSpPr/>
          <p:nvPr/>
        </p:nvSpPr>
        <p:spPr>
          <a:xfrm>
            <a:off x="2167847" y="1670288"/>
            <a:ext cx="1910994" cy="3976099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7EF6899-6D07-309A-4BEE-476D938E0925}"/>
              </a:ext>
            </a:extLst>
          </p:cNvPr>
          <p:cNvSpPr/>
          <p:nvPr/>
        </p:nvSpPr>
        <p:spPr>
          <a:xfrm>
            <a:off x="5823735" y="1632129"/>
            <a:ext cx="1532562" cy="3976099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DE26B94-CB8C-E445-0A37-4E413899D085}"/>
              </a:ext>
            </a:extLst>
          </p:cNvPr>
          <p:cNvSpPr txBox="1"/>
          <p:nvPr/>
        </p:nvSpPr>
        <p:spPr>
          <a:xfrm>
            <a:off x="2414426" y="6259811"/>
            <a:ext cx="47628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こういう発現変動遺伝子を同定したい</a:t>
            </a:r>
          </a:p>
        </p:txBody>
      </p: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2D8F64D3-E6D8-81A8-D14C-871091500618}"/>
              </a:ext>
            </a:extLst>
          </p:cNvPr>
          <p:cNvCxnSpPr/>
          <p:nvPr/>
        </p:nvCxnSpPr>
        <p:spPr>
          <a:xfrm flipH="1" flipV="1">
            <a:off x="3544584" y="5732377"/>
            <a:ext cx="534257" cy="4321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95919CE0-CA9A-D87C-1AED-4C5720B18C74}"/>
              </a:ext>
            </a:extLst>
          </p:cNvPr>
          <p:cNvCxnSpPr>
            <a:cxnSpLocks/>
          </p:cNvCxnSpPr>
          <p:nvPr/>
        </p:nvCxnSpPr>
        <p:spPr>
          <a:xfrm flipV="1">
            <a:off x="5489825" y="5723020"/>
            <a:ext cx="606175" cy="4797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74BFCFD6-2A75-FD9C-4F5B-0575B6F93D12}"/>
              </a:ext>
            </a:extLst>
          </p:cNvPr>
          <p:cNvSpPr/>
          <p:nvPr/>
        </p:nvSpPr>
        <p:spPr>
          <a:xfrm>
            <a:off x="8325293" y="1287931"/>
            <a:ext cx="3508743" cy="796050"/>
          </a:xfrm>
          <a:prstGeom prst="wedgeRoundRectCallout">
            <a:avLst>
              <a:gd name="adj1" fmla="val 13950"/>
              <a:gd name="adj2" fmla="val 101234"/>
              <a:gd name="adj3" fmla="val 1666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b="1" dirty="0"/>
              <a:t>これがいわゆる</a:t>
            </a:r>
            <a:endParaRPr kumimoji="1" lang="en-US" altLang="ja-JP" sz="2400" b="1" dirty="0"/>
          </a:p>
          <a:p>
            <a:pPr algn="ctr"/>
            <a:r>
              <a:rPr kumimoji="1" lang="ja-JP" altLang="en-US" sz="2400" b="1" dirty="0"/>
              <a:t>「遺伝子発現行列」</a:t>
            </a:r>
          </a:p>
        </p:txBody>
      </p:sp>
    </p:spTree>
    <p:extLst>
      <p:ext uri="{BB962C8B-B14F-4D97-AF65-F5344CB8AC3E}">
        <p14:creationId xmlns:p14="http://schemas.microsoft.com/office/powerpoint/2010/main" val="3679456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D4070E-F165-3410-5893-090CA6727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マイクロアレイ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22A93AD-67E2-609B-4947-88E137ADE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17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2994A6D-CB14-0B54-A20F-6F9A1AEDF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981133"/>
            <a:ext cx="10972800" cy="566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962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5FC743-5EAD-5FAD-BD70-4BB37B0D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ja-JP" altLang="en-US" dirty="0"/>
              <a:t>次世代シーケンサー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0750A42-3729-D64B-64E0-2A8B8593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18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8933055-8108-0E66-984F-530D09D73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95" y="969406"/>
            <a:ext cx="10845209" cy="5569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014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033806-2F8F-8FE1-4226-72F294920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DNA</a:t>
            </a:r>
            <a:r>
              <a:rPr kumimoji="1" lang="ja-JP" altLang="en-US" dirty="0"/>
              <a:t>マイクロアレイ </a:t>
            </a:r>
            <a:r>
              <a:rPr kumimoji="1" lang="en-US" altLang="ja-JP" dirty="0"/>
              <a:t>vs. RNA-seq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3A05633-316A-CD68-E705-4C023187E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RNA-seq</a:t>
            </a:r>
            <a:r>
              <a:rPr lang="ja-JP" altLang="en-US" dirty="0"/>
              <a:t>から見たメリット</a:t>
            </a:r>
            <a:endParaRPr lang="en-US" altLang="ja-JP" dirty="0"/>
          </a:p>
          <a:p>
            <a:r>
              <a:rPr lang="ja-JP" altLang="en-US" dirty="0"/>
              <a:t>未知の遺伝子も検出できる</a:t>
            </a:r>
            <a:endParaRPr lang="en-US" altLang="ja-JP" dirty="0"/>
          </a:p>
          <a:p>
            <a:r>
              <a:rPr lang="ja-JP" altLang="en-US" dirty="0"/>
              <a:t>発現量の少ない</a:t>
            </a:r>
            <a:r>
              <a:rPr lang="en-US" altLang="ja-JP" dirty="0"/>
              <a:t>mRNA</a:t>
            </a:r>
            <a:r>
              <a:rPr lang="ja-JP" altLang="en-US" dirty="0"/>
              <a:t>の検索性能が高い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r>
              <a:rPr lang="en-US" altLang="ja-JP" dirty="0"/>
              <a:t>RNA-seq</a:t>
            </a:r>
            <a:r>
              <a:rPr lang="ja-JP" altLang="en-US" dirty="0"/>
              <a:t>から見たデメリット</a:t>
            </a:r>
            <a:endParaRPr lang="en-US" altLang="ja-JP" dirty="0"/>
          </a:p>
          <a:p>
            <a:r>
              <a:rPr lang="ja-JP" altLang="en-US" dirty="0"/>
              <a:t>解析データサイズが大きい</a:t>
            </a:r>
            <a:endParaRPr lang="en-US" altLang="ja-JP" dirty="0"/>
          </a:p>
          <a:p>
            <a:r>
              <a:rPr lang="ja-JP" altLang="en-US" dirty="0"/>
              <a:t>解析にかかる時間が長い</a:t>
            </a:r>
            <a:endParaRPr lang="en-US" altLang="ja-JP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D98DA69-5172-CFC1-A382-0017AB3C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8667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F69FC3C3-AA4E-3535-F22E-E83FD2406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シングルセル解析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7A617F54-51D1-CE0A-ECDC-9C5B2E93A1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DCDB7F2-33C9-B9F9-A39D-5762BA037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9066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B3CA88FB-0DDD-C115-9BAF-7CE786C52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シングルセル </a:t>
            </a:r>
            <a:r>
              <a:rPr lang="en-US" altLang="ja-JP" dirty="0"/>
              <a:t>RNA-seq </a:t>
            </a:r>
            <a:r>
              <a:rPr lang="ja-JP" altLang="en-US" dirty="0"/>
              <a:t>とは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A45A154-47B7-95F3-9094-0C906BB69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21</a:t>
            </a:fld>
            <a:endParaRPr kumimoji="1" lang="ja-JP" altLang="en-US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8EE0C846-01C8-97D7-897F-9B88E4AEB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750" y="815270"/>
            <a:ext cx="8259376" cy="5864302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8A4F625-D32E-09A7-E284-93D52B274953}"/>
              </a:ext>
            </a:extLst>
          </p:cNvPr>
          <p:cNvSpPr txBox="1"/>
          <p:nvPr/>
        </p:nvSpPr>
        <p:spPr>
          <a:xfrm>
            <a:off x="7021417" y="6538913"/>
            <a:ext cx="41208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https://www.rhelixa.com/service/scrna-seq/</a:t>
            </a: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53399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>
            <a:extLst>
              <a:ext uri="{FF2B5EF4-FFF2-40B4-BE49-F238E27FC236}">
                <a16:creationId xmlns:a16="http://schemas.microsoft.com/office/drawing/2014/main" id="{E5FC5C9D-47CE-98A3-6DBC-3D976422B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/>
              <a:t>シングルセル解析データセット</a:t>
            </a:r>
          </a:p>
        </p:txBody>
      </p:sp>
      <p:sp>
        <p:nvSpPr>
          <p:cNvPr id="9" name="コンテンツ プレースホルダー 8">
            <a:extLst>
              <a:ext uri="{FF2B5EF4-FFF2-40B4-BE49-F238E27FC236}">
                <a16:creationId xmlns:a16="http://schemas.microsoft.com/office/drawing/2014/main" id="{4C9F29EB-BF9F-B579-553A-2B8F01379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Seurat </a:t>
            </a:r>
            <a:r>
              <a:rPr lang="ja-JP" altLang="en-US" dirty="0"/>
              <a:t>パッケージ内の </a:t>
            </a:r>
            <a:r>
              <a:rPr lang="en-US" altLang="ja-JP" dirty="0"/>
              <a:t>pbmc3k </a:t>
            </a:r>
            <a:r>
              <a:rPr lang="ja-JP" altLang="en-US" dirty="0"/>
              <a:t>データセット（</a:t>
            </a:r>
            <a:r>
              <a:rPr lang="en-US" altLang="ja-JP" dirty="0"/>
              <a:t>3,000 cells</a:t>
            </a:r>
            <a:r>
              <a:rPr lang="ja-JP" altLang="en-US" dirty="0"/>
              <a:t>）</a:t>
            </a:r>
          </a:p>
          <a:p>
            <a:pPr lvl="1"/>
            <a:r>
              <a:rPr lang="ja-JP" altLang="en-US" dirty="0"/>
              <a:t>提供元：</a:t>
            </a:r>
            <a:r>
              <a:rPr lang="en-US" altLang="ja-JP" dirty="0"/>
              <a:t>10x Genomics / Seurat</a:t>
            </a:r>
          </a:p>
          <a:p>
            <a:pPr lvl="1"/>
            <a:r>
              <a:rPr lang="ja-JP" altLang="en-US" dirty="0"/>
              <a:t>内容：ヒト末梢血単核細胞（</a:t>
            </a:r>
            <a:r>
              <a:rPr lang="en-US" altLang="ja-JP" dirty="0"/>
              <a:t>PBMC</a:t>
            </a:r>
            <a:r>
              <a:rPr lang="ja-JP" altLang="en-US" dirty="0"/>
              <a:t>）</a:t>
            </a:r>
          </a:p>
          <a:p>
            <a:pPr lvl="1"/>
            <a:r>
              <a:rPr lang="ja-JP" altLang="en-US" dirty="0"/>
              <a:t>細胞数：約</a:t>
            </a:r>
            <a:r>
              <a:rPr lang="en-US" altLang="ja-JP" dirty="0"/>
              <a:t>3,000</a:t>
            </a:r>
            <a:r>
              <a:rPr lang="ja-JP" altLang="en-US" dirty="0"/>
              <a:t>細胞</a:t>
            </a:r>
          </a:p>
          <a:p>
            <a:endParaRPr lang="ja-JP" altLang="en-US" dirty="0"/>
          </a:p>
          <a:p>
            <a:pPr lvl="1"/>
            <a:r>
              <a:rPr lang="ja-JP" altLang="en-US" dirty="0"/>
              <a:t>用途：前処理、クラスタリング、可視化、マーカー遺伝子検出などの練習に最適</a:t>
            </a:r>
          </a:p>
          <a:p>
            <a:endParaRPr lang="ja-JP" altLang="en-US" dirty="0"/>
          </a:p>
          <a:p>
            <a:endParaRPr lang="ja-JP" alt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3C8B884-6A2F-7732-B339-085FA1FF0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3935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AE482F-99EA-B260-5D58-9C73EADA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BBE837-FE34-7DFF-0083-D4A3D2BE8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16CFA7-EB57-8B8B-9FDC-F067EA950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5CAF78-E814-F147-85DE-99D10320521C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2757352"/>
      </p:ext>
    </p:extLst>
  </p:cSld>
  <p:clrMapOvr>
    <a:masterClrMapping/>
  </p:clrMapOvr>
</p:sld>
</file>

<file path=ppt/theme/theme1.xml><?xml version="1.0" encoding="utf-8"?>
<a:theme xmlns:a="http://schemas.openxmlformats.org/drawingml/2006/main" name="2_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2" id="{070E30A9-B8FF-4654-B5E3-A0B8380967CA}" vid="{2A4D907B-1719-438C-9A6C-E05CB992E1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講義用テンプレ</Template>
  <TotalTime>4</TotalTime>
  <Words>910</Words>
  <Application>Microsoft Office PowerPoint</Application>
  <PresentationFormat>ワイド画面</PresentationFormat>
  <Paragraphs>231</Paragraphs>
  <Slides>23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7" baseType="lpstr">
      <vt:lpstr>Hiragino Kaku Gothic ProN</vt:lpstr>
      <vt:lpstr>Meiryo UI</vt:lpstr>
      <vt:lpstr>Arial</vt:lpstr>
      <vt:lpstr>2_ホワイト</vt:lpstr>
      <vt:lpstr>バイオ技術（補助スライド）</vt:lpstr>
      <vt:lpstr>なぜ、Python ?</vt:lpstr>
      <vt:lpstr>Python とは</vt:lpstr>
      <vt:lpstr>プログラミング言語ランキングTOP20</vt:lpstr>
      <vt:lpstr>プログラミング言語ランキングの推移</vt:lpstr>
      <vt:lpstr>プログラミング言語ランキングの推移</vt:lpstr>
      <vt:lpstr>なぜ、Pythonが人気に？</vt:lpstr>
      <vt:lpstr>RNA-seq解析</vt:lpstr>
      <vt:lpstr>遺伝子発現解析</vt:lpstr>
      <vt:lpstr>遺伝子発現量データのクラスタ解析</vt:lpstr>
      <vt:lpstr>PowerPoint プレゼンテーション</vt:lpstr>
      <vt:lpstr>発現量解析</vt:lpstr>
      <vt:lpstr>トランスクリプトーム解析とは</vt:lpstr>
      <vt:lpstr>トランスクリプトーム解析とは</vt:lpstr>
      <vt:lpstr>トランスクリプトーム解析</vt:lpstr>
      <vt:lpstr>トランスクリプトーム解析</vt:lpstr>
      <vt:lpstr>マイクロアレイ</vt:lpstr>
      <vt:lpstr>次世代シーケンサー</vt:lpstr>
      <vt:lpstr>DNAマイクロアレイ vs. RNA-seq</vt:lpstr>
      <vt:lpstr>シングルセル解析</vt:lpstr>
      <vt:lpstr>シングルセル RNA-seq とは</vt:lpstr>
      <vt:lpstr>シングルセル解析データセット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岩田　浩明</dc:creator>
  <cp:lastModifiedBy>岩田　浩明</cp:lastModifiedBy>
  <cp:revision>1</cp:revision>
  <dcterms:created xsi:type="dcterms:W3CDTF">2026-08-05T11:32:12Z</dcterms:created>
  <dcterms:modified xsi:type="dcterms:W3CDTF">2026-08-05T11:36:29Z</dcterms:modified>
</cp:coreProperties>
</file>