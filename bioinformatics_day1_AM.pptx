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6" r:id="rId9"/>
    <p:sldId id="271" r:id="rId10"/>
    <p:sldId id="270" r:id="rId11"/>
    <p:sldId id="272" r:id="rId12"/>
    <p:sldId id="273" r:id="rId13"/>
    <p:sldId id="274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2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8" d="100"/>
          <a:sy n="68" d="100"/>
        </p:scale>
        <p:origin x="3312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4833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1D57C-1B03-10C1-34B0-5AA3E63BE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3C0E13-D929-7D9E-9E09-77CD0CBD22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6792ED-DF9F-122B-B9D8-5908C13B0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6C5F9-1524-1279-D745-5A799C69AC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6142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3E68A-0967-5F4F-0521-C5F12F906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2147D3-7E47-EB28-A132-D25AE9EDEE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D00ED9-B4C0-66E1-9BF6-833211029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62199-41AC-8D8B-E968-F10953FFE2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940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36352-BAAB-1079-6DDE-3AEDC65F8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190BD5-9DD2-F16E-E394-C61FA629F0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1EE5F8-8862-53A9-50AC-D551A4FFE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305F7-DA3C-4AA8-09A1-460DB6D97B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4389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221A9-8198-31F7-D2ED-A831D40EC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D466EB-7F5B-C8A6-6730-20FFE9B070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D0A952-8D36-AA17-2959-77E8F8788E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8735B-E46F-DB2C-42B0-DF8A21581A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923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0DDDF-20FE-C6F8-F40D-B4B63400A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34F540-8177-91FC-5A77-784946E7C9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0B88F7-23C2-E8CC-70EF-A75254FD83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F30FD-37E1-B680-39DA-05067B0F9A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2951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A09C9-8BE3-60EA-62FD-E7DC32618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878B1D-69FC-5E25-2F1A-BD8F7239F4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F58559-8DBA-B00D-AC62-ABA5123C4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C5575-6B0E-4230-3B38-528AC1FC10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3843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/mnt/data/a_high_resolution_abstract_scientific_tech_backgro.png">
            <a:extLst>
              <a:ext uri="{FF2B5EF4-FFF2-40B4-BE49-F238E27FC236}">
                <a16:creationId xmlns:a16="http://schemas.microsoft.com/office/drawing/2014/main" id="{E468EC1B-0BB3-3999-F9D2-AE928D9B67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1417320"/>
            <a:ext cx="47548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バイオ技術</a:t>
            </a:r>
            <a:endParaRPr lang="en-US" sz="3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1"/>
          <p:cNvSpPr/>
          <p:nvPr/>
        </p:nvSpPr>
        <p:spPr>
          <a:xfrm>
            <a:off x="676656" y="2084832"/>
            <a:ext cx="61264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1D4F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生命科学データ解析入門</a:t>
            </a:r>
            <a:endParaRPr lang="en-US" sz="2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694944" y="2798064"/>
            <a:ext cx="5303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9F7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Day 1：遺伝子発現データを解析する</a:t>
            </a:r>
            <a:endParaRPr lang="en-US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94944" y="3310128"/>
            <a:ext cx="2834640" cy="0"/>
          </a:xfrm>
          <a:prstGeom prst="line">
            <a:avLst/>
          </a:prstGeom>
          <a:noFill/>
          <a:ln w="25400">
            <a:solidFill>
              <a:srgbClr val="21D4FD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694944" y="534924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B8CA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Notebook × RNA-seq × single-cell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694944" y="6437376"/>
            <a:ext cx="53035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A9C1D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鳥取大学 医学部 生命科学科｜バイオ技術</a:t>
            </a:r>
            <a:endParaRPr lang="en-US" sz="8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47472"/>
            <a:ext cx="18288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1D4F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Day 1 Intro</a:t>
            </a:r>
            <a:endParaRPr lang="en-US" sz="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1"/>
          <p:cNvSpPr/>
          <p:nvPr/>
        </p:nvSpPr>
        <p:spPr>
          <a:xfrm>
            <a:off x="502920" y="804672"/>
            <a:ext cx="7863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なぜ生命科学でデータ解析が必要なのか？</a:t>
            </a:r>
            <a:endParaRPr lang="en-US" sz="2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731520" y="1828800"/>
            <a:ext cx="6126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大量データから、次の仮説をつくる</a:t>
            </a:r>
            <a:endParaRPr lang="en-US" sz="25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49808" y="2487168"/>
            <a:ext cx="3474720" cy="0"/>
          </a:xfrm>
          <a:prstGeom prst="line">
            <a:avLst/>
          </a:prstGeom>
          <a:noFill/>
          <a:ln w="25400">
            <a:solidFill>
              <a:srgbClr val="21D4FD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86384" y="2953512"/>
            <a:ext cx="109728" cy="109728"/>
          </a:xfrm>
          <a:prstGeom prst="ellipse">
            <a:avLst/>
          </a:prstGeom>
          <a:solidFill>
            <a:srgbClr val="21D4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14984" y="2852928"/>
            <a:ext cx="6400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RNA-seqでは、数万遺伝子の発現量を一度に測定できる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86384" y="3429000"/>
            <a:ext cx="109728" cy="109728"/>
          </a:xfrm>
          <a:prstGeom prst="ellipse">
            <a:avLst/>
          </a:prstGeom>
          <a:solidFill>
            <a:srgbClr val="21D4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14984" y="3328416"/>
            <a:ext cx="6400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single-cell RNA-seqでは、1細胞ごとの違いを調べられる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86384" y="3904488"/>
            <a:ext cx="109728" cy="109728"/>
          </a:xfrm>
          <a:prstGeom prst="ellipse">
            <a:avLst/>
          </a:prstGeom>
          <a:solidFill>
            <a:srgbClr val="21D4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14984" y="3803904"/>
            <a:ext cx="6400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データを比較し、特徴を見つけ、次の実験につなげる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86384" y="4379976"/>
            <a:ext cx="109728" cy="109728"/>
          </a:xfrm>
          <a:prstGeom prst="ellipse">
            <a:avLst/>
          </a:prstGeom>
          <a:solidFill>
            <a:srgbClr val="21D4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014984" y="4279392"/>
            <a:ext cx="6400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wet実験の結果は、解析して初めて意味が見えてくる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046720" y="1965960"/>
            <a:ext cx="25603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実験をする力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9326880" y="2377440"/>
            <a:ext cx="0" cy="548640"/>
          </a:xfrm>
          <a:prstGeom prst="line">
            <a:avLst/>
          </a:prstGeom>
          <a:noFill/>
          <a:ln w="20320">
            <a:solidFill>
              <a:srgbClr val="16E0C5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818120" y="3063240"/>
            <a:ext cx="2971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データを解析する力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9326880" y="3474720"/>
            <a:ext cx="0" cy="548640"/>
          </a:xfrm>
          <a:prstGeom prst="line">
            <a:avLst/>
          </a:prstGeom>
          <a:noFill/>
          <a:ln w="20320">
            <a:solidFill>
              <a:srgbClr val="16E0C5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726680" y="4187952"/>
            <a:ext cx="31546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D4F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研究を前に進める力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A9C1D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バイオ技術 Day 1｜遺伝子発現データを解析する</a:t>
            </a:r>
            <a:endParaRPr lang="en-US" sz="8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47472"/>
            <a:ext cx="18288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1D4F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Day 1 Intro</a:t>
            </a:r>
            <a:endParaRPr lang="en-US" sz="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1"/>
          <p:cNvSpPr/>
          <p:nvPr/>
        </p:nvSpPr>
        <p:spPr>
          <a:xfrm>
            <a:off x="502920" y="804672"/>
            <a:ext cx="7863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Wet研究とDry研究は別々ではない</a:t>
            </a:r>
            <a:endParaRPr lang="en-US" sz="2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521208" y="1335024"/>
            <a:ext cx="7863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B8CA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データ解析は、研究サイクルの一部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hape 3"/>
          <p:cNvSpPr/>
          <p:nvPr/>
        </p:nvSpPr>
        <p:spPr>
          <a:xfrm>
            <a:off x="2834640" y="2331720"/>
            <a:ext cx="201168" cy="201168"/>
          </a:xfrm>
          <a:prstGeom prst="ellipse">
            <a:avLst/>
          </a:prstGeom>
          <a:solidFill>
            <a:srgbClr val="21D4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3154680" y="2313432"/>
            <a:ext cx="1417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仮説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937760" y="2057400"/>
            <a:ext cx="201168" cy="201168"/>
          </a:xfrm>
          <a:prstGeom prst="ellipse">
            <a:avLst/>
          </a:prstGeom>
          <a:solidFill>
            <a:srgbClr val="16E0C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6"/>
          <p:cNvSpPr/>
          <p:nvPr/>
        </p:nvSpPr>
        <p:spPr>
          <a:xfrm>
            <a:off x="5257800" y="2039112"/>
            <a:ext cx="1417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実験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040880" y="2606040"/>
            <a:ext cx="201168" cy="201168"/>
          </a:xfrm>
          <a:prstGeom prst="ellipse">
            <a:avLst/>
          </a:prstGeom>
          <a:solidFill>
            <a:srgbClr val="4EA3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360920" y="2587752"/>
            <a:ext cx="1417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データ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680960" y="4160520"/>
            <a:ext cx="201168" cy="201168"/>
          </a:xfrm>
          <a:prstGeom prst="ellipse">
            <a:avLst/>
          </a:prstGeom>
          <a:solidFill>
            <a:srgbClr val="8F7C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001000" y="4142232"/>
            <a:ext cx="1417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解析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394960" y="4892040"/>
            <a:ext cx="201168" cy="201168"/>
          </a:xfrm>
          <a:prstGeom prst="ellipse">
            <a:avLst/>
          </a:prstGeom>
          <a:solidFill>
            <a:srgbClr val="FF8A8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715000" y="4873752"/>
            <a:ext cx="1417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解釈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017520" y="4389120"/>
            <a:ext cx="201168" cy="201168"/>
          </a:xfrm>
          <a:prstGeom prst="ellipse">
            <a:avLst/>
          </a:prstGeom>
          <a:solidFill>
            <a:srgbClr val="A7F3D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337560" y="4370832"/>
            <a:ext cx="160020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次の仮説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572000" y="3429000"/>
            <a:ext cx="29260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研究は一方向ではなく、</a:t>
            </a:r>
            <a:endParaRPr lang="en-US" sz="2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何度も回るサイクル</a:t>
            </a:r>
            <a:endParaRPr lang="en-US" sz="2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60120" y="5806440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D6E9F6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dry解析は「後処理」ではなく、次のwet実験を決めるための道具です。</a:t>
            </a:r>
            <a:endParaRPr lang="en-US" sz="14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A9C1D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バイオ技術 Day 1｜遺伝子発現データを解析する</a:t>
            </a:r>
            <a:endParaRPr lang="en-US" sz="8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47472"/>
            <a:ext cx="18288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1D4F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Day 1 Intro</a:t>
            </a:r>
            <a:endParaRPr lang="en-US" sz="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1"/>
          <p:cNvSpPr/>
          <p:nvPr/>
        </p:nvSpPr>
        <p:spPr>
          <a:xfrm>
            <a:off x="502920" y="804672"/>
            <a:ext cx="7863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この2日間で体験すること</a:t>
            </a:r>
            <a:endParaRPr lang="en-US" sz="2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Shape 2"/>
          <p:cNvSpPr/>
          <p:nvPr/>
        </p:nvSpPr>
        <p:spPr>
          <a:xfrm>
            <a:off x="1188720" y="2971800"/>
            <a:ext cx="9692640" cy="0"/>
          </a:xfrm>
          <a:prstGeom prst="line">
            <a:avLst/>
          </a:prstGeom>
          <a:noFill/>
          <a:ln w="25400">
            <a:solidFill>
              <a:srgbClr val="21D4FD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hape 3"/>
          <p:cNvSpPr/>
          <p:nvPr/>
        </p:nvSpPr>
        <p:spPr>
          <a:xfrm>
            <a:off x="2286000" y="2871216"/>
            <a:ext cx="201168" cy="201168"/>
          </a:xfrm>
          <a:prstGeom prst="ellipse">
            <a:avLst/>
          </a:prstGeom>
          <a:solidFill>
            <a:srgbClr val="21D4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1600200" y="1417320"/>
            <a:ext cx="15544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D4F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Day 1 AM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1280160" y="1783080"/>
            <a:ext cx="21945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RNA-seq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single-cell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89320" y="2871216"/>
            <a:ext cx="201168" cy="201168"/>
          </a:xfrm>
          <a:prstGeom prst="ellipse">
            <a:avLst/>
          </a:prstGeom>
          <a:solidFill>
            <a:srgbClr val="8F7C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303520" y="3703320"/>
            <a:ext cx="15544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F7C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Day 1 PM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983480" y="4069080"/>
            <a:ext cx="21945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論文再現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CRISPLD2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9692640" y="2871216"/>
            <a:ext cx="201168" cy="201168"/>
          </a:xfrm>
          <a:prstGeom prst="ellipse">
            <a:avLst/>
          </a:prstGeom>
          <a:solidFill>
            <a:srgbClr val="FF8A8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006840" y="1417320"/>
            <a:ext cx="15544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8A8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Day 2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686800" y="1783080"/>
            <a:ext cx="21945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機械学習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画像AI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280160" y="5715000"/>
            <a:ext cx="9601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コードを覚えることより、解析の考え方を体験する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A9C1D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バイオ技術 Day 1｜遺伝子発現データを解析する</a:t>
            </a:r>
            <a:endParaRPr lang="en-US" sz="8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47472"/>
            <a:ext cx="18288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1D4F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Day 1 Intro</a:t>
            </a:r>
            <a:endParaRPr lang="en-US" sz="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1"/>
          <p:cNvSpPr/>
          <p:nvPr/>
        </p:nvSpPr>
        <p:spPr>
          <a:xfrm>
            <a:off x="502920" y="804672"/>
            <a:ext cx="7863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今日の午前の流れ</a:t>
            </a:r>
            <a:endParaRPr lang="en-US" sz="2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056703" y="2926080"/>
            <a:ext cx="822960" cy="0"/>
          </a:xfrm>
          <a:prstGeom prst="line">
            <a:avLst/>
          </a:prstGeom>
          <a:noFill/>
          <a:ln w="20320">
            <a:solidFill>
              <a:srgbClr val="16E0C5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086600" y="2926080"/>
            <a:ext cx="822960" cy="0"/>
          </a:xfrm>
          <a:prstGeom prst="line">
            <a:avLst/>
          </a:prstGeom>
          <a:noFill/>
          <a:ln w="20320">
            <a:solidFill>
              <a:srgbClr val="16E0C5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D4F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1-1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284115" y="2747770"/>
            <a:ext cx="2655027" cy="45719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Notebookに慣れる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6"/>
          <p:cNvSpPr/>
          <p:nvPr/>
        </p:nvSpPr>
        <p:spPr>
          <a:xfrm>
            <a:off x="228600" y="3232404"/>
            <a:ext cx="24688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D6E9F6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セルを実行し、表とグラフを操作する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676504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E0C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1-2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971104" y="2697480"/>
            <a:ext cx="28411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bulk RNA-seq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098472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D6E9F6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PCA・DEG・Volcano plot・Heatmap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22960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F7C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1-3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863839" y="2697480"/>
            <a:ext cx="2364377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single-cell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759336" y="3232404"/>
            <a:ext cx="24688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D6E9F6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QC・UMAP・Clustering・Marker gene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97280" y="4526280"/>
            <a:ext cx="99669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約2時間で、「実行できる」から「結果を読める」へ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554480" y="5349240"/>
            <a:ext cx="89611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D2E8F6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午後は、公開RNA-seqデータから論文の候補遺伝子を探します。</a:t>
            </a:r>
            <a:endParaRPr lang="en-US" sz="15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A9C1D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バイオ技術 Day 1｜遺伝子発現データを解析する</a:t>
            </a:r>
            <a:endParaRPr lang="en-US" sz="8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47472"/>
            <a:ext cx="18288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1D4F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Day 1 Intro</a:t>
            </a:r>
            <a:endParaRPr lang="en-US" sz="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1"/>
          <p:cNvSpPr/>
          <p:nvPr/>
        </p:nvSpPr>
        <p:spPr>
          <a:xfrm>
            <a:off x="502920" y="804672"/>
            <a:ext cx="7863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今日使うのはGoogle Colab</a:t>
            </a:r>
            <a:endParaRPr lang="en-US" sz="2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521208" y="1335024"/>
            <a:ext cx="7863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B8CA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ブラウザ上でPythonを実行できるNotebook環境</a:t>
            </a:r>
            <a:endParaRPr lang="en-US" sz="12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22960" y="1975104"/>
            <a:ext cx="109728" cy="109728"/>
          </a:xfrm>
          <a:prstGeom prst="ellipse">
            <a:avLst/>
          </a:prstGeom>
          <a:solidFill>
            <a:srgbClr val="21D4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51560" y="1874520"/>
            <a:ext cx="5029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セルを上から順に実行する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22960" y="2468880"/>
            <a:ext cx="109728" cy="109728"/>
          </a:xfrm>
          <a:prstGeom prst="ellipse">
            <a:avLst/>
          </a:prstGeom>
          <a:solidFill>
            <a:srgbClr val="21D4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51560" y="2368296"/>
            <a:ext cx="5029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Shift + Enter で実行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22960" y="2962656"/>
            <a:ext cx="109728" cy="109728"/>
          </a:xfrm>
          <a:prstGeom prst="ellipse">
            <a:avLst/>
          </a:prstGeom>
          <a:solidFill>
            <a:srgbClr val="21D4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51560" y="2862072"/>
            <a:ext cx="5029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___ があるところは自分で入力する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22960" y="3456432"/>
            <a:ext cx="109728" cy="109728"/>
          </a:xfrm>
          <a:prstGeom prst="ellipse">
            <a:avLst/>
          </a:prstGeom>
          <a:solidFill>
            <a:srgbClr val="21D4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51560" y="3355848"/>
            <a:ext cx="5029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値を変えて結果の変化を見る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22960" y="3950208"/>
            <a:ext cx="109728" cy="109728"/>
          </a:xfrm>
          <a:prstGeom prst="ellipse">
            <a:avLst/>
          </a:prstGeom>
          <a:solidFill>
            <a:srgbClr val="21D4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51560" y="3849624"/>
            <a:ext cx="5029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エラーが出ても大丈夫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360920" y="1828800"/>
            <a:ext cx="3383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Markdown cell：説明を読む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360920" y="2606040"/>
            <a:ext cx="3383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D4F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Code cell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360920" y="2907792"/>
            <a:ext cx="28346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E2F7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df.head()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E2F7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plt.show()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360920" y="3977640"/>
            <a:ext cx="3566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D6E9F6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Output：表やグラフが表示される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A9C1D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バイオ技術 Day 1｜遺伝子発現データを解析する</a:t>
            </a:r>
            <a:endParaRPr lang="en-US" sz="8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47472"/>
            <a:ext cx="18288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1D4F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Day 1 Intro</a:t>
            </a:r>
            <a:endParaRPr lang="en-US" sz="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1"/>
          <p:cNvSpPr/>
          <p:nvPr/>
        </p:nvSpPr>
        <p:spPr>
          <a:xfrm>
            <a:off x="502920" y="804672"/>
            <a:ext cx="7863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今日の学び方</a:t>
            </a:r>
            <a:endParaRPr lang="en-US" sz="2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521208" y="1335024"/>
            <a:ext cx="7863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B8CA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コードを動かすだけでは、データ解析にはならない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hape 3"/>
          <p:cNvSpPr/>
          <p:nvPr/>
        </p:nvSpPr>
        <p:spPr>
          <a:xfrm>
            <a:off x="2103120" y="3246119"/>
            <a:ext cx="809897" cy="6531"/>
          </a:xfrm>
          <a:prstGeom prst="line">
            <a:avLst/>
          </a:prstGeom>
          <a:noFill/>
          <a:ln w="20320">
            <a:solidFill>
              <a:srgbClr val="16E0C5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389120" y="3252651"/>
            <a:ext cx="809897" cy="0"/>
          </a:xfrm>
          <a:prstGeom prst="line">
            <a:avLst/>
          </a:prstGeom>
          <a:noFill/>
          <a:ln w="20320">
            <a:solidFill>
              <a:srgbClr val="16E0C5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5"/>
          <p:cNvSpPr/>
          <p:nvPr/>
        </p:nvSpPr>
        <p:spPr>
          <a:xfrm flipV="1">
            <a:off x="6717574" y="3252651"/>
            <a:ext cx="738051" cy="6531"/>
          </a:xfrm>
          <a:prstGeom prst="line">
            <a:avLst/>
          </a:prstGeom>
          <a:noFill/>
          <a:ln w="20320">
            <a:solidFill>
              <a:srgbClr val="16E0C5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846820" y="3246119"/>
            <a:ext cx="731520" cy="0"/>
          </a:xfrm>
          <a:prstGeom prst="line">
            <a:avLst/>
          </a:prstGeom>
          <a:noFill/>
          <a:ln w="20320">
            <a:solidFill>
              <a:srgbClr val="16E0C5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280160" y="2816352"/>
            <a:ext cx="320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1D4F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1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77240" y="3429000"/>
            <a:ext cx="1325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予想する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520440" y="2816352"/>
            <a:ext cx="320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6E0C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2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108960" y="3479292"/>
            <a:ext cx="1325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実行する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760720" y="2816352"/>
            <a:ext cx="320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F7C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3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349240" y="3479292"/>
            <a:ext cx="1325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結果を見る</a:t>
            </a:r>
            <a:endParaRPr lang="en-US" sz="1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001000" y="2816352"/>
            <a:ext cx="320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8A8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4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511143" y="3479292"/>
            <a:ext cx="1325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考える</a:t>
            </a:r>
            <a:endParaRPr lang="en-US" sz="1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9921240" y="2816352"/>
            <a:ext cx="320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7F3D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5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578340" y="3474720"/>
            <a:ext cx="1325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試し直す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828800" y="5303520"/>
            <a:ext cx="85039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結果を解釈するところまでが解析です</a:t>
            </a:r>
            <a:endParaRPr lang="en-US" sz="2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A9C1D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バイオ技術 Day 1｜遺伝子発現データを解析する</a:t>
            </a:r>
            <a:endParaRPr lang="en-US" sz="8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E7C8D-CD99-1B0B-8131-F332AA2BC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60611F8E-0C7D-2271-A824-D21D724C5D0F}"/>
              </a:ext>
            </a:extLst>
          </p:cNvPr>
          <p:cNvSpPr/>
          <p:nvPr/>
        </p:nvSpPr>
        <p:spPr>
          <a:xfrm>
            <a:off x="502920" y="347472"/>
            <a:ext cx="18288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1D4F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Day 1 Intro</a:t>
            </a:r>
            <a:endParaRPr lang="en-US" sz="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D34DD23-AB11-42EA-73D1-0663062E6D71}"/>
              </a:ext>
            </a:extLst>
          </p:cNvPr>
          <p:cNvSpPr/>
          <p:nvPr/>
        </p:nvSpPr>
        <p:spPr>
          <a:xfrm>
            <a:off x="502920" y="804672"/>
            <a:ext cx="7863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今日のゴール</a:t>
            </a:r>
            <a:endParaRPr lang="en-US" sz="2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234FCB0-583D-AF7A-1128-55A7682939B0}"/>
              </a:ext>
            </a:extLst>
          </p:cNvPr>
          <p:cNvSpPr/>
          <p:nvPr/>
        </p:nvSpPr>
        <p:spPr>
          <a:xfrm>
            <a:off x="1280160" y="1737360"/>
            <a:ext cx="365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E0C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✓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B100B69-F8AF-B3CC-8E79-BE1B25CF129E}"/>
              </a:ext>
            </a:extLst>
          </p:cNvPr>
          <p:cNvSpPr/>
          <p:nvPr/>
        </p:nvSpPr>
        <p:spPr>
          <a:xfrm>
            <a:off x="1828800" y="1737360"/>
            <a:ext cx="8686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Notebookを自分で実行できる</a:t>
            </a:r>
            <a:endParaRPr lang="en-US" sz="1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7B45721-4E69-441C-5ABA-8CC4CF659168}"/>
              </a:ext>
            </a:extLst>
          </p:cNvPr>
          <p:cNvSpPr/>
          <p:nvPr/>
        </p:nvSpPr>
        <p:spPr>
          <a:xfrm>
            <a:off x="1280160" y="2450592"/>
            <a:ext cx="365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E0C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✓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E6C5F9B-9E29-0F89-682E-7CBC92794AC7}"/>
              </a:ext>
            </a:extLst>
          </p:cNvPr>
          <p:cNvSpPr/>
          <p:nvPr/>
        </p:nvSpPr>
        <p:spPr>
          <a:xfrm>
            <a:off x="1828800" y="2450592"/>
            <a:ext cx="8686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表やグラフからデータの特徴を読み取れる</a:t>
            </a:r>
            <a:endParaRPr lang="en-US" sz="1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1AF613E-5FF9-36E0-2337-63EC4F5C341A}"/>
              </a:ext>
            </a:extLst>
          </p:cNvPr>
          <p:cNvSpPr/>
          <p:nvPr/>
        </p:nvSpPr>
        <p:spPr>
          <a:xfrm>
            <a:off x="1280160" y="3163824"/>
            <a:ext cx="365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E0C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✓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2EF4663-B5AA-5B87-040D-14D6595A4DD9}"/>
              </a:ext>
            </a:extLst>
          </p:cNvPr>
          <p:cNvSpPr/>
          <p:nvPr/>
        </p:nvSpPr>
        <p:spPr>
          <a:xfrm>
            <a:off x="1828800" y="3163824"/>
            <a:ext cx="8686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PCAが何を見ているか説明できる</a:t>
            </a:r>
            <a:endParaRPr lang="en-US" sz="1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4176F87-D5E9-2848-EA0F-E4F8353A9460}"/>
              </a:ext>
            </a:extLst>
          </p:cNvPr>
          <p:cNvSpPr/>
          <p:nvPr/>
        </p:nvSpPr>
        <p:spPr>
          <a:xfrm>
            <a:off x="1280160" y="3877056"/>
            <a:ext cx="365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E0C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✓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61F866D-856E-BDD2-12C6-4B8B98DA57E1}"/>
              </a:ext>
            </a:extLst>
          </p:cNvPr>
          <p:cNvSpPr/>
          <p:nvPr/>
        </p:nvSpPr>
        <p:spPr>
          <a:xfrm>
            <a:off x="1828800" y="3877056"/>
            <a:ext cx="8686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DEG・Volcano plot・Heatmapを読める</a:t>
            </a:r>
            <a:endParaRPr lang="en-US" sz="1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F1A3AF8-5C7E-613E-7DB8-B4976C730117}"/>
              </a:ext>
            </a:extLst>
          </p:cNvPr>
          <p:cNvSpPr/>
          <p:nvPr/>
        </p:nvSpPr>
        <p:spPr>
          <a:xfrm>
            <a:off x="1280160" y="4590288"/>
            <a:ext cx="365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E0C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✓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00C6010-B28D-C139-0E15-245C057C0260}"/>
              </a:ext>
            </a:extLst>
          </p:cNvPr>
          <p:cNvSpPr/>
          <p:nvPr/>
        </p:nvSpPr>
        <p:spPr>
          <a:xfrm>
            <a:off x="1828800" y="4590288"/>
            <a:ext cx="8686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UMAP・Cluster・Marker geneの関係を説明できる</a:t>
            </a:r>
            <a:endParaRPr lang="en-US" sz="1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2D089F3-554C-D370-5D36-0E8C209269B2}"/>
              </a:ext>
            </a:extLst>
          </p:cNvPr>
          <p:cNvSpPr/>
          <p:nvPr/>
        </p:nvSpPr>
        <p:spPr>
          <a:xfrm>
            <a:off x="1143000" y="5760720"/>
            <a:ext cx="99669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D4F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「自分でもデータ解析ができそう」と感じてもらえれば成功です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F94B7A31-14C7-89B6-4B70-AE4A8AF5C799}"/>
              </a:ext>
            </a:extLst>
          </p:cNvPr>
          <p:cNvSpPr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A9C1D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バイオ技術 Day 1｜遺伝子発現データを解析する</a:t>
            </a:r>
            <a:endParaRPr lang="en-US" sz="8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37481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50573-66FF-F9AB-0765-04A318890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B4FD52C4-C397-2514-E49E-B1BF8EE8FE07}"/>
              </a:ext>
            </a:extLst>
          </p:cNvPr>
          <p:cNvSpPr/>
          <p:nvPr/>
        </p:nvSpPr>
        <p:spPr>
          <a:xfrm>
            <a:off x="502920" y="347472"/>
            <a:ext cx="18288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1D4F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Day 1 Intro</a:t>
            </a:r>
            <a:endParaRPr lang="en-US" sz="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8D25E46-3B8A-00A4-F470-6E273AB428B8}"/>
              </a:ext>
            </a:extLst>
          </p:cNvPr>
          <p:cNvSpPr/>
          <p:nvPr/>
        </p:nvSpPr>
        <p:spPr>
          <a:xfrm>
            <a:off x="502920" y="804672"/>
            <a:ext cx="7863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Google Colab </a:t>
            </a:r>
            <a:r>
              <a:rPr lang="ja-JP" altLang="en-US" sz="26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の準備</a:t>
            </a:r>
            <a:r>
              <a:rPr lang="en-US" altLang="ja-JP" sz="26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2</a:t>
            </a:r>
            <a:endParaRPr lang="en-US" sz="2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0B0E000-BE82-6869-02E7-1014709E90E7}"/>
              </a:ext>
            </a:extLst>
          </p:cNvPr>
          <p:cNvSpPr/>
          <p:nvPr/>
        </p:nvSpPr>
        <p:spPr>
          <a:xfrm>
            <a:off x="1280160" y="1593667"/>
            <a:ext cx="365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E0C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✓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B6A4C37-CC5E-F148-3A7C-050F104C7BA7}"/>
              </a:ext>
            </a:extLst>
          </p:cNvPr>
          <p:cNvSpPr/>
          <p:nvPr/>
        </p:nvSpPr>
        <p:spPr>
          <a:xfrm>
            <a:off x="1828800" y="1593667"/>
            <a:ext cx="8686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ja-JP" altLang="en-US" sz="19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鳥大</a:t>
            </a:r>
            <a:r>
              <a:rPr lang="en-US" altLang="ja-JP" sz="19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ID</a:t>
            </a:r>
            <a:r>
              <a:rPr lang="ja-JP" altLang="en-US" sz="19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（学籍番号で）ログイン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61BC422-AFD4-1DDA-FEAA-2EA0FA408FA7}"/>
              </a:ext>
            </a:extLst>
          </p:cNvPr>
          <p:cNvSpPr/>
          <p:nvPr/>
        </p:nvSpPr>
        <p:spPr>
          <a:xfrm>
            <a:off x="1280160" y="1980326"/>
            <a:ext cx="365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E0C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✓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B2BC43F-62C9-595B-90F9-A72EE1E8E13D}"/>
              </a:ext>
            </a:extLst>
          </p:cNvPr>
          <p:cNvSpPr/>
          <p:nvPr/>
        </p:nvSpPr>
        <p:spPr>
          <a:xfrm>
            <a:off x="1828800" y="1980326"/>
            <a:ext cx="8686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Google colab（colaboratory）</a:t>
            </a:r>
            <a:r>
              <a:rPr lang="ja-JP" altLang="en-US" sz="19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を検索</a:t>
            </a: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CEB18A70-47D4-FC83-1728-30368D3EA916}"/>
              </a:ext>
            </a:extLst>
          </p:cNvPr>
          <p:cNvSpPr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A9C1D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バイオ技術 Day 1｜遺伝子発現データを解析する</a:t>
            </a:r>
            <a:endParaRPr lang="en-US" sz="8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47453518-29F0-E950-1CF7-FF70A67E7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255" y="2595886"/>
            <a:ext cx="7429156" cy="3913469"/>
          </a:xfrm>
          <a:prstGeom prst="rect">
            <a:avLst/>
          </a:prstGeom>
        </p:spPr>
      </p:pic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AF61B29D-FCA9-7E76-2110-5BEBD18D8789}"/>
              </a:ext>
            </a:extLst>
          </p:cNvPr>
          <p:cNvSpPr/>
          <p:nvPr/>
        </p:nvSpPr>
        <p:spPr>
          <a:xfrm>
            <a:off x="8254713" y="3059669"/>
            <a:ext cx="754656" cy="447188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矢印: 右 20">
            <a:extLst>
              <a:ext uri="{FF2B5EF4-FFF2-40B4-BE49-F238E27FC236}">
                <a16:creationId xmlns:a16="http://schemas.microsoft.com/office/drawing/2014/main" id="{7862F98D-7637-A485-5726-8E8BF7EBBB4F}"/>
              </a:ext>
            </a:extLst>
          </p:cNvPr>
          <p:cNvSpPr/>
          <p:nvPr/>
        </p:nvSpPr>
        <p:spPr>
          <a:xfrm rot="10800000">
            <a:off x="9187475" y="3059669"/>
            <a:ext cx="635249" cy="44718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6E124D3-E20A-F2FD-8C20-8E880F3E36B1}"/>
              </a:ext>
            </a:extLst>
          </p:cNvPr>
          <p:cNvSpPr/>
          <p:nvPr/>
        </p:nvSpPr>
        <p:spPr>
          <a:xfrm>
            <a:off x="3449521" y="5190466"/>
            <a:ext cx="1070473" cy="511539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4B37DA9-F069-DB3E-422D-7C86D90F4927}"/>
              </a:ext>
            </a:extLst>
          </p:cNvPr>
          <p:cNvSpPr txBox="1"/>
          <p:nvPr/>
        </p:nvSpPr>
        <p:spPr>
          <a:xfrm>
            <a:off x="10033578" y="3059668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鳥大</a:t>
            </a:r>
            <a:r>
              <a:rPr kumimoji="1"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ID</a:t>
            </a:r>
            <a:r>
              <a:rPr kumimoji="1" lang="ja-JP" altLang="en-US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を確認</a:t>
            </a:r>
          </a:p>
        </p:txBody>
      </p:sp>
    </p:spTree>
    <p:extLst>
      <p:ext uri="{BB962C8B-B14F-4D97-AF65-F5344CB8AC3E}">
        <p14:creationId xmlns:p14="http://schemas.microsoft.com/office/powerpoint/2010/main" val="2989937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D776D-5313-3B29-3989-6EF12DDEC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B9B5F5A5-7122-CDC0-03FD-3ACE0334A87A}"/>
              </a:ext>
            </a:extLst>
          </p:cNvPr>
          <p:cNvSpPr/>
          <p:nvPr/>
        </p:nvSpPr>
        <p:spPr>
          <a:xfrm>
            <a:off x="502920" y="347472"/>
            <a:ext cx="18288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1D4F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Day 1 Intro</a:t>
            </a:r>
            <a:endParaRPr lang="en-US" sz="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7B5C0F9-265A-E1FE-DC5E-87B35F964268}"/>
              </a:ext>
            </a:extLst>
          </p:cNvPr>
          <p:cNvSpPr/>
          <p:nvPr/>
        </p:nvSpPr>
        <p:spPr>
          <a:xfrm>
            <a:off x="502920" y="804672"/>
            <a:ext cx="7863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Google Colab </a:t>
            </a:r>
            <a:r>
              <a:rPr lang="ja-JP" altLang="en-US" sz="26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の準備</a:t>
            </a:r>
            <a:r>
              <a:rPr lang="en-US" altLang="ja-JP" sz="26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2</a:t>
            </a:r>
            <a:endParaRPr lang="en-US" sz="2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28C84871-7166-C222-FD46-2AE839D688A1}"/>
              </a:ext>
            </a:extLst>
          </p:cNvPr>
          <p:cNvSpPr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A9C1D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バイオ技術 Day 1｜遺伝子発現データを解析する</a:t>
            </a:r>
            <a:endParaRPr lang="en-US" sz="8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64FD0A2-20AA-2E9B-5155-F605A973F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6935" y="1454703"/>
            <a:ext cx="7874363" cy="3948594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B76EFC0-D064-E5A3-68B5-F34F41FE32B7}"/>
              </a:ext>
            </a:extLst>
          </p:cNvPr>
          <p:cNvSpPr/>
          <p:nvPr/>
        </p:nvSpPr>
        <p:spPr>
          <a:xfrm>
            <a:off x="1916935" y="3765798"/>
            <a:ext cx="5221995" cy="1048573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FBDF758-2AE3-58DB-D73C-D6153EE81060}"/>
              </a:ext>
            </a:extLst>
          </p:cNvPr>
          <p:cNvSpPr txBox="1"/>
          <p:nvPr/>
        </p:nvSpPr>
        <p:spPr>
          <a:xfrm>
            <a:off x="5129405" y="5550408"/>
            <a:ext cx="42210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Google Colab </a:t>
            </a:r>
            <a:r>
              <a:rPr kumimoji="1"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のページを開く</a:t>
            </a:r>
          </a:p>
        </p:txBody>
      </p:sp>
    </p:spTree>
    <p:extLst>
      <p:ext uri="{BB962C8B-B14F-4D97-AF65-F5344CB8AC3E}">
        <p14:creationId xmlns:p14="http://schemas.microsoft.com/office/powerpoint/2010/main" val="2177907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B837C-C9C3-3337-6392-646CD13CC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19DA4FC-7DDB-1144-1A16-5CFC17532CA8}"/>
              </a:ext>
            </a:extLst>
          </p:cNvPr>
          <p:cNvSpPr/>
          <p:nvPr/>
        </p:nvSpPr>
        <p:spPr>
          <a:xfrm>
            <a:off x="502920" y="347472"/>
            <a:ext cx="18288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1D4F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Day 1 Intro</a:t>
            </a:r>
            <a:endParaRPr lang="en-US" sz="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0DA3DAD-35E1-A10C-5DAA-63B622FE9807}"/>
              </a:ext>
            </a:extLst>
          </p:cNvPr>
          <p:cNvSpPr/>
          <p:nvPr/>
        </p:nvSpPr>
        <p:spPr>
          <a:xfrm>
            <a:off x="502920" y="804672"/>
            <a:ext cx="7863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Google Colab </a:t>
            </a:r>
            <a:r>
              <a:rPr lang="ja-JP" altLang="en-US" sz="26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の準備</a:t>
            </a:r>
            <a:r>
              <a:rPr lang="en-US" altLang="ja-JP" sz="26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3</a:t>
            </a:r>
            <a:endParaRPr lang="en-US" sz="2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A619150F-30E7-641A-27E8-C32372C650E4}"/>
              </a:ext>
            </a:extLst>
          </p:cNvPr>
          <p:cNvSpPr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A9C1D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バイオ技術 Day 1｜遺伝子発現データを解析する</a:t>
            </a:r>
            <a:endParaRPr lang="en-US" sz="8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87B38196-D404-C347-D194-B181A7D3D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393" y="1315926"/>
            <a:ext cx="8247228" cy="4822264"/>
          </a:xfrm>
          <a:prstGeom prst="rect">
            <a:avLst/>
          </a:prstGeom>
        </p:spPr>
      </p:pic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2A74AC2-F569-BCD5-128A-C7F2B5E5E183}"/>
              </a:ext>
            </a:extLst>
          </p:cNvPr>
          <p:cNvSpPr/>
          <p:nvPr/>
        </p:nvSpPr>
        <p:spPr>
          <a:xfrm>
            <a:off x="4202015" y="2214369"/>
            <a:ext cx="1741585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矢印: 右 20">
            <a:extLst>
              <a:ext uri="{FF2B5EF4-FFF2-40B4-BE49-F238E27FC236}">
                <a16:creationId xmlns:a16="http://schemas.microsoft.com/office/drawing/2014/main" id="{7EA056F9-AD23-B8A7-7A0F-DFC584700499}"/>
              </a:ext>
            </a:extLst>
          </p:cNvPr>
          <p:cNvSpPr/>
          <p:nvPr/>
        </p:nvSpPr>
        <p:spPr>
          <a:xfrm rot="10800000">
            <a:off x="6096000" y="2214369"/>
            <a:ext cx="635249" cy="44718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568F688-4AE1-8B4C-6C83-B3E77B06F229}"/>
              </a:ext>
            </a:extLst>
          </p:cNvPr>
          <p:cNvSpPr txBox="1"/>
          <p:nvPr/>
        </p:nvSpPr>
        <p:spPr>
          <a:xfrm>
            <a:off x="4568389" y="2824374"/>
            <a:ext cx="467307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ノートブックをアップロード</a:t>
            </a:r>
            <a:r>
              <a:rPr kumimoji="1" lang="en-US" altLang="ja-JP" sz="2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ja-JP" altLang="en-US" sz="2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をクリック</a:t>
            </a:r>
          </a:p>
        </p:txBody>
      </p:sp>
    </p:spTree>
    <p:extLst>
      <p:ext uri="{BB962C8B-B14F-4D97-AF65-F5344CB8AC3E}">
        <p14:creationId xmlns:p14="http://schemas.microsoft.com/office/powerpoint/2010/main" val="3438518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4708E-823B-CE67-0803-4384D2785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F312DD1-8A0B-76E5-8345-BE27B11495E5}"/>
              </a:ext>
            </a:extLst>
          </p:cNvPr>
          <p:cNvSpPr/>
          <p:nvPr/>
        </p:nvSpPr>
        <p:spPr>
          <a:xfrm>
            <a:off x="502920" y="347472"/>
            <a:ext cx="18288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1D4F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Day 1 Intro</a:t>
            </a:r>
            <a:endParaRPr lang="en-US" sz="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93E5FCF-981F-74C4-8AB2-DF83934CED46}"/>
              </a:ext>
            </a:extLst>
          </p:cNvPr>
          <p:cNvSpPr/>
          <p:nvPr/>
        </p:nvSpPr>
        <p:spPr>
          <a:xfrm>
            <a:off x="502920" y="804672"/>
            <a:ext cx="7863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Google Colab </a:t>
            </a:r>
            <a:r>
              <a:rPr lang="ja-JP" altLang="en-US" sz="26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の準備</a:t>
            </a:r>
            <a:r>
              <a:rPr lang="en-US" altLang="ja-JP" sz="26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4</a:t>
            </a:r>
            <a:endParaRPr lang="en-US" sz="2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D1119FA7-AB90-B583-8710-4D5890EC2C9D}"/>
              </a:ext>
            </a:extLst>
          </p:cNvPr>
          <p:cNvSpPr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A9C1D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バイオ技術 Day 1｜遺伝子発現データを解析する</a:t>
            </a:r>
            <a:endParaRPr lang="en-US" sz="8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95C97949-7A07-13D5-4369-6ADDACA9E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029" y="1307592"/>
            <a:ext cx="7343709" cy="5415006"/>
          </a:xfrm>
          <a:prstGeom prst="rect">
            <a:avLst/>
          </a:prstGeom>
        </p:spPr>
      </p:pic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A953428-9615-1AAF-2682-1FE6AE438432}"/>
              </a:ext>
            </a:extLst>
          </p:cNvPr>
          <p:cNvSpPr/>
          <p:nvPr/>
        </p:nvSpPr>
        <p:spPr>
          <a:xfrm>
            <a:off x="3448593" y="3949610"/>
            <a:ext cx="1221313" cy="511539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353FC9B-0BE2-C384-8F75-78AF5B1045D3}"/>
              </a:ext>
            </a:extLst>
          </p:cNvPr>
          <p:cNvSpPr txBox="1"/>
          <p:nvPr/>
        </p:nvSpPr>
        <p:spPr>
          <a:xfrm>
            <a:off x="1979440" y="4642171"/>
            <a:ext cx="354616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1. </a:t>
            </a:r>
            <a:r>
              <a:rPr kumimoji="1" lang="ja-JP" altLang="en-US" sz="2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「アップロード」をクリック</a:t>
            </a:r>
          </a:p>
        </p:txBody>
      </p:sp>
      <p:sp>
        <p:nvSpPr>
          <p:cNvPr id="23" name="矢印: 右 22">
            <a:extLst>
              <a:ext uri="{FF2B5EF4-FFF2-40B4-BE49-F238E27FC236}">
                <a16:creationId xmlns:a16="http://schemas.microsoft.com/office/drawing/2014/main" id="{7C2B083A-4BE9-07CC-00C7-B1A0C675CB4B}"/>
              </a:ext>
            </a:extLst>
          </p:cNvPr>
          <p:cNvSpPr/>
          <p:nvPr/>
        </p:nvSpPr>
        <p:spPr>
          <a:xfrm>
            <a:off x="2735503" y="3981786"/>
            <a:ext cx="635249" cy="44718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矢印: 右 24">
            <a:extLst>
              <a:ext uri="{FF2B5EF4-FFF2-40B4-BE49-F238E27FC236}">
                <a16:creationId xmlns:a16="http://schemas.microsoft.com/office/drawing/2014/main" id="{3D5A3E9F-E762-DA86-CC4C-390B4AF69FC8}"/>
              </a:ext>
            </a:extLst>
          </p:cNvPr>
          <p:cNvSpPr/>
          <p:nvPr/>
        </p:nvSpPr>
        <p:spPr>
          <a:xfrm rot="13862179">
            <a:off x="7204471" y="4369355"/>
            <a:ext cx="635249" cy="44718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0449FC51-ED19-58EE-75D9-A301010DA9AA}"/>
              </a:ext>
            </a:extLst>
          </p:cNvPr>
          <p:cNvSpPr txBox="1"/>
          <p:nvPr/>
        </p:nvSpPr>
        <p:spPr>
          <a:xfrm>
            <a:off x="6096000" y="5088262"/>
            <a:ext cx="5059680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58775" indent="-358775"/>
            <a:r>
              <a:rPr kumimoji="1" lang="en-US" altLang="ja-JP" sz="2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2. </a:t>
            </a:r>
            <a:r>
              <a:rPr kumimoji="1" lang="ja-JP" altLang="en-US" sz="2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ここにダウンロードした</a:t>
            </a:r>
            <a:r>
              <a:rPr kumimoji="1" lang="en-US" altLang="ja-JP" sz="2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***.</a:t>
            </a:r>
            <a:r>
              <a:rPr kumimoji="1" lang="en-US" altLang="ja-JP" sz="2400" b="1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ipynb</a:t>
            </a:r>
            <a:r>
              <a:rPr kumimoji="1" lang="en-US" altLang="ja-JP" sz="2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ja-JP" altLang="en-US" sz="2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ファイルをドラッグ＆ドロップ</a:t>
            </a:r>
          </a:p>
        </p:txBody>
      </p:sp>
    </p:spTree>
    <p:extLst>
      <p:ext uri="{BB962C8B-B14F-4D97-AF65-F5344CB8AC3E}">
        <p14:creationId xmlns:p14="http://schemas.microsoft.com/office/powerpoint/2010/main" val="2032304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5DEE9-7253-7308-F58C-E17FFFBF5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962661D-681D-9D42-03EB-BDC7420090CB}"/>
              </a:ext>
            </a:extLst>
          </p:cNvPr>
          <p:cNvSpPr/>
          <p:nvPr/>
        </p:nvSpPr>
        <p:spPr>
          <a:xfrm>
            <a:off x="502920" y="347472"/>
            <a:ext cx="18288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1D4F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Day 1 Intro</a:t>
            </a:r>
            <a:endParaRPr lang="en-US" sz="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076063D-30FD-10CA-7170-97F0DCB60F27}"/>
              </a:ext>
            </a:extLst>
          </p:cNvPr>
          <p:cNvSpPr/>
          <p:nvPr/>
        </p:nvSpPr>
        <p:spPr>
          <a:xfrm>
            <a:off x="502920" y="804672"/>
            <a:ext cx="7863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Google Colab </a:t>
            </a:r>
            <a:r>
              <a:rPr lang="ja-JP" altLang="en-US" sz="26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の準備完了</a:t>
            </a:r>
            <a:endParaRPr lang="en-US" sz="2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362F3F0-E671-519B-FA98-2E147453C777}"/>
              </a:ext>
            </a:extLst>
          </p:cNvPr>
          <p:cNvSpPr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A9C1D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バイオ技術 Day 1｜遺伝子発現データを解析する</a:t>
            </a:r>
            <a:endParaRPr lang="en-US" sz="8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7FB2C9F-55E5-A2FC-25DB-BF3D98704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547" y="1244356"/>
            <a:ext cx="8186631" cy="541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74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1325880"/>
            <a:ext cx="5669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では、始めましょう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1"/>
          <p:cNvSpPr/>
          <p:nvPr/>
        </p:nvSpPr>
        <p:spPr>
          <a:xfrm>
            <a:off x="5159829" y="2427732"/>
            <a:ext cx="4754879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altLang="ja-JP" sz="2000" b="1" dirty="0">
                <a:solidFill>
                  <a:srgbClr val="21D4F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Notebook</a:t>
            </a:r>
            <a:r>
              <a:rPr lang="ja-JP" altLang="en-US" sz="2000" b="1" dirty="0">
                <a:solidFill>
                  <a:srgbClr val="21D4F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の使い方とデータ解析の入口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Shape 2"/>
          <p:cNvSpPr/>
          <p:nvPr/>
        </p:nvSpPr>
        <p:spPr>
          <a:xfrm>
            <a:off x="914400" y="1947672"/>
            <a:ext cx="4480560" cy="0"/>
          </a:xfrm>
          <a:prstGeom prst="line">
            <a:avLst/>
          </a:prstGeom>
          <a:noFill/>
          <a:ln w="25400">
            <a:solidFill>
              <a:srgbClr val="21D4FD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3"/>
          <p:cNvSpPr/>
          <p:nvPr/>
        </p:nvSpPr>
        <p:spPr>
          <a:xfrm>
            <a:off x="914400" y="2427732"/>
            <a:ext cx="424543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bioinformatics_1-AM_1.ipynb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A9C1D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バイオ技術 Day 1｜遺伝子発現データを解析する</a:t>
            </a:r>
            <a:endParaRPr lang="en-US" sz="8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1C956A1D-D14F-4873-8D6D-726F31498F93}"/>
              </a:ext>
            </a:extLst>
          </p:cNvPr>
          <p:cNvSpPr/>
          <p:nvPr/>
        </p:nvSpPr>
        <p:spPr>
          <a:xfrm>
            <a:off x="431074" y="2466921"/>
            <a:ext cx="365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E0C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✓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A2D0D3BA-7322-DE97-9B6A-3F046F7F0C37}"/>
              </a:ext>
            </a:extLst>
          </p:cNvPr>
          <p:cNvSpPr/>
          <p:nvPr/>
        </p:nvSpPr>
        <p:spPr>
          <a:xfrm>
            <a:off x="5159830" y="3082726"/>
            <a:ext cx="418011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D4F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RNA-seq</a:t>
            </a:r>
            <a:r>
              <a:rPr lang="ja-JP" altLang="en-US" sz="2000" b="1" dirty="0">
                <a:solidFill>
                  <a:srgbClr val="21D4F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解析の基礎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BBC62F01-6C3D-50AF-7C48-F32A2C989FA8}"/>
              </a:ext>
            </a:extLst>
          </p:cNvPr>
          <p:cNvSpPr/>
          <p:nvPr/>
        </p:nvSpPr>
        <p:spPr>
          <a:xfrm>
            <a:off x="914400" y="3082726"/>
            <a:ext cx="424543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bioinformatics_1-AM_2.ipynb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15D7BBAC-667C-FDB1-98E8-18693A1633B7}"/>
              </a:ext>
            </a:extLst>
          </p:cNvPr>
          <p:cNvSpPr/>
          <p:nvPr/>
        </p:nvSpPr>
        <p:spPr>
          <a:xfrm>
            <a:off x="431074" y="3121915"/>
            <a:ext cx="365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E0C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✓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FF859E51-9E6C-18DE-4C85-0A9E55A31719}"/>
              </a:ext>
            </a:extLst>
          </p:cNvPr>
          <p:cNvSpPr/>
          <p:nvPr/>
        </p:nvSpPr>
        <p:spPr>
          <a:xfrm>
            <a:off x="5159830" y="3737720"/>
            <a:ext cx="418011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ja-JP" altLang="en-US" sz="2000" b="1" dirty="0">
                <a:solidFill>
                  <a:srgbClr val="21D4F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シングルセル</a:t>
            </a:r>
            <a:r>
              <a:rPr lang="en-US" altLang="ja-JP" sz="2000" b="1" dirty="0">
                <a:solidFill>
                  <a:srgbClr val="21D4F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RNA-seq</a:t>
            </a:r>
            <a:r>
              <a:rPr lang="ja-JP" altLang="en-US" sz="2000" b="1" dirty="0">
                <a:solidFill>
                  <a:srgbClr val="21D4F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解析の基礎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4E54486D-4F85-E1DE-C303-776F58B72FC4}"/>
              </a:ext>
            </a:extLst>
          </p:cNvPr>
          <p:cNvSpPr/>
          <p:nvPr/>
        </p:nvSpPr>
        <p:spPr>
          <a:xfrm>
            <a:off x="914400" y="3737720"/>
            <a:ext cx="424543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bioinformatics_1-AM_3.ipynb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BA92721E-2BAA-CC46-C225-528369985C6D}"/>
              </a:ext>
            </a:extLst>
          </p:cNvPr>
          <p:cNvSpPr/>
          <p:nvPr/>
        </p:nvSpPr>
        <p:spPr>
          <a:xfrm>
            <a:off x="431074" y="3776909"/>
            <a:ext cx="365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E0C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✓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B1036F20-38B0-2E07-FFF0-5997F892F96A}"/>
              </a:ext>
            </a:extLst>
          </p:cNvPr>
          <p:cNvSpPr/>
          <p:nvPr/>
        </p:nvSpPr>
        <p:spPr>
          <a:xfrm>
            <a:off x="5159830" y="4398808"/>
            <a:ext cx="418011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D4F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Python Notebookに慣れよう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AB4AAE88-A16F-FD4B-84D2-C39363873D84}"/>
              </a:ext>
            </a:extLst>
          </p:cNvPr>
          <p:cNvSpPr/>
          <p:nvPr/>
        </p:nvSpPr>
        <p:spPr>
          <a:xfrm>
            <a:off x="914400" y="4398808"/>
            <a:ext cx="424543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bioinformatics_1-AM_4.ipynb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97549132-9452-4FF7-1232-D6CF7A622FD6}"/>
              </a:ext>
            </a:extLst>
          </p:cNvPr>
          <p:cNvSpPr/>
          <p:nvPr/>
        </p:nvSpPr>
        <p:spPr>
          <a:xfrm>
            <a:off x="431074" y="4437997"/>
            <a:ext cx="365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E0C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✓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eiryo UI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461</Words>
  <Application>Microsoft Office PowerPoint</Application>
  <PresentationFormat>ワイド画面</PresentationFormat>
  <Paragraphs>151</Paragraphs>
  <Slides>14</Slides>
  <Notes>14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7" baseType="lpstr">
      <vt:lpstr>Meiryo UI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Tottori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バイオ技術 Day 1 Intro</dc:title>
  <dc:subject>Bioinformatics Day 1 introduction</dc:subject>
  <dc:creator>Hiroaki Iwata</dc:creator>
  <cp:lastModifiedBy>岩田　浩明</cp:lastModifiedBy>
  <cp:revision>22</cp:revision>
  <dcterms:created xsi:type="dcterms:W3CDTF">2026-07-05T03:33:09Z</dcterms:created>
  <dcterms:modified xsi:type="dcterms:W3CDTF">2026-08-05T13:21:58Z</dcterms:modified>
</cp:coreProperties>
</file>