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5" d="100"/>
          <a:sy n="65" d="100"/>
        </p:scale>
        <p:origin x="15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8" d="100"/>
          <a:sy n="68" d="100"/>
        </p:scale>
        <p:origin x="3312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48338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0" descr="/mnt/data/a_high_resolution_abstract_scientific_tech_backgro.png">
            <a:extLst>
              <a:ext uri="{FF2B5EF4-FFF2-40B4-BE49-F238E27FC236}">
                <a16:creationId xmlns:a16="http://schemas.microsoft.com/office/drawing/2014/main" id="{E468EC1B-0BB3-3999-F9D2-AE928D9B67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417320"/>
            <a:ext cx="47548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</a:t>
            </a:r>
            <a:endParaRPr lang="en-US" sz="3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676656" y="2084832"/>
            <a:ext cx="61264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生命科学データ解析入門</a:t>
            </a:r>
            <a:endParaRPr lang="en-US" sz="2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694944" y="2798064"/>
            <a:ext cx="53035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9F7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1：遺伝子発現データを解析する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94944" y="3310128"/>
            <a:ext cx="283464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694944" y="5349240"/>
            <a:ext cx="4937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 × RNA-seq × single-cell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694944" y="6437376"/>
            <a:ext cx="53035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鳥取大学 医学部 生命科学科｜バイオ技術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なぜ生命科学でデータ解析が必要なのか？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6126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大量データから、次の仮説をつくる</a:t>
            </a:r>
            <a:endParaRPr lang="en-US" sz="2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49808" y="2487168"/>
            <a:ext cx="347472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Shape 4"/>
          <p:cNvSpPr/>
          <p:nvPr/>
        </p:nvSpPr>
        <p:spPr>
          <a:xfrm>
            <a:off x="786384" y="2953512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14984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RNA-seqでは、数万遺伝子の発現量を一度に測定できる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786384" y="3429000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14984" y="3328416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 RNA-seqでは、1細胞ごとの違いを調べられる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86384" y="3904488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014984" y="3803904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データを比較し、特徴を見つけ、次の実験につなげる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786384" y="4379976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014984" y="4279392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wet実験の結果は、解析して初めて意味が見えてくる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046720" y="1965960"/>
            <a:ext cx="25603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実験をする力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9326880" y="2377440"/>
            <a:ext cx="0" cy="54864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818120" y="3063240"/>
            <a:ext cx="29718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データを解析する力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9326880" y="3474720"/>
            <a:ext cx="0" cy="54864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726680" y="4187952"/>
            <a:ext cx="315468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研究を前に進める力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Wet研究とDry研究は別々ではない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データ解析は、研究サイクルの一部</a:t>
            </a:r>
            <a:endParaRPr lang="en-US" sz="12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834640" y="233172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3154680" y="231343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仮説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937760" y="2057400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5257800" y="203911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実験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040880" y="2606040"/>
            <a:ext cx="201168" cy="201168"/>
          </a:xfrm>
          <a:prstGeom prst="ellipse">
            <a:avLst/>
          </a:prstGeom>
          <a:solidFill>
            <a:srgbClr val="4EA3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360920" y="258775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680960" y="4160520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001000" y="414223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解析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394960" y="489204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715000" y="487375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解釈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017520" y="4389120"/>
            <a:ext cx="201168" cy="201168"/>
          </a:xfrm>
          <a:prstGeom prst="ellipse">
            <a:avLst/>
          </a:prstGeom>
          <a:solidFill>
            <a:srgbClr val="A7F3D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337560" y="437083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次の仮説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4572000" y="3429000"/>
            <a:ext cx="29260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研究は一方向ではなく、</a:t>
            </a:r>
            <a:endParaRPr lang="en-US" sz="2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何度も回るサイクル</a:t>
            </a:r>
            <a:endParaRPr lang="en-US" sz="2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960120" y="5806440"/>
            <a:ext cx="10424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dry解析は「後処理」ではなく、次のwet実験を決めるための道具です。</a:t>
            </a:r>
            <a:endParaRPr lang="en-US" sz="14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この2日間で体験すること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1188720" y="2971800"/>
            <a:ext cx="969264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286000" y="2871216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600200" y="1417320"/>
            <a:ext cx="155448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AM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28016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989320" y="2871216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303520" y="3703320"/>
            <a:ext cx="155448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F7C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PM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983480" y="4069080"/>
            <a:ext cx="21945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論文再現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CRISPLD2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692640" y="2871216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9006840" y="1417320"/>
            <a:ext cx="155448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8A8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2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68680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機械学習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画像AI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280160" y="5715000"/>
            <a:ext cx="960120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コードを覚えることより、解析の考え方を体験する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今日の午前の流れ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3429000" y="2926080"/>
            <a:ext cx="82296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086600" y="2926080"/>
            <a:ext cx="82296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1-1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Notebookに慣れる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228600" y="3154680"/>
            <a:ext cx="2468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セルを実行し、表とグラフを操作する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57200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1-2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20624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bulk RNA-seq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886200" y="3154680"/>
            <a:ext cx="2468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PCA・DEG・Volcano plot・Heatmap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7C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1-3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786384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7543800" y="3154680"/>
            <a:ext cx="2468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QC・UMAP・Clustering・Marker gene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1097280" y="4526280"/>
            <a:ext cx="99669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約2時間で、「実行できる」から「結果を読める」へ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554480" y="5349240"/>
            <a:ext cx="89611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D2E8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午後は、公開RNA-seqデータから論文の候補遺伝子を探します。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今日使うのはGoogle Colab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ブラウザ上でPythonを実行できるNotebook環境</a:t>
            </a:r>
            <a:endParaRPr lang="en-US" sz="12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822960" y="1975104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51560" y="1874520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セルを上から順に実行する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822960" y="2468880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1051560" y="2368296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Shift + Enter で実行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822960" y="2962656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51560" y="2862072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___ があるところは自分で入力する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822960" y="3456432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051560" y="3355848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値を変えて結果の変化を見る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822960" y="3950208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051560" y="3849624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エラーが出ても大丈夫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736092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Markdown cell：説明を読む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360920" y="2606040"/>
            <a:ext cx="338328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Code cell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7360920" y="2907792"/>
            <a:ext cx="28346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E2F7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df.head()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F7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plt.show()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360920" y="3977640"/>
            <a:ext cx="3566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Output：表やグラフが表示される</a:t>
            </a:r>
            <a:endParaRPr 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今日の学び方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コードを動かすだけでは、データ解析にはならない</a:t>
            </a:r>
            <a:endParaRPr lang="en-US" sz="12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331720" y="3246120"/>
            <a:ext cx="105156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572000" y="3246120"/>
            <a:ext cx="105156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812280" y="3246120"/>
            <a:ext cx="105156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9052560" y="3246120"/>
            <a:ext cx="73152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8016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960120" y="3246120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予想する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52044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2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200400" y="3246120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実行する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76072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F7C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3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440680" y="3246120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結果を見る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00100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8A8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4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680960" y="3246120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考える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992124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7F3D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5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9601200" y="3246120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試し直す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1828800" y="5303520"/>
            <a:ext cx="850392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結果を解釈するところまでが解析です</a:t>
            </a:r>
            <a:endParaRPr lang="en-US" sz="2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bulk RNA-seqとは？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条件間で遺伝子発現がどう変わるかを調べる</a:t>
            </a:r>
            <a:endParaRPr lang="en-US" sz="12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1234440" y="2057400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Control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234440" y="3840480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Treatment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1280160" y="251460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1280160" y="429768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1664208" y="251460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1664208" y="429768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2048256" y="251460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2048256" y="429768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2432304" y="251460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2432304" y="429768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2816352" y="251460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2816352" y="429768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1280160" y="283464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1280160" y="461772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1664208" y="283464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1664208" y="461772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2048256" y="283464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2048256" y="461772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2432304" y="283464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2432304" y="461772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2816352" y="283464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816352" y="461772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520440" y="3063240"/>
            <a:ext cx="109728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3520440" y="4754880"/>
            <a:ext cx="109728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498348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Expression matrix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349240" y="315468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5641848" y="3154680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5934456" y="3154680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6227064" y="315468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5349240" y="3429000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5641848" y="3429000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934456" y="342900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227064" y="3429000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5349240" y="3703320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5641848" y="370332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Shape 38"/>
          <p:cNvSpPr/>
          <p:nvPr/>
        </p:nvSpPr>
        <p:spPr>
          <a:xfrm>
            <a:off x="5934456" y="3703320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227064" y="3703320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5349240" y="397764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5641848" y="3977640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5934456" y="3977640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Shape 43"/>
          <p:cNvSpPr/>
          <p:nvPr/>
        </p:nvSpPr>
        <p:spPr>
          <a:xfrm>
            <a:off x="6227064" y="397764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5349240" y="4251960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Shape 45"/>
          <p:cNvSpPr/>
          <p:nvPr/>
        </p:nvSpPr>
        <p:spPr>
          <a:xfrm>
            <a:off x="5641848" y="4251960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5934456" y="425196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227064" y="4251960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7498080" y="3886200"/>
            <a:ext cx="105156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23960" y="3429000"/>
            <a:ext cx="22860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候補遺伝子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8641080" y="3858768"/>
            <a:ext cx="265176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増えた？ 減った？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次に実験で調べる？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4" name="Text 51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bulk RNA-seq解析の基本的な流れ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685800" y="2834640"/>
            <a:ext cx="19659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Expression matrix</a:t>
            </a:r>
            <a:endParaRPr lang="en-US" sz="11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685800" y="3218688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遺伝子×サンプル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Shape 4"/>
          <p:cNvSpPr/>
          <p:nvPr/>
        </p:nvSpPr>
        <p:spPr>
          <a:xfrm>
            <a:off x="960120" y="3657600"/>
            <a:ext cx="141732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743200" y="3136392"/>
            <a:ext cx="246888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3063240" y="2834640"/>
            <a:ext cx="19659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Sample comparison</a:t>
            </a:r>
            <a:endParaRPr lang="en-US" sz="11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063240" y="3218688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Correlation / PCA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337560" y="3657600"/>
            <a:ext cx="1417320" cy="0"/>
          </a:xfrm>
          <a:prstGeom prst="line">
            <a:avLst/>
          </a:prstGeom>
          <a:noFill/>
          <a:ln w="25400">
            <a:solidFill>
              <a:srgbClr val="16E0C5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5120640" y="3136392"/>
            <a:ext cx="246888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440680" y="2834640"/>
            <a:ext cx="19659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DEG analysis</a:t>
            </a:r>
            <a:endParaRPr lang="en-US" sz="11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440680" y="3218688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log2FC・p値・補正p値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5715000" y="3657600"/>
            <a:ext cx="1417320" cy="0"/>
          </a:xfrm>
          <a:prstGeom prst="line">
            <a:avLst/>
          </a:prstGeom>
          <a:noFill/>
          <a:ln w="25400">
            <a:solidFill>
              <a:srgbClr val="8F7CFF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498080" y="3136392"/>
            <a:ext cx="246888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818120" y="2834640"/>
            <a:ext cx="19659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Visualization</a:t>
            </a:r>
            <a:endParaRPr lang="en-US" sz="11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7818120" y="3218688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Volcano / Heatmap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8092440" y="3657600"/>
            <a:ext cx="1417320" cy="0"/>
          </a:xfrm>
          <a:prstGeom prst="line">
            <a:avLst/>
          </a:prstGeom>
          <a:noFill/>
          <a:ln w="25400">
            <a:solidFill>
              <a:srgbClr val="FF8A80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9875520" y="3136392"/>
            <a:ext cx="246888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0195560" y="2834640"/>
            <a:ext cx="19659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Candidate genes</a:t>
            </a:r>
            <a:endParaRPr lang="en-US" sz="11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0195560" y="3218688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次のwet実験へ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10469880" y="3657600"/>
            <a:ext cx="1417320" cy="0"/>
          </a:xfrm>
          <a:prstGeom prst="line">
            <a:avLst/>
          </a:prstGeom>
          <a:noFill/>
          <a:ln w="254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1325880" y="5074920"/>
            <a:ext cx="950976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今日の午後は、この流れを実際の論文データで体験します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 RNA-seqとは？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同じ組織の中の細胞の違いを見る</a:t>
            </a:r>
            <a:endParaRPr lang="en-US" sz="12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1280160" y="1874520"/>
            <a:ext cx="3840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bulk RNA-seq</a:t>
            </a:r>
            <a:endParaRPr lang="en-US" sz="2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417320" y="260604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1801368" y="2606040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185416" y="2606040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2569464" y="260604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2953512" y="260604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1417320" y="2935224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1801368" y="2935224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2185416" y="2935224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2569464" y="2935224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2953512" y="2935224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1417320" y="3264408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1801368" y="3264408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2185416" y="3264408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2569464" y="3264408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2953512" y="3264408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1417320" y="3593592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1801368" y="3593592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2185416" y="3593592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2569464" y="3593592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2953512" y="3593592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1097280" y="4617720"/>
            <a:ext cx="416052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多数の細胞をまとめて測定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得られる値は「平均」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690372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 RNA-seq</a:t>
            </a:r>
            <a:endParaRPr lang="en-US" sz="2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6903720" y="260604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7223760" y="2606040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543800" y="2606040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7863840" y="260604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8183880" y="260604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8503920" y="2606040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8823960" y="2606040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6903720" y="2962656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7223760" y="2962656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7543800" y="2962656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7863840" y="2962656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8183880" y="2962656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Shape 38"/>
          <p:cNvSpPr/>
          <p:nvPr/>
        </p:nvSpPr>
        <p:spPr>
          <a:xfrm>
            <a:off x="8503920" y="2962656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8823960" y="2962656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903720" y="3319272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7223760" y="3319272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7543800" y="3319272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Shape 43"/>
          <p:cNvSpPr/>
          <p:nvPr/>
        </p:nvSpPr>
        <p:spPr>
          <a:xfrm>
            <a:off x="7863840" y="3319272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8183880" y="3319272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Shape 45"/>
          <p:cNvSpPr/>
          <p:nvPr/>
        </p:nvSpPr>
        <p:spPr>
          <a:xfrm>
            <a:off x="8503920" y="3319272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8823960" y="3319272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903720" y="3675888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7223760" y="3675888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2" name="Shape 49"/>
          <p:cNvSpPr/>
          <p:nvPr/>
        </p:nvSpPr>
        <p:spPr>
          <a:xfrm>
            <a:off x="7543800" y="3675888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7863840" y="3675888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8183880" y="3675888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5" name="Shape 52"/>
          <p:cNvSpPr/>
          <p:nvPr/>
        </p:nvSpPr>
        <p:spPr>
          <a:xfrm>
            <a:off x="8503920" y="3675888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6" name="Shape 53"/>
          <p:cNvSpPr/>
          <p:nvPr/>
        </p:nvSpPr>
        <p:spPr>
          <a:xfrm>
            <a:off x="8823960" y="3675888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7" name="Text 54"/>
          <p:cNvSpPr/>
          <p:nvPr/>
        </p:nvSpPr>
        <p:spPr>
          <a:xfrm>
            <a:off x="6720840" y="4617720"/>
            <a:ext cx="42976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1細胞ごとに測定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細胞集団の違いを調べる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Text 55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single-cell解析では何をするのか？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822960" y="2606040"/>
            <a:ext cx="192024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Gene × Cell matrix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822960" y="2971800"/>
            <a:ext cx="19202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細胞ごとの発現量</a:t>
            </a:r>
            <a:endParaRPr lang="en-US" sz="92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000" y="3429000"/>
            <a:ext cx="128016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852928" y="2880360"/>
            <a:ext cx="22860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3154680" y="2606040"/>
            <a:ext cx="192024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Quality Control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154680" y="2971800"/>
            <a:ext cx="19202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質の低い細胞を除く</a:t>
            </a:r>
            <a:endParaRPr lang="en-US" sz="92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474720" y="3429000"/>
            <a:ext cx="1280160" cy="0"/>
          </a:xfrm>
          <a:prstGeom prst="line">
            <a:avLst/>
          </a:prstGeom>
          <a:noFill/>
          <a:ln w="25400">
            <a:solidFill>
              <a:srgbClr val="16E0C5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5184648" y="2880360"/>
            <a:ext cx="22860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486400" y="2606040"/>
            <a:ext cx="192024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PCA / UMAP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486400" y="2971800"/>
            <a:ext cx="19202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似た細胞を近くに並べる</a:t>
            </a:r>
            <a:endParaRPr lang="en-US" sz="92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5806440" y="3429000"/>
            <a:ext cx="1280160" cy="0"/>
          </a:xfrm>
          <a:prstGeom prst="line">
            <a:avLst/>
          </a:prstGeom>
          <a:noFill/>
          <a:ln w="25400">
            <a:solidFill>
              <a:srgbClr val="8F7CFF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516368" y="2880360"/>
            <a:ext cx="22860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818120" y="2606040"/>
            <a:ext cx="192024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Clustering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7818120" y="2971800"/>
            <a:ext cx="19202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細胞集団を分ける</a:t>
            </a:r>
            <a:endParaRPr lang="en-US" sz="92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8138160" y="3429000"/>
            <a:ext cx="1280160" cy="0"/>
          </a:xfrm>
          <a:prstGeom prst="line">
            <a:avLst/>
          </a:prstGeom>
          <a:noFill/>
          <a:ln w="25400">
            <a:solidFill>
              <a:srgbClr val="FF8A80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9848088" y="2880360"/>
            <a:ext cx="22860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0149840" y="2606040"/>
            <a:ext cx="192024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Marker gene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0149840" y="2971800"/>
            <a:ext cx="19202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細胞型を推定する</a:t>
            </a:r>
            <a:endParaRPr lang="en-US" sz="92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10469880" y="3429000"/>
            <a:ext cx="1280160" cy="0"/>
          </a:xfrm>
          <a:prstGeom prst="line">
            <a:avLst/>
          </a:prstGeom>
          <a:noFill/>
          <a:ln w="254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2377440" y="4892040"/>
            <a:ext cx="758952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UMAPの1つの点は、1つの細胞</a:t>
            </a:r>
            <a:endParaRPr lang="en-US" sz="2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今日のゴール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1280160" y="1737360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1828800" y="1737360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Notebookを自分で実行できる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280160" y="2450592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828800" y="2450592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表やグラフからデータの特徴を読み取れる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1280160" y="3163824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828800" y="3163824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PCAが何を見ているか説明できる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280160" y="3877056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828800" y="3877056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DEG・Volcano plot・Heatmapを読める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280160" y="4590288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828800" y="4590288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UMAP・Cluster・Marker geneの関係を説明できる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143000" y="5760720"/>
            <a:ext cx="996696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「自分でもデータ解析ができそう」と感じてもらえれば成功です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1325880"/>
            <a:ext cx="5669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では、始めましょう</a:t>
            </a:r>
            <a:endParaRPr lang="en-US" sz="2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932688" y="1965960"/>
            <a:ext cx="65836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まずはPython Notebookに慣れよう</a:t>
            </a:r>
            <a:endParaRPr lang="en-US" sz="2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932688" y="2633472"/>
            <a:ext cx="448056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1234440" y="3182112"/>
            <a:ext cx="44805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bioinformatics_1-1.ipynb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000" y="4352544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371600" y="4251960"/>
            <a:ext cx="5257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実行してみる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1143000" y="4764024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371600" y="4663440"/>
            <a:ext cx="5257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数値を変えてみる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1143000" y="5175504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371600" y="5074920"/>
            <a:ext cx="5257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グラフの変化を見る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1143000" y="5586984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371600" y="5486400"/>
            <a:ext cx="5257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わからないことはその場で質問する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eiryo UI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431</Words>
  <Application>Microsoft Office PowerPoint</Application>
  <PresentationFormat>ワイド画面</PresentationFormat>
  <Paragraphs>168</Paragraphs>
  <Slides>13</Slides>
  <Notes>13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6" baseType="lpstr">
      <vt:lpstr>Meiryo UI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Tottori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バイオ技術 Day 1 Intro</dc:title>
  <dc:subject>Bioinformatics Day 1 introduction</dc:subject>
  <dc:creator>Hiroaki Iwata</dc:creator>
  <cp:lastModifiedBy>岩田　浩明</cp:lastModifiedBy>
  <cp:revision>6</cp:revision>
  <dcterms:created xsi:type="dcterms:W3CDTF">2026-07-05T03:33:09Z</dcterms:created>
  <dcterms:modified xsi:type="dcterms:W3CDTF">2026-07-05T07:38:55Z</dcterms:modified>
</cp:coreProperties>
</file>